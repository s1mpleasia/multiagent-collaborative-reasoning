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Lst>
  <p:notesMasterIdLst>
    <p:notesMasterId r:id="rId4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0714"/>
  </p:normalViewPr>
  <p:slideViewPr>
    <p:cSldViewPr snapToGrid="0">
      <p:cViewPr varScale="1">
        <p:scale>
          <a:sx n="74" d="100"/>
          <a:sy n="74" d="100"/>
        </p:scale>
        <p:origin x="25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666666"/>
                </a:solidFill>
                <a:latin typeface="Roboto Medium"/>
              </a:rPr>
              <a:t>Qwen3-4B, random topology (F1 / accuracy)</a:t>
            </a:r>
          </a:p>
        </c:rich>
      </c:tx>
      <c:layout/>
      <c:overlay val="0"/>
    </c:title>
    <c:autoTitleDeleted val="0"/>
    <c:plotArea>
      <c:barChart>
        <c:barDir val="col"/>
        <c:grouping val="clustered"/>
        <c:ser>
          <c:idx val="0"/>
          <c:order val="0"/>
          <c:tx>
            <c:strRef>
              <c:f>Sheet1!$B$1</c:f>
              <c:strCache>
                <c:ptCount val="1"/>
                <c:pt idx="0">
                  <c:v>AgentDropout</c:v>
                </c:pt>
              </c:strCache>
            </c:strRef>
          </c:tx>
          <c:spPr>
            <a:solidFill>
              <a:srgbClr val="B8C6D4"/>
            </a:solidFill>
          </c:spPr>
          <c:cat>
            <c:strRef>
              <c:f>Sheet1!$A$2:$A$6</c:f>
              <c:strCache>
                <c:ptCount val="5"/>
                <c:pt idx="0">
                  <c:v>HotpotQA</c:v>
                </c:pt>
                <c:pt idx="1">
                  <c:v>2Wiki</c:v>
                </c:pt>
                <c:pt idx="2">
                  <c:v>MuSiQue</c:v>
                </c:pt>
                <c:pt idx="3">
                  <c:v>MATH-500</c:v>
                </c:pt>
                <c:pt idx="4">
                  <c:v>MMLU-Pro</c:v>
                </c:pt>
              </c:strCache>
            </c:strRef>
          </c:cat>
          <c:val>
            <c:numRef>
              <c:f>Sheet1!$B$2:$B$6</c:f>
              <c:numCache>
                <c:formatCode>General</c:formatCode>
                <c:ptCount val="5"/>
                <c:pt idx="0">
                  <c:v>73.14</c:v>
                </c:pt>
                <c:pt idx="1">
                  <c:v>78.45</c:v>
                </c:pt>
                <c:pt idx="2">
                  <c:v>37.06</c:v>
                </c:pt>
                <c:pt idx="3">
                  <c:v>82.6</c:v>
                </c:pt>
                <c:pt idx="4">
                  <c:v>67.4</c:v>
                </c:pt>
              </c:numCache>
            </c:numRef>
          </c:val>
        </c:ser>
        <c:ser>
          <c:idx val="1"/>
          <c:order val="1"/>
          <c:tx>
            <c:strRef>
              <c:f>Sheet1!$C$1</c:f>
              <c:strCache>
                <c:ptCount val="1"/>
                <c:pt idx="0">
                  <c:v>AGENT-RADAR</c:v>
                </c:pt>
              </c:strCache>
            </c:strRef>
          </c:tx>
          <c:spPr>
            <a:solidFill>
              <a:srgbClr val="003366"/>
            </a:solidFill>
          </c:spPr>
          <c:cat>
            <c:strRef>
              <c:f>Sheet1!$A$2:$A$6</c:f>
              <c:strCache>
                <c:ptCount val="5"/>
                <c:pt idx="0">
                  <c:v>HotpotQA</c:v>
                </c:pt>
                <c:pt idx="1">
                  <c:v>2Wiki</c:v>
                </c:pt>
                <c:pt idx="2">
                  <c:v>MuSiQue</c:v>
                </c:pt>
                <c:pt idx="3">
                  <c:v>MATH-500</c:v>
                </c:pt>
                <c:pt idx="4">
                  <c:v>MMLU-Pro</c:v>
                </c:pt>
              </c:strCache>
            </c:strRef>
          </c:cat>
          <c:val>
            <c:numRef>
              <c:f>Sheet1!$C$2:$C$6</c:f>
              <c:numCache>
                <c:formatCode>General</c:formatCode>
                <c:ptCount val="5"/>
                <c:pt idx="0">
                  <c:v>80.78</c:v>
                </c:pt>
                <c:pt idx="1">
                  <c:v>80.81</c:v>
                </c:pt>
                <c:pt idx="2">
                  <c:v>39.72</c:v>
                </c:pt>
                <c:pt idx="3">
                  <c:v>88.8</c:v>
                </c:pt>
                <c:pt idx="4">
                  <c:v>69.4</c:v>
                </c:pt>
              </c:numCache>
            </c:numRef>
          </c:val>
        </c:ser>
        <c:dLbls>
          <c:numFmt formatCode="0.0" sourceLinked="0"/>
          <c:txPr>
            <a:bodyPr/>
            <a:lstStyle/>
            <a:p>
              <a:pPr>
                <a:defRPr sz="1100">
                  <a:latin typeface="Roboto Medium"/>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FDAE8"/>
            </a:solidFill>
          </a:ln>
        </c:spPr>
        <c:txPr>
          <a:bodyPr/>
          <a:lstStyle/>
          <a:p>
            <a:pPr>
              <a:defRPr sz="1200">
                <a:latin typeface="Roboto Medium"/>
              </a:defRPr>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legend>
      <c:legendPos val="b"/>
      <c:overlay val="0"/>
      <c:txPr>
        <a:bodyPr/>
        <a:lstStyle/>
        <a:p>
          <a:pPr>
            <a:defRPr sz="1200">
              <a:latin typeface="Roboto Medium"/>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Em xin chào cô và các bạn. Sau đây em xin phép thay mặt nhóm trình bày bài tập lớn dạng tiểu luận của nhóm em, với chủ đề số 3: Multi-Agent Systems và Collaborative Reasoning.</a:t>
            </a:r>
          </a:p>
          <a:p/>
          <a:p>
            <a:r>
              <a:t>Nói ngắn gọn, chủ đề này nghiên cứu cách nhiều agent dựa trên LLM cùng phối hợp để giải một bài toán, thay vì chỉ dùng một mô hình duy nhất. Nhóm em đã chọn 8 paper mới nhất trên arXiv, nộp từ tháng 5 đến tháng 9 năm 2026, để khảo sát, phân tích và so sánh.</a:t>
            </a:r>
          </a:p>
          <a:p/>
          <a:p>
            <a:r>
              <a:t>Nhóm em gồm 4 thành viên: em Trần Xuân Hương, bạn Vũ Tùng Dương, bạn Phạm Việt Dũng và bạn Lê Văn Đức. Mỗi bạn phụ trách 2 paper cùng một hướng và sẽ trình bày phần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Bài trình bày gồm sáu phần.</a:t>
            </a:r>
          </a:p>
          <a:p>
            <a:r>
              <a:t>- Phần một giới thiệu bối cảnh, các thách thức của multi-agent system và cách nhóm chọn 8 paper.</a:t>
            </a:r>
          </a:p>
          <a:p>
            <a:r>
              <a:t>- Phần hai đến phần năm là bốn hướng nghiên cứu, mỗi hướng có 2 paper: Safety &amp; Robustness, Orchestration &amp; Control, Communication &amp; Interaction và Domain Applications.</a:t>
            </a:r>
          </a:p>
          <a:p>
            <a:r>
              <a:t>- Phần sáu so sánh có hệ thống 8 paper, chỉ ra research gap và kết luận.</a:t>
            </a:r>
          </a:p>
          <a:p/>
          <a:p>
            <a:r>
              <a:t>Em sẽ trình bày phần một và phần hai, sau đó lần lượt là bạn Dương, bạn Dũng và bạn Đức.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Em xin bắt đầu với phần một: multi-agent system là gì, vì sao nó đang được quan tâm, bốn thách thức chính, và cách nhóm em chọn cũng như phân loại 8 paper.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Một agent dựa trên LLM gồm ba thành phần: backbone LLM, role prompt mô tả vai trò, và có thể thêm tool như web search hay code interpreter. Khi ghép nhiều agent lại, mỗi agent đảm nhận một vai trò, ví dụ người lập kế hoạch, người viết code, người phản biện, và chúng trao đổi message để cùng đi đến lời giải. Các framework tiêu biểu là CAMEL, AutoGen, MetaGPT và multi-agent debate.</a:t>
            </a:r>
          </a:p>
          <a:p/>
          <a:p>
            <a:r>
              <a:t>Ở bên phải là cách nhìn quan trọng nhất của cả bài: MAS có thể xem như một communication graph. Mỗi node là một agent; cạnh từ v_j sang v_i nghĩa là output của v_j trở thành context của v_i. Topology của đồ thị này quyết định hiệu năng, nên có những công trình tối ưu nó như GPTSwarm, G-Designer, hoặc cắt bớt cạnh như AgentPrune.</a:t>
            </a:r>
          </a:p>
          <a:p/>
          <a:p>
            <a:r>
              <a:t>Điểm em muốn nhấn mạnh là đến năm 2026, câu hỏi không còn là "cộng tác có giúp ích không", mà chuyển sang hiệu quả, luồng thông tin, an toàn và ứng dụng. Đây cũng chính là bốn hướng của 8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Khi đưa MAS vào thực tế, có bốn thách thức chính, và mỗi thách thức tương ứng với một số paper trong nhóm em chọn.</a:t>
            </a:r>
          </a:p>
          <a:p/>
          <a:p>
            <a:r>
              <a:t>- Thứ nhất là chi phí: mỗi agent là một hoặc nhiều lần gọi LLM, context lại dài dần qua các vòng, nên token, năng lượng GPU và latency đều tăng. ProgRouter và DAIN giải quyết vấn đề này.</a:t>
            </a:r>
          </a:p>
          <a:p>
            <a:r>
              <a:t>- Thứ hai là quá tải context: lịch sử hội thoại dài làm mô hình bỏ sót thông tin ở giữa, hiện tượng lost in the middle. Cách cũ là tóm tắt hoặc cắt bớt, nhưng đều mất thông tin. AGENT-RADAR đi theo hướng khác.</a:t>
            </a:r>
          </a:p>
          <a:p>
            <a:r>
              <a:t>- Thứ ba là lan truyền lỗi: output của agent này là input của agent kia, nên một hallucination hay một thông tin sai có thể lan theo cạnh và bị khuếch đại. Đây là nội dung của HalluProp và TIDE.</a:t>
            </a:r>
          </a:p>
          <a:p>
            <a:r>
              <a:t>- Thứ tư là bảo mật topology: topology là kết quả tối ưu tốn kém nên là tài sản trí tuệ, và nếu bị lộ thì kẻ tấn công biết agent nào quan trọng để tấn công. MIRAGE giải quyết vấn đề này.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Về cách chọn bài: nhóm em truy vấn arXiv với những bài có cả "multi-agent" và "collaborative reasoning" trong abstract, sắp theo ngày nộp, rồi lấy 8 bài mới nhất. Bài mới nhất là MIRAGE nộp ngày 29 tháng 9, bài cũ nhất là AGENT-RADAR ngày 28 tháng 5 năm 2026.</a:t>
            </a:r>
          </a:p>
          <a:p/>
          <a:p>
            <a:r>
              <a:t>Cách chọn này ưu tiên tính thời sự, nên tập bài khá đa dạng: có bài phương pháp tổng quát, bài về an toàn, và cả bài ứng dụng chuyên ngành như y tế hay đô thị.</a:t>
            </a:r>
          </a:p>
          <a:p/>
          <a:p>
            <a:r>
              <a:t>Một lưu ý là 7 trên 8 bài vẫn là preprint, chưa qua bình duyệt. Chỉ UrbanAgent đã được nhận ở KDD 2026. Vì vậy khi đọc, nhóm em không chỉ tóm tắt mà còn đánh giá phản biện từng bài.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Dựa trên câu hỏi chính mà mỗi bài giải quyết, nhóm em chia 8 paper thành bốn hướng, mỗi hướng 2 bài.</a:t>
            </a:r>
          </a:p>
          <a:p>
            <a:r>
              <a:t>- Safety &amp; Robustness hỏi: hệ thống có chống chịu được tấn công hay thông tin sai không? Gồm MIRAGE và TIDE.</a:t>
            </a:r>
          </a:p>
          <a:p>
            <a:r>
              <a:t>- Orchestration &amp; Control hỏi: ai chạy, chạy bằng mô hình nào, agent nào có rủi ro? Gồm ProgRouter và HalluProp.</a:t>
            </a:r>
          </a:p>
          <a:p>
            <a:r>
              <a:t>- Communication &amp; Interaction hỏi: agent nên trao đổi gì, với ai, mức độ nào? Gồm DAIN và AGENT-RADAR.</a:t>
            </a:r>
          </a:p>
          <a:p>
            <a:r>
              <a:t>- Domain Applications áp dụng cộng tác vào bài toán chuyên ngành: MAC-RRG cho X-quang và UrbanAgent cho đô thị.</a:t>
            </a:r>
          </a:p>
          <a:p/>
          <a:p>
            <a:r>
              <a:t>Cần lưu ý đây là phân loại theo mục tiêu chính; thực tế nhiều bài thuộc nhiều nhóm. Ví dụ HalluProp được xếp vào điều phối vì kết quả của nó dùng để cắt cạnh hay sửa vai trò, nhưng bản chất là một phương pháp an toàn.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Một cách nhìn bổ sung là xét thời điểm mỗi phương pháp tác động lên vòng đời của một MAS, đi từ trái sang phải.</a:t>
            </a:r>
          </a:p>
          <a:p>
            <a:r>
              <a:t>- Trước khi chạy: HalluProp chỉ dùng role prompt, câu hỏi và đồ thị để ước lượng rủi ro, khi chưa agent nào trả lời.</a:t>
            </a:r>
          </a:p>
          <a:p>
            <a:r>
              <a:t>- Khi điều phối: ProgRouter chọn model cho từng bước; DAIN chọn agent nào được kích hoạt.</a:t>
            </a:r>
          </a:p>
          <a:p>
            <a:r>
              <a:t>- Khi giao tiếp: AGENT-RADAR quyết định agent chú ý vào câu nào; DAIN và UrbanAgent học cách các agent kết nối; MAC-RRG đưa tri thức từ hai agent retrieval vào.</a:t>
            </a:r>
          </a:p>
          <a:p>
            <a:r>
              <a:t>- Khi trả kết quả ra ngoài: MIRAGE tách cái được thực thi khỏi cái được phơi bày để đánh lừa kẻ tấn công.</a:t>
            </a:r>
          </a:p>
          <a:p>
            <a:r>
              <a:t>- Cuối cùng, TIDE là một khung đánh giá, theo dõi dòng chảy bằng chứng đúng và sai qua toàn bộ quá trình.</a:t>
            </a:r>
          </a:p>
          <a:p/>
          <a:p>
            <a:r>
              <a:t>Hình này cho thấy các paper bổ sung cho nhau chứ không trùng lặp.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Tiếp theo là phần hai, hướng Safety &amp; Robustness. Hai paper ở đây nhìn an toàn từ hai phía: MIRAGE là một phương pháp phòng thủ, còn TIDE là một khung đánh giá cho thấy MAS dễ bị thông tin sai làm chệch hướng đến mức nào.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Paper đầu tiên là MIRAGE. Bối cảnh là một tấn công tên CIA: kẻ tấn công chỉ cần truy vấn hộp đen, khiến MAS để lộ output trung gian, rồi suy ra cạnh dựa vào quan sát rằng hai agent nối trực tiếp thì output phụ thuộc ngữ nghĩa mạnh hơn. Lộ topology vừa mất tài sản trí tuệ, vừa lộ agent then chốt để tấn công có chủ đích.</a:t>
            </a:r>
          </a:p>
          <a:p/>
          <a:p>
            <a:r>
              <a:t>Ý tưởng của MIRAGE là: chạy trên đồ thị thật nhưng cho kẻ tấn công thấy một đồ thị ảo. Có ba bước:</a:t>
            </a:r>
          </a:p>
          <a:p>
            <a:r>
              <a:t>- Một: tạo phantom topology bằng cách đi dây lại cạnh, đủ khác đồ thị thật theo một ngưỡng rho, lấy cảm hứng từ k-anonymity.</a:t>
            </a:r>
          </a:p>
          <a:p>
            <a:r>
              <a:t>- Hai: dùng LLM sinh bằng chứng phụ thuộc giả cho các cạnh ảo, và paraphrase output để giấu các cạnh thật.</a:t>
            </a:r>
          </a:p>
          <a:p>
            <a:r>
              <a:t>- Ba: dual-view execution, tức tính toán vẫn trên đồ thị thật, còn phần phơi bày ra ngoài là đồ thị ảo.</a:t>
            </a:r>
          </a:p>
          <a:p/>
          <a:p>
            <a:r>
              <a:t>Bảng bên phải là kết quả trên G-Designer: AUC của tấn công giảm xuống 0.64 đến 0.68, thấp hơn các phòng thủ dựa trên prompt. Tuy nhiên AUC vẫn xa mức 0.5 lý tưởng, chỉ thử với một loại tấn công, và chưa báo cáo chi phí phát sinh.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Paper thứ hai là TIDE. Câu hỏi của bài: khi sự thật bị phân tán, mỗi agent chỉ biết một phần, và có một agent nói dối, thì bằng chứng đúng và sai cạnh tranh nhau ra sao?</a:t>
            </a:r>
          </a:p>
          <a:p/>
          <a:p>
            <a:r>
              <a:t>Tác giả xây 120 môi trường từ truyện Hi-ToM: một đồ vật di chuyển qua nhiều vị trí, 5 agent mỗi người chỉ thấy một đoạn. Thiết kế đảm bảo gộp bằng chứng thì đủ tìm ra vị trí cuối, nhưng không ai tự biết được. Mỗi môi trường chạy hai lần: C0 mọi agent trung thực, C1 agent then chốt nói dối theo ba cách Event, Coverage, Source. Thử với GPT-5.5, DeepSeek-v4-pro và Grok-4.5.</a:t>
            </a:r>
          </a:p>
          <a:p/>
          <a:p>
            <a:r>
              <a:t>Kết quả rất đáng chú ý:</a:t>
            </a:r>
          </a:p>
          <a:p>
            <a:r>
              <a:t>- Tỉ lệ đa số trả lời đúng giảm từ 72.5% xuống chỉ 14.17%.</a:t>
            </a:r>
          </a:p>
          <a:p>
            <a:r>
              <a:t>- Testimony sai được chấp nhận 70.7%, trong khi testimony đúng chỉ 25.4%.</a:t>
            </a:r>
          </a:p>
          <a:p>
            <a:r>
              <a:t>- Bằng chứng sai lan xa hơn: propagation order 2.66 so với 1.33.</a:t>
            </a:r>
          </a:p>
          <a:p/>
          <a:p>
            <a:r>
              <a:t>Thông điệp quan trọng nhất: thảo luận nhiều vòng không sửa sai, mà khuếch đại chiều hướng của bằng chứng ban đầu. Thêm observer giảm 90% số lần đa số theo đáp án sai, nhưng không làm tăng đáp án đúng. Hạn chế là chỉ có một tác vụ hẹp và chưa đề xuất phương pháp phòng thủ.</a:t>
            </a:r>
          </a:p>
          <a:p/>
          <a:p>
            <a:r>
              <a:t>Đến đây là hết phần của em. Em xin mời bạn Dương trình bày phần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Em cảm ơn bạn Hương. Em là Dương, em xin trình bày phần ba: Orchestration &amp; Control. Hai paper trong phần này đều trả lời câu hỏi "nên điều khiển hệ thống như thế nào": ProgRouter chọn model nào cho mỗi bước để tiết kiệm chi phí, còn HalluProp tìm ra agent nào có rủi ro trước khi hệ thống chạy.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ProgRouter giải quyết bài toán chi phí. Trong workflow kiểu Magentic-One, một coordinator lập kế hoạch và giao việc cho các worker. Các router hiện có như RouteLLM hay MasRouter chỉ quyết định một lần cho mỗi câu hỏi, trong khi workflow cần quyết định ở từng bước: vai trò này, ở bước này, nên dùng model nào trong model zoo.</a:t>
            </a:r>
          </a:p>
          <a:p/>
          <a:p>
            <a:r>
              <a:t>ProgRouter có ba thành phần:</a:t>
            </a:r>
          </a:p>
          <a:p>
            <a:r>
              <a:t>- Progress scorer: chấm tiến độ của tác vụ từ 0 đến 1, dựa trên trạng thái tổng thể, phần việc đã xong và xu hướng.</a:t>
            </a:r>
          </a:p>
          <a:p>
            <a:r>
              <a:t>- Progress predictor: dự báo nếu dùng model m thì tiến độ tăng bao nhiêu, kết hợp nhánh đặc trưng bảng và nhánh embedding bằng XGBoost.</a:t>
            </a:r>
          </a:p>
          <a:p>
            <a:r>
              <a:t>- Online decision theo Lyapunov: điểm của mỗi model là lợi ích tiến độ trừ các khoản phạt chi phí và thời gian; phạt tăng mạnh khi ngân sách sắp cạn.</a:t>
            </a:r>
          </a:p>
          <a:p/>
          <a:p>
            <a:r>
              <a:t>Kết quả: trong ngân sách năng lượng, ProgRouter đạt 93.0% trên HumanEval+ và 79.4% trên MBPP, tốt nhất. Thú vị là 84% lần gọi chỉ dùng model 0.5B. Tuy nhiên trên MATH-500 nó thua CASCADIA 3.5 điểm, và kết quả chỉ báo cáo sau giai đoạn khởi động.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Paper thứ hai là HalluProp. Các phương pháp phát hiện hallucination hiện nay đều post-hoc: phải chạy hết hệ thống rồi mới kiểm tra, rất chậm. HalluProp hỏi: có thể biết agent nào rủi ro trước khi bất kỳ agent nào trả lời không, chỉ từ role prompt, câu hỏi và topology?</a:t>
            </a:r>
          </a:p>
          <a:p/>
          <a:p>
            <a:r>
              <a:t>Cách làm là tách rủi ro thành hai phần:</a:t>
            </a:r>
          </a:p>
          <a:p>
            <a:r>
              <a:t>- Intrinsic risk của từng agent: vai trò có khớp với câu hỏi không, đo bằng embedding BERT.</a:t>
            </a:r>
          </a:p>
          <a:p>
            <a:r>
              <a:t>- Propagation risk của từng cạnh: bên gửi có ảnh hưởng mạnh và bên nhận có dễ bị tác động không, nhân với hệ số theo bậc của node.</a:t>
            </a:r>
          </a:p>
          <a:p>
            <a:r>
              <a:t>Hai phần này được gộp bằng công thức Noisy-OR lặp 3 bước: một agent bị lỗi nếu tự nó lỗi, hoặc bị lỗi lan từ bất kỳ agent nào gửi tin cho nó.</a:t>
            </a:r>
          </a:p>
          <a:p/>
          <a:p>
            <a:r>
              <a:t>Kết quả: AUROC trung bình 84.6; thời gian chẩn đoán dưới 1 giây so với 53 đến 308 giây của các phương pháp post-hoc. Khi sửa prompt của agent rủi ro nhất thành vai trò kiểm chứng, accuracy đạt 67.6% so với 63.5% của GUARDIAN.</a:t>
            </a:r>
          </a:p>
          <a:p/>
          <a:p>
            <a:r>
              <a:t>Hạn chế là "hallucination" ở đây thực chất chỉ là trả lời sai, các vai trò được làm nhiễu có chủ đích, và phương pháp cần dữ liệu có nhãn.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Phần của em đến đây là hết. Em xin mời bạn Dũng trình bày phần bốn.</a:t>
            </a:r>
          </a:p>
          <a:p/>
          <a:p>
            <a:r>
              <a:t>(Bạn Dũng) Em cảm ơn bạn Dương. Em là Dũng, em xin trình bày phần bốn: Communication &amp; Interaction, tức các agent nên trao đổi thông tin gì và với ai. Hai paper là DAIN và AGENT-RADAR.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DAIN giải bài toán kết hợp dữ liệu đa phương thức, ví dụ ảnh MRI, gen và điểm nhận thức để chẩn đoán Alzheimer. Các mô hình Mixture-of-Experts hiện có dùng cấu trúc tĩnh và các expert không trao đổi với nhau.</a:t>
            </a:r>
          </a:p>
          <a:p/>
          <a:p>
            <a:r>
              <a:t>DAIN có 8 agent chia theo lý thuyết PID: 3 agent synergy, 3 agent uniqueness và 2 agent redundancy. Pipeline gồm bốn bước như trên hình:</a:t>
            </a:r>
          </a:p>
          <a:p>
            <a:r>
              <a:t>- Mã hóa từng phương thức thành một context vector.</a:t>
            </a:r>
          </a:p>
          <a:p>
            <a:r>
              <a:t>- Meta-Controller chọn một tập agent thưa để kích hoạt và sinh một soft communication graph phụ thuộc đầu vào.</a:t>
            </a:r>
          </a:p>
          <a:p>
            <a:r>
              <a:t>- Các agent truyền message qua một low-rank bottleneck.</a:t>
            </a:r>
          </a:p>
          <a:p>
            <a:r>
              <a:t>- Attention tổng hợp thành kết quả cuối.</a:t>
            </a:r>
          </a:p>
          <a:p/>
          <a:p>
            <a:r>
              <a:t>Kết quả: trung bình chỉ 3.2 đến 5.5 trên 8 agent được kích hoạt, và DAIN thắng các baseline MoE trên cả 5 dataset, ví dụ ADNI 73.5 so với 70.9.</a:t>
            </a:r>
          </a:p>
          <a:p/>
          <a:p>
            <a:r>
              <a:t>Nhưng nhóm em lưu ý một điểm quan trọng: agent ở đây là neural module, không phải LLM. Về bản chất, DAIN là MoE có message passing giữa các expert. Ngoài ra số liệu trong bài có chỗ không nhất quán giữa các bảng.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Paper thứ hai là AGENT-RADAR. Vấn đề: lịch sử hội thoại giữa các agent dài rất nhanh, nhiều nội dung lặp lại, nên mô tả nhiệm vụ và bằng chứng quan trọng bị chôn vùi ở giữa context. Các cách cũ là tóm tắt hoặc cắt bớt agent, nhưng đều mất thông tin.</a:t>
            </a:r>
          </a:p>
          <a:p/>
          <a:p>
            <a:r>
              <a:t>AGENT-RADAR giữ nguyên toàn bộ lịch sử, và chỉ "chỉnh hướng chú ý" của mô hình về những câu liên quan. Mỗi câu được chấm điểm bằng tích ba thành phần:</a:t>
            </a:r>
          </a:p>
          <a:p>
            <a:r>
              <a:t>- Spatial decay: agent càng xa trên đồ thị thì trọng số càng nhỏ.</a:t>
            </a:r>
          </a:p>
          <a:p>
            <a:r>
              <a:t>- Temporal decay: message càng cũ thì trọng số càng nhỏ.</a:t>
            </a:r>
          </a:p>
          <a:p>
            <a:r>
              <a:t>- Cosine similarity với câu hỏi hiện tại.</a:t>
            </a:r>
          </a:p>
          <a:p>
            <a:r>
              <a:t>Câu nào đạt ngưỡng 0.65 sẽ được nhấn mạnh bằng kỹ thuật SPA. Phương pháp không cần huấn luyện.</a:t>
            </a:r>
          </a:p>
          <a:p/>
          <a:p>
            <a:r>
              <a:t>Biểu đồ so sánh với baseline mạnh nhất là AgentDropout trên Qwen3-4B: AGENT-RADAR thắng cả 5 benchmark, ví dụ HotpotQA tăng 7.6 điểm và MATH-500 tăng 6.2 điểm. Latency chỉ tăng khoảng 23%.</a:t>
            </a:r>
          </a:p>
          <a:p/>
          <a:p>
            <a:r>
              <a:t>Hạn chế lớn nhất là cần truy cập logit của mô hình, nên không dùng được với model qua API. Ngoài ra tham số được chỉnh trên MuSiQue, cũng chính là một tập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Phần của em đến đây là hết. Em xin mời bạn Đức trình bày phần năm.</a:t>
            </a:r>
          </a:p>
          <a:p/>
          <a:p>
            <a:r>
              <a:t>(Bạn Đức) Em cảm ơn bạn Dũng. Em là Đức, em xin trình bày phần năm: Domain Applications, tức đưa cộng tác đa agent vào các bài toán chuyên ngành. Hai paper là MAC-RRG trong y tế và UrbanAgent trong quy hoạch đô thị.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MAC-RRG sinh báo cáo X-quang ngực tự động. Các phương pháp chỉ dùng LLM thì dễ hallucination vì thiếu tri thức y khoa; các phương pháp dùng knowledge graph lại chỉ đưa tri thức vào một lần, không xem lại bản nháp.</a:t>
            </a:r>
          </a:p>
          <a:p/>
          <a:p>
            <a:r>
              <a:t>Quy trình của MAC-RRG như trên hình:</a:t>
            </a:r>
          </a:p>
          <a:p>
            <a:r>
              <a:t>- Swin Transformer và Llama2-7B viết một bản nháp.</a:t>
            </a:r>
          </a:p>
          <a:p>
            <a:r>
              <a:t>- Trích các thực thể giải phẫu và bệnh lý từ bản nháp.</a:t>
            </a:r>
          </a:p>
          <a:p>
            <a:r>
              <a:t>- Hai agent tìm tri thức song song: MM-KG agent lấy các láng giềng trong knowledge graph y khoa, Knowledge agent truy xuất đoạn văn từ PubMedVision.</a:t>
            </a:r>
          </a:p>
          <a:p>
            <a:r>
              <a:t>- Tri thức được ghép với token hình ảnh làm tiền tố cho LLM viết lại báo cáo.</a:t>
            </a:r>
          </a:p>
          <a:p/>
          <a:p>
            <a:r>
              <a:t>Kết quả: BLEU-4 cao nhất trên cả ba dataset, và F1 lâm sàng trên CheXpert Plus đạt 0.295 so với 0.260 của R2GenGPT.</a:t>
            </a:r>
          </a:p>
          <a:p/>
          <a:p>
            <a:r>
              <a:t>Tuy vậy, nhóm em đánh giá chữ "multi-agent" ở đây chủ yếu là cách đặt tên: hai agent thực chất là module retrieval tất định, không giao tiếp hay thương lượng; còn "iterative" thực tế chỉ có một lượt tinh chỉnh. Mức tăng BLEU cũng khá nhỏ.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UrbanAgent dự đoán các chỉ số của một vùng đô thị như phát thải carbon, dân số và GDP từ bốn loại dữ liệu: ảnh vệ tinh, văn bản, điểm POI và mô hình tòa nhà 3D. Vấn đề là các nguồn này thường mâu thuẫn nhau, ví dụ ảnh vệ tinh thấy nhà thấp nhưng POI lại cho thấy thương mại dày đặc, và các mô hình cũ chỉ trộn chung nên che mất mâu thuẫn đó.</a:t>
            </a:r>
          </a:p>
          <a:p/>
          <a:p>
            <a:r>
              <a:t>UrbanAgent có hai giai đoạn:</a:t>
            </a:r>
          </a:p>
          <a:p>
            <a:r>
              <a:t>- Giai đoạn A: mỗi loại dữ liệu có một agent Qwen3-VL-4B biết dùng 4 tool như web search hay ảnh vệ tinh lịch sử, huấn luyện bằng SFT rồi GRPO, với phần thưởng cho cả kết quả, định dạng và cách dùng tool.</a:t>
            </a:r>
          </a:p>
          <a:p>
            <a:r>
              <a:t>- Giai đoạn B: xây đồ thị quan hệ giữa các agent với ba loại cạnh: corroboration khi các agent đồng ý, rectification khi lệch nhau nhiều, và supervisory khi agent tự tin hơn hướng dẫn agent kém tự tin. Sau 5 vòng, một final judge đưa ra dự đoán.</a:t>
            </a:r>
          </a:p>
          <a:p/>
          <a:p>
            <a:r>
              <a:t>Kết quả: R bình phương khoảng 0.63 đến 0.65 trên ba chỉ số, vẫn giữ khoảng 0.60 ở các thành phố chưa thấy, tăng trung bình 8.1% so với baseline mạnh nhất.</a:t>
            </a:r>
          </a:p>
          <a:p/>
          <a:p>
            <a:r>
              <a:t>Lưu ý là bước "debate" thực chất là một mạng GNN được huấn luyện, không phải tranh luận bằng ngôn ngữ, và dữ liệu khá nhỏ.</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Phần của em đến đây là hết. Em xin mời bạn Dũng quay lại trình bày phần so sánh.</a:t>
            </a:r>
          </a:p>
          <a:p/>
          <a:p>
            <a:r>
              <a:t>(Bạn Dũng) Sau khi đã đi qua từng paper, phần sáu sẽ đặt 8 paper cạnh nhau để so sánh, rút ra các nhận định chung, chỉ ra khoảng trống nghiên cứu và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Bảng này so sánh 8 paper theo năm tiêu chí: loại đóng góp, có cần huấn luyện không, có cần truy cập bên trong mô hình không, có báo cáo chi phí không, và có báo cáo phương sai hay kiểm định thống kê không.</a:t>
            </a:r>
          </a:p>
          <a:p/>
          <a:p>
            <a:r>
              <a:t>Ba điểm nổi bật:</a:t>
            </a:r>
          </a:p>
          <a:p>
            <a:r>
              <a:t>- Chỉ TIDE có kiểm định thống kê đầy đủ. Bảy bài còn lại không báo cáo phương sai, trong khi nhiều mức cải thiện chỉ 1 đến 3 điểm, có thể nằm trong khoảng nhiễu.</a:t>
            </a:r>
          </a:p>
          <a:p>
            <a:r>
              <a:t>- Chỉ ProgRouter đo chi phí thực bằng năng lượng GPU; AGENT-RADAR có báo cáo thời gian. Các bài còn lại thêm nhiều lần gọi mô hình nhưng không đo chi phí.</a:t>
            </a:r>
          </a:p>
          <a:p>
            <a:r>
              <a:t>- AGENT-RADAR là bài duy nhất bắt buộc truy cập logit, nên khó áp dụng với các model thương mại.</a:t>
            </a:r>
          </a:p>
          <a:p/>
          <a:p>
            <a:r>
              <a:t>Ngoài ra, dù nhiều bài dùng chung MMLU hay MATH, mỗi bài dùng tập con, topology và backbone khác nhau, nên không thể so sánh trực tiếp con số giữa các bài.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Từ việc so sánh, nhóm em rút ra ba nhận định chung.</a:t>
            </a:r>
          </a:p>
          <a:p/>
          <a:p>
            <a:r>
              <a:t>Thứ nhất, communication graph là đối tượng trung tâm. Sáu trên tám bài thao tác trực tiếp lên nó: MIRAGE giấu nó, HalluProp phân tích rủi ro trên nó, AGENT-RADAR dùng khoảng cách trên nó, DAIN và UrbanAgent học nó, TIDE truy vết bằng chứng trên nó.</a:t>
            </a:r>
          </a:p>
          <a:p/>
          <a:p>
            <a:r>
              <a:t>Thứ hai, lan truyền là rủi ro cốt lõi. TIDE cho thấy thảo luận khuếch đại sai lệch thay vì sửa sai, còn HalluProp cho thấy hallucination lan theo cạnh. Điều này thách thức giả định phổ biến rằng càng nhiều agent thảo luận thì kết quả càng đúng.</a:t>
            </a:r>
          </a:p>
          <a:p/>
          <a:p>
            <a:r>
              <a:t>Thứ ba, khái niệm "agent" đang bị dùng rất rộng: năm bài dùng LLM agent thật sự, UrbanAgent dùng LLM nhưng tổng hợp bằng mạng học được, còn DAIN và MAC-RRG gọi module neural hay module retrieval là agent. Điều này làm khó việc so sánh.</a:t>
            </a:r>
          </a:p>
          <a:p/>
          <a:p>
            <a:r>
              <a:t>Thêm một quan sát: hiệu quả không đến từ việc dùng nhiều agent hơn. ProgRouter dùng chủ yếu model 0.5B, còn DAIN tốt nhất khi chỉ dùng tối đa 4 trên 8 agent.</a:t>
            </a:r>
          </a:p>
          <a:p/>
          <a:p>
            <a:r>
              <a:t>Em xin mời bạn Dương trình bày phần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Dựa trên các nhận định đó, nhóm em xác định một số khoảng trống nghiên cứu, ở cột bên trái:</a:t>
            </a:r>
          </a:p>
          <a:p>
            <a:r>
              <a:t>- Chưa có benchmark chung đo đồng thời chất lượng, chi phí và độ bền vững.</a:t>
            </a:r>
          </a:p>
          <a:p>
            <a:r>
              <a:t>- Bảy trên tám bài không có phương sai hay kiểm định thống kê.</a:t>
            </a:r>
          </a:p>
          <a:p>
            <a:r>
              <a:t>- Quy mô thử nghiệm còn nhỏ: tối đa khoảng 8 agent, 2 đến 5 vòng.</a:t>
            </a:r>
          </a:p>
          <a:p>
            <a:r>
              <a:t>- Chưa có adaptive attacker, và chưa có phương pháp nào khôi phục được sự thật khi có agent nói dối.</a:t>
            </a:r>
          </a:p>
          <a:p>
            <a:r>
              <a:t>- Các phương pháp tối ưu hiệu năng chưa được thử trong điều kiện đối kháng.</a:t>
            </a:r>
          </a:p>
          <a:p/>
          <a:p>
            <a:r>
              <a:t>Từ đó nhóm em đề xuất bốn hướng, ở cột bên phải. Hướng đáng chú ý nhất là giao tiếp có nhận thức nguồn gốc: lấy điểm của AGENT-RADAR, nhân thêm với mức độ đáng tin của agent nguồn từ HalluProp, và giảm theo số bước chuyển tiếp. Điều này xuất phát trực tiếp từ phát hiện của TIDE rằng thông tin sai thường lan qua chuỗi dài hơn. Một hướng khác là kết hợp ProgRouter với HalluProp, để bước nào rủi ro cao thì giao cho model mạnh hơn.</a:t>
            </a:r>
          </a:p>
          <a:p/>
          <a:p>
            <a:r>
              <a:t>Em xin mời bạn Đức trình bày phần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Để tổng kết, nhóm em đã khảo sát 8 paper mới nhất về Multi-Agent Systems và Collaborative Reasoning, chia thành bốn hướng, mỗi hướng hai bài.</a:t>
            </a:r>
          </a:p>
          <a:p/>
          <a:p>
            <a:r>
              <a:t>Bốn ý chính nhóm em muốn cô và các bạn ghi nhớ:</a:t>
            </a:r>
          </a:p>
          <a:p>
            <a:r>
              <a:t>- Communication graph là trung tâm: nó quyết định hiệu năng, là kênh lan truyền rủi ro, và là tài sản cần bảo vệ.</a:t>
            </a:r>
          </a:p>
          <a:p>
            <a:r>
              <a:t>- Lan truyền lỗi là rủi ro lớn nhất, và thảo luận nhiều vòng không tự sửa được sai lệch.</a:t>
            </a:r>
          </a:p>
          <a:p>
            <a:r>
              <a:t>- Hiệu quả đến từ việc kích hoạt đúng agent, đúng model và chú ý đúng nội dung, chứ không phải dùng nhiều hơn.</a:t>
            </a:r>
          </a:p>
          <a:p>
            <a:r>
              <a:t>- Thực nghiệm trong lĩnh vực còn yếu: quy mô nhỏ, thiếu kiểm định, thiếu đo chi phí.</a:t>
            </a:r>
          </a:p>
          <a:p/>
          <a:p>
            <a:r>
              <a:t>Nhóm em cho rằng câu hỏi của lĩnh vực đang chuyển từ "nhiều agent có tốt hơn một agent không" sang "làm thế nào để một hệ nhiều agent vừa hiệu quả, vừa đáng tin cậy, vừa an toàn".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Bài trình bày của nhóm em đến đây là kết thúc. Bảng bên trái là phân công: mỗi bạn phụ trách 2 paper cùng hướng và một phần chung của báo cáo.</a:t>
            </a:r>
          </a:p>
          <a:p/>
          <a:p>
            <a:r>
              <a:t>Em xin thay mặt nhóm cảm ơn cô và các bạn đã lắng nghe. Nhóm em rất mong nhận được câu hỏi và góp ý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3A10EA01-4F0F-465B-9E82-2B95E2B79F5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3" name="PlaceHolder 2">
            <a:extLst>
              <a:ext uri="{FF2B5EF4-FFF2-40B4-BE49-F238E27FC236}">
                <a16:creationId xmlns:a16="http://schemas.microsoft.com/office/drawing/2014/main" id="{AF0B21C6-64CC-4024-A8FB-57E278146C51}"/>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a:extLst>
              <a:ext uri="{FF2B5EF4-FFF2-40B4-BE49-F238E27FC236}">
                <a16:creationId xmlns:a16="http://schemas.microsoft.com/office/drawing/2014/main" id="{8F720294-D68E-4712-A131-B4ED59DDDFB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 name="PlaceHolder 2">
            <a:extLst>
              <a:ext uri="{FF2B5EF4-FFF2-40B4-BE49-F238E27FC236}">
                <a16:creationId xmlns:a16="http://schemas.microsoft.com/office/drawing/2014/main" id="{18547D8C-72A3-48A0-98A3-D156028898C0}"/>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a:extLst>
              <a:ext uri="{FF2B5EF4-FFF2-40B4-BE49-F238E27FC236}">
                <a16:creationId xmlns:a16="http://schemas.microsoft.com/office/drawing/2014/main" id="{8AE34AD6-D857-4517-9FD3-C05463A222B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7" name="PlaceHolder 2">
            <a:extLst>
              <a:ext uri="{FF2B5EF4-FFF2-40B4-BE49-F238E27FC236}">
                <a16:creationId xmlns:a16="http://schemas.microsoft.com/office/drawing/2014/main" id="{C9956E2F-B85B-41BF-8BA2-7A39114AED1D}"/>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8" name="PlaceHolder 3">
            <a:extLst>
              <a:ext uri="{FF2B5EF4-FFF2-40B4-BE49-F238E27FC236}">
                <a16:creationId xmlns:a16="http://schemas.microsoft.com/office/drawing/2014/main" id="{36A6F0BA-20EA-4ED2-881F-4A14517B1FFF}"/>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a:extLst>
              <a:ext uri="{FF2B5EF4-FFF2-40B4-BE49-F238E27FC236}">
                <a16:creationId xmlns:a16="http://schemas.microsoft.com/office/drawing/2014/main" id="{56C985C3-046F-40BE-BD94-00295AEE812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10" name="PlaceHolder 1">
            <a:extLst>
              <a:ext uri="{FF2B5EF4-FFF2-40B4-BE49-F238E27FC236}">
                <a16:creationId xmlns:a16="http://schemas.microsoft.com/office/drawing/2014/main" id="{5192E51B-9942-42A8-8404-468F4D7AA099}"/>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11" name="PlaceHolder 1">
            <a:extLst>
              <a:ext uri="{FF2B5EF4-FFF2-40B4-BE49-F238E27FC236}">
                <a16:creationId xmlns:a16="http://schemas.microsoft.com/office/drawing/2014/main" id="{6A237BB4-38F2-4539-9315-EFABD6FCDE2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 name="PlaceHolder 2">
            <a:extLst>
              <a:ext uri="{FF2B5EF4-FFF2-40B4-BE49-F238E27FC236}">
                <a16:creationId xmlns:a16="http://schemas.microsoft.com/office/drawing/2014/main" id="{FB71A63A-BEC7-42B1-AB9F-11634532E961}"/>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 name="PlaceHolder 3">
            <a:extLst>
              <a:ext uri="{FF2B5EF4-FFF2-40B4-BE49-F238E27FC236}">
                <a16:creationId xmlns:a16="http://schemas.microsoft.com/office/drawing/2014/main" id="{808A2F67-296E-4B30-938F-FA17281AC1DD}"/>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 name="PlaceHolder 4">
            <a:extLst>
              <a:ext uri="{FF2B5EF4-FFF2-40B4-BE49-F238E27FC236}">
                <a16:creationId xmlns:a16="http://schemas.microsoft.com/office/drawing/2014/main" id="{68360B90-F694-443C-833B-2C27B80CA5BD}"/>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15" name="PlaceHolder 1">
            <a:extLst>
              <a:ext uri="{FF2B5EF4-FFF2-40B4-BE49-F238E27FC236}">
                <a16:creationId xmlns:a16="http://schemas.microsoft.com/office/drawing/2014/main" id="{AB14271D-CF2F-44CB-BE96-B563F540715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 name="PlaceHolder 2">
            <a:extLst>
              <a:ext uri="{FF2B5EF4-FFF2-40B4-BE49-F238E27FC236}">
                <a16:creationId xmlns:a16="http://schemas.microsoft.com/office/drawing/2014/main" id="{7436EE3D-2F88-4275-9EEC-6742F0592820}"/>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 name="PlaceHolder 3">
            <a:extLst>
              <a:ext uri="{FF2B5EF4-FFF2-40B4-BE49-F238E27FC236}">
                <a16:creationId xmlns:a16="http://schemas.microsoft.com/office/drawing/2014/main" id="{E526BCDF-FEB6-4B4B-9556-32D010B5C650}"/>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 name="PlaceHolder 4">
            <a:extLst>
              <a:ext uri="{FF2B5EF4-FFF2-40B4-BE49-F238E27FC236}">
                <a16:creationId xmlns:a16="http://schemas.microsoft.com/office/drawing/2014/main" id="{AC51526B-E574-467F-93C6-BFD9826E0E64}"/>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19" name="PlaceHolder 1">
            <a:extLst>
              <a:ext uri="{FF2B5EF4-FFF2-40B4-BE49-F238E27FC236}">
                <a16:creationId xmlns:a16="http://schemas.microsoft.com/office/drawing/2014/main" id="{BC79914B-6EF3-4AC1-B60E-A8A55DBB63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0" name="PlaceHolder 2">
            <a:extLst>
              <a:ext uri="{FF2B5EF4-FFF2-40B4-BE49-F238E27FC236}">
                <a16:creationId xmlns:a16="http://schemas.microsoft.com/office/drawing/2014/main" id="{085A5653-18CB-4518-A208-DE86D0358704}"/>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 name="PlaceHolder 3">
            <a:extLst>
              <a:ext uri="{FF2B5EF4-FFF2-40B4-BE49-F238E27FC236}">
                <a16:creationId xmlns:a16="http://schemas.microsoft.com/office/drawing/2014/main" id="{378242C1-9748-4292-BCE7-50091404A36E}"/>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 name="PlaceHolder 4">
            <a:extLst>
              <a:ext uri="{FF2B5EF4-FFF2-40B4-BE49-F238E27FC236}">
                <a16:creationId xmlns:a16="http://schemas.microsoft.com/office/drawing/2014/main" id="{1BDDBC49-42F5-4BD7-97BC-98389DD8E668}"/>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3" name="PlaceHolder 1">
            <a:extLst>
              <a:ext uri="{FF2B5EF4-FFF2-40B4-BE49-F238E27FC236}">
                <a16:creationId xmlns:a16="http://schemas.microsoft.com/office/drawing/2014/main" id="{79821F77-D4D7-4396-A2EA-9B261889A17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4" name="PlaceHolder 2">
            <a:extLst>
              <a:ext uri="{FF2B5EF4-FFF2-40B4-BE49-F238E27FC236}">
                <a16:creationId xmlns:a16="http://schemas.microsoft.com/office/drawing/2014/main" id="{5FE4E8F9-8904-4897-A7D0-3C1DDB492FEA}"/>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 name="PlaceHolder 3">
            <a:extLst>
              <a:ext uri="{FF2B5EF4-FFF2-40B4-BE49-F238E27FC236}">
                <a16:creationId xmlns:a16="http://schemas.microsoft.com/office/drawing/2014/main" id="{73B91B7E-2A32-4B8F-8BB2-357F1995F45B}"/>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6" name="PlaceHolder 1">
            <a:extLst>
              <a:ext uri="{FF2B5EF4-FFF2-40B4-BE49-F238E27FC236}">
                <a16:creationId xmlns:a16="http://schemas.microsoft.com/office/drawing/2014/main" id="{22525618-A72A-461A-91BC-0C871B94835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 name="PlaceHolder 2">
            <a:extLst>
              <a:ext uri="{FF2B5EF4-FFF2-40B4-BE49-F238E27FC236}">
                <a16:creationId xmlns:a16="http://schemas.microsoft.com/office/drawing/2014/main" id="{C051D48F-A371-4F36-8A45-CDB179C76C5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 name="PlaceHolder 3">
            <a:extLst>
              <a:ext uri="{FF2B5EF4-FFF2-40B4-BE49-F238E27FC236}">
                <a16:creationId xmlns:a16="http://schemas.microsoft.com/office/drawing/2014/main" id="{5900D6A1-2CBB-454E-B687-EC2784AB2E00}"/>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 name="PlaceHolder 4">
            <a:extLst>
              <a:ext uri="{FF2B5EF4-FFF2-40B4-BE49-F238E27FC236}">
                <a16:creationId xmlns:a16="http://schemas.microsoft.com/office/drawing/2014/main" id="{648D25EC-68DB-494C-A25B-24E96AB17FED}"/>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 name="PlaceHolder 5">
            <a:extLst>
              <a:ext uri="{FF2B5EF4-FFF2-40B4-BE49-F238E27FC236}">
                <a16:creationId xmlns:a16="http://schemas.microsoft.com/office/drawing/2014/main" id="{417AEB4D-8AF7-4129-BB6A-204D1B03385A}"/>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a:extLst>
              <a:ext uri="{FF2B5EF4-FFF2-40B4-BE49-F238E27FC236}">
                <a16:creationId xmlns:a16="http://schemas.microsoft.com/office/drawing/2014/main" id="{29520CF2-6820-44A5-A59D-755F3CDD92C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32" name="PlaceHolder 2">
            <a:extLst>
              <a:ext uri="{FF2B5EF4-FFF2-40B4-BE49-F238E27FC236}">
                <a16:creationId xmlns:a16="http://schemas.microsoft.com/office/drawing/2014/main" id="{66574158-849C-4F8D-AACA-6308BD243BEE}"/>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3" name="PlaceHolder 3">
            <a:extLst>
              <a:ext uri="{FF2B5EF4-FFF2-40B4-BE49-F238E27FC236}">
                <a16:creationId xmlns:a16="http://schemas.microsoft.com/office/drawing/2014/main" id="{2A50673B-F44A-4B55-9E9A-C0EC174BB0BA}"/>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4" name="PlaceHolder 4">
            <a:extLst>
              <a:ext uri="{FF2B5EF4-FFF2-40B4-BE49-F238E27FC236}">
                <a16:creationId xmlns:a16="http://schemas.microsoft.com/office/drawing/2014/main" id="{CB6F9D4F-1462-48F3-820D-F5AFDEFE2802}"/>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5" name="PlaceHolder 5">
            <a:extLst>
              <a:ext uri="{FF2B5EF4-FFF2-40B4-BE49-F238E27FC236}">
                <a16:creationId xmlns:a16="http://schemas.microsoft.com/office/drawing/2014/main" id="{AD88CBF0-0FFB-4398-920D-8E906889DA7C}"/>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6" name="PlaceHolder 6">
            <a:extLst>
              <a:ext uri="{FF2B5EF4-FFF2-40B4-BE49-F238E27FC236}">
                <a16:creationId xmlns:a16="http://schemas.microsoft.com/office/drawing/2014/main" id="{3047B913-1B57-437F-A0C3-9D764F0B2F57}"/>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7" name="PlaceHolder 7">
            <a:extLst>
              <a:ext uri="{FF2B5EF4-FFF2-40B4-BE49-F238E27FC236}">
                <a16:creationId xmlns:a16="http://schemas.microsoft.com/office/drawing/2014/main" id="{10297024-D506-4BC4-8D6D-93DAE7717BFD}"/>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0" name="PlaceHolder 1">
            <a:extLst>
              <a:ext uri="{FF2B5EF4-FFF2-40B4-BE49-F238E27FC236}">
                <a16:creationId xmlns:a16="http://schemas.microsoft.com/office/drawing/2014/main" id="{44A083F2-988D-4A19-A477-B59FA53423E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41" name="PlaceHolder 2">
            <a:extLst>
              <a:ext uri="{FF2B5EF4-FFF2-40B4-BE49-F238E27FC236}">
                <a16:creationId xmlns:a16="http://schemas.microsoft.com/office/drawing/2014/main" id="{F1FD269A-0782-48A0-A909-D7C3835566FD}"/>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a:extLst>
              <a:ext uri="{FF2B5EF4-FFF2-40B4-BE49-F238E27FC236}">
                <a16:creationId xmlns:a16="http://schemas.microsoft.com/office/drawing/2014/main" id="{2631AB3B-F47E-43D9-8EDF-7CA86312B05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43" name="PlaceHolder 2">
            <a:extLst>
              <a:ext uri="{FF2B5EF4-FFF2-40B4-BE49-F238E27FC236}">
                <a16:creationId xmlns:a16="http://schemas.microsoft.com/office/drawing/2014/main" id="{470DFC1E-769D-45ED-A747-433D40645D8A}"/>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a:extLst>
              <a:ext uri="{FF2B5EF4-FFF2-40B4-BE49-F238E27FC236}">
                <a16:creationId xmlns:a16="http://schemas.microsoft.com/office/drawing/2014/main" id="{B168786B-3505-43F8-BEC8-51149C1321F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45" name="PlaceHolder 2">
            <a:extLst>
              <a:ext uri="{FF2B5EF4-FFF2-40B4-BE49-F238E27FC236}">
                <a16:creationId xmlns:a16="http://schemas.microsoft.com/office/drawing/2014/main" id="{82F0D1D1-84C2-4FC9-84DB-13F3F5F6BAB5}"/>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46" name="PlaceHolder 3">
            <a:extLst>
              <a:ext uri="{FF2B5EF4-FFF2-40B4-BE49-F238E27FC236}">
                <a16:creationId xmlns:a16="http://schemas.microsoft.com/office/drawing/2014/main" id="{18B21C41-A699-47F1-B271-61266C03A106}"/>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a:extLst>
              <a:ext uri="{FF2B5EF4-FFF2-40B4-BE49-F238E27FC236}">
                <a16:creationId xmlns:a16="http://schemas.microsoft.com/office/drawing/2014/main" id="{7270268D-27DB-4759-A61A-E3C9E3C6CC8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48" name="PlaceHolder 1">
            <a:extLst>
              <a:ext uri="{FF2B5EF4-FFF2-40B4-BE49-F238E27FC236}">
                <a16:creationId xmlns:a16="http://schemas.microsoft.com/office/drawing/2014/main" id="{67521514-7B52-4CCA-A5B6-34848D40950C}"/>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49" name="PlaceHolder 1">
            <a:extLst>
              <a:ext uri="{FF2B5EF4-FFF2-40B4-BE49-F238E27FC236}">
                <a16:creationId xmlns:a16="http://schemas.microsoft.com/office/drawing/2014/main" id="{956C7691-C649-4082-B5B0-E2A33EA5DB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0" name="PlaceHolder 2">
            <a:extLst>
              <a:ext uri="{FF2B5EF4-FFF2-40B4-BE49-F238E27FC236}">
                <a16:creationId xmlns:a16="http://schemas.microsoft.com/office/drawing/2014/main" id="{1FDDFC0F-2CAC-4082-B105-5705A94D6C21}"/>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1" name="PlaceHolder 3">
            <a:extLst>
              <a:ext uri="{FF2B5EF4-FFF2-40B4-BE49-F238E27FC236}">
                <a16:creationId xmlns:a16="http://schemas.microsoft.com/office/drawing/2014/main" id="{0EBDB5B4-7E4A-434E-847A-AEFC8CEB2676}"/>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2" name="PlaceHolder 4">
            <a:extLst>
              <a:ext uri="{FF2B5EF4-FFF2-40B4-BE49-F238E27FC236}">
                <a16:creationId xmlns:a16="http://schemas.microsoft.com/office/drawing/2014/main" id="{B6BD501C-6FA9-4912-8D88-2707B1E141CB}"/>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53" name="PlaceHolder 1">
            <a:extLst>
              <a:ext uri="{FF2B5EF4-FFF2-40B4-BE49-F238E27FC236}">
                <a16:creationId xmlns:a16="http://schemas.microsoft.com/office/drawing/2014/main" id="{2B8C8295-1E53-49D0-AD50-33812DAB9D3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4" name="PlaceHolder 2">
            <a:extLst>
              <a:ext uri="{FF2B5EF4-FFF2-40B4-BE49-F238E27FC236}">
                <a16:creationId xmlns:a16="http://schemas.microsoft.com/office/drawing/2014/main" id="{5CF4A466-2E87-4DD6-9F4D-8DA37C50EFBB}"/>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5" name="PlaceHolder 3">
            <a:extLst>
              <a:ext uri="{FF2B5EF4-FFF2-40B4-BE49-F238E27FC236}">
                <a16:creationId xmlns:a16="http://schemas.microsoft.com/office/drawing/2014/main" id="{F78E011A-1817-41DC-8A3E-048D0FD0BAD4}"/>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6" name="PlaceHolder 4">
            <a:extLst>
              <a:ext uri="{FF2B5EF4-FFF2-40B4-BE49-F238E27FC236}">
                <a16:creationId xmlns:a16="http://schemas.microsoft.com/office/drawing/2014/main" id="{8FAD12B0-C537-4398-8B8C-92A104239D15}"/>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57" name="PlaceHolder 1">
            <a:extLst>
              <a:ext uri="{FF2B5EF4-FFF2-40B4-BE49-F238E27FC236}">
                <a16:creationId xmlns:a16="http://schemas.microsoft.com/office/drawing/2014/main" id="{A610EF7F-A6E6-4E57-A0A6-977AAD31448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8" name="PlaceHolder 2">
            <a:extLst>
              <a:ext uri="{FF2B5EF4-FFF2-40B4-BE49-F238E27FC236}">
                <a16:creationId xmlns:a16="http://schemas.microsoft.com/office/drawing/2014/main" id="{F97A0D8D-6827-4003-AEB5-072C7B43556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9" name="PlaceHolder 3">
            <a:extLst>
              <a:ext uri="{FF2B5EF4-FFF2-40B4-BE49-F238E27FC236}">
                <a16:creationId xmlns:a16="http://schemas.microsoft.com/office/drawing/2014/main" id="{487C7197-F95E-4D4C-93DA-BFCA3625E386}"/>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0" name="PlaceHolder 4">
            <a:extLst>
              <a:ext uri="{FF2B5EF4-FFF2-40B4-BE49-F238E27FC236}">
                <a16:creationId xmlns:a16="http://schemas.microsoft.com/office/drawing/2014/main" id="{B995043D-CF7F-46B8-94E3-CD444029B5FD}"/>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61" name="PlaceHolder 1">
            <a:extLst>
              <a:ext uri="{FF2B5EF4-FFF2-40B4-BE49-F238E27FC236}">
                <a16:creationId xmlns:a16="http://schemas.microsoft.com/office/drawing/2014/main" id="{B2E47DD8-A714-47E8-98C4-8D01AB8D4BB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62" name="PlaceHolder 2">
            <a:extLst>
              <a:ext uri="{FF2B5EF4-FFF2-40B4-BE49-F238E27FC236}">
                <a16:creationId xmlns:a16="http://schemas.microsoft.com/office/drawing/2014/main" id="{101D36EC-4334-4C1E-B12C-7AADFAD72379}"/>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3" name="PlaceHolder 3">
            <a:extLst>
              <a:ext uri="{FF2B5EF4-FFF2-40B4-BE49-F238E27FC236}">
                <a16:creationId xmlns:a16="http://schemas.microsoft.com/office/drawing/2014/main" id="{632AE9A2-05A6-41B5-810A-4A7EC6F3E8E7}"/>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64" name="PlaceHolder 1">
            <a:extLst>
              <a:ext uri="{FF2B5EF4-FFF2-40B4-BE49-F238E27FC236}">
                <a16:creationId xmlns:a16="http://schemas.microsoft.com/office/drawing/2014/main" id="{59D20E98-25C9-4835-BAAF-F9C6456DA5F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65" name="PlaceHolder 2">
            <a:extLst>
              <a:ext uri="{FF2B5EF4-FFF2-40B4-BE49-F238E27FC236}">
                <a16:creationId xmlns:a16="http://schemas.microsoft.com/office/drawing/2014/main" id="{5D7359E2-B679-431F-8BD1-1AD13E6D497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6" name="PlaceHolder 3">
            <a:extLst>
              <a:ext uri="{FF2B5EF4-FFF2-40B4-BE49-F238E27FC236}">
                <a16:creationId xmlns:a16="http://schemas.microsoft.com/office/drawing/2014/main" id="{C501D40A-4FE1-43BD-BA89-2987BB3A65E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7" name="PlaceHolder 4">
            <a:extLst>
              <a:ext uri="{FF2B5EF4-FFF2-40B4-BE49-F238E27FC236}">
                <a16:creationId xmlns:a16="http://schemas.microsoft.com/office/drawing/2014/main" id="{E1A25D2A-BAE9-4B2D-88E2-4C132F9BB3DB}"/>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8" name="PlaceHolder 5">
            <a:extLst>
              <a:ext uri="{FF2B5EF4-FFF2-40B4-BE49-F238E27FC236}">
                <a16:creationId xmlns:a16="http://schemas.microsoft.com/office/drawing/2014/main" id="{9B0A5D43-E7A5-436F-AAD4-1F47203E95C3}"/>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a:extLst>
              <a:ext uri="{FF2B5EF4-FFF2-40B4-BE49-F238E27FC236}">
                <a16:creationId xmlns:a16="http://schemas.microsoft.com/office/drawing/2014/main" id="{430496B9-D835-48D3-AF57-9163E74B26B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70" name="PlaceHolder 2">
            <a:extLst>
              <a:ext uri="{FF2B5EF4-FFF2-40B4-BE49-F238E27FC236}">
                <a16:creationId xmlns:a16="http://schemas.microsoft.com/office/drawing/2014/main" id="{994877C3-E4BD-4B18-B0EA-D912D0616E73}"/>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1" name="PlaceHolder 3">
            <a:extLst>
              <a:ext uri="{FF2B5EF4-FFF2-40B4-BE49-F238E27FC236}">
                <a16:creationId xmlns:a16="http://schemas.microsoft.com/office/drawing/2014/main" id="{E54DB432-5C53-4C4B-B03F-1B13AFD3FE70}"/>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2" name="PlaceHolder 4">
            <a:extLst>
              <a:ext uri="{FF2B5EF4-FFF2-40B4-BE49-F238E27FC236}">
                <a16:creationId xmlns:a16="http://schemas.microsoft.com/office/drawing/2014/main" id="{036CE799-0FE1-4C75-8A2D-3D49A1970000}"/>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3" name="PlaceHolder 5">
            <a:extLst>
              <a:ext uri="{FF2B5EF4-FFF2-40B4-BE49-F238E27FC236}">
                <a16:creationId xmlns:a16="http://schemas.microsoft.com/office/drawing/2014/main" id="{7A56F5FA-10B1-4B70-B313-82726AA6AA0F}"/>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4" name="PlaceHolder 6">
            <a:extLst>
              <a:ext uri="{FF2B5EF4-FFF2-40B4-BE49-F238E27FC236}">
                <a16:creationId xmlns:a16="http://schemas.microsoft.com/office/drawing/2014/main" id="{305C3968-7AFF-4124-894B-B71098EF2F91}"/>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5" name="PlaceHolder 7">
            <a:extLst>
              <a:ext uri="{FF2B5EF4-FFF2-40B4-BE49-F238E27FC236}">
                <a16:creationId xmlns:a16="http://schemas.microsoft.com/office/drawing/2014/main" id="{AC4BFE98-C15F-4933-B0EE-E826482A8496}"/>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8" name="PlaceHolder 1">
            <a:extLst>
              <a:ext uri="{FF2B5EF4-FFF2-40B4-BE49-F238E27FC236}">
                <a16:creationId xmlns:a16="http://schemas.microsoft.com/office/drawing/2014/main" id="{09E52DF9-03EC-4BED-9E76-2AB5D8C5A52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79" name="PlaceHolder 2">
            <a:extLst>
              <a:ext uri="{FF2B5EF4-FFF2-40B4-BE49-F238E27FC236}">
                <a16:creationId xmlns:a16="http://schemas.microsoft.com/office/drawing/2014/main" id="{7FB7218A-F763-4E7D-8CDB-8199365FAC76}"/>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a:extLst>
              <a:ext uri="{FF2B5EF4-FFF2-40B4-BE49-F238E27FC236}">
                <a16:creationId xmlns:a16="http://schemas.microsoft.com/office/drawing/2014/main" id="{EE825364-A11D-457B-8480-10B48D31D29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81" name="PlaceHolder 2">
            <a:extLst>
              <a:ext uri="{FF2B5EF4-FFF2-40B4-BE49-F238E27FC236}">
                <a16:creationId xmlns:a16="http://schemas.microsoft.com/office/drawing/2014/main" id="{D4A073EA-CD1F-4EA5-9A3A-18E02E43F973}"/>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a:extLst>
              <a:ext uri="{FF2B5EF4-FFF2-40B4-BE49-F238E27FC236}">
                <a16:creationId xmlns:a16="http://schemas.microsoft.com/office/drawing/2014/main" id="{C5A657FD-F57D-4B2C-9EE8-57EB2C5BDBF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83" name="PlaceHolder 2">
            <a:extLst>
              <a:ext uri="{FF2B5EF4-FFF2-40B4-BE49-F238E27FC236}">
                <a16:creationId xmlns:a16="http://schemas.microsoft.com/office/drawing/2014/main" id="{C17C7A84-85E0-4BDB-AA67-997F1CE17930}"/>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84" name="PlaceHolder 3">
            <a:extLst>
              <a:ext uri="{FF2B5EF4-FFF2-40B4-BE49-F238E27FC236}">
                <a16:creationId xmlns:a16="http://schemas.microsoft.com/office/drawing/2014/main" id="{7AE98D83-529C-4FA2-A519-898983FE0534}"/>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a:extLst>
              <a:ext uri="{FF2B5EF4-FFF2-40B4-BE49-F238E27FC236}">
                <a16:creationId xmlns:a16="http://schemas.microsoft.com/office/drawing/2014/main" id="{F904B098-33C0-446B-BFAE-5B586C652AC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86" name="PlaceHolder 1">
            <a:extLst>
              <a:ext uri="{FF2B5EF4-FFF2-40B4-BE49-F238E27FC236}">
                <a16:creationId xmlns:a16="http://schemas.microsoft.com/office/drawing/2014/main" id="{BED13F68-56B1-4CAC-A3B7-B615BA28C3C0}"/>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87" name="PlaceHolder 1">
            <a:extLst>
              <a:ext uri="{FF2B5EF4-FFF2-40B4-BE49-F238E27FC236}">
                <a16:creationId xmlns:a16="http://schemas.microsoft.com/office/drawing/2014/main" id="{9BF2C1E1-5AAD-4D81-B0E5-EFB9A444525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88" name="PlaceHolder 2">
            <a:extLst>
              <a:ext uri="{FF2B5EF4-FFF2-40B4-BE49-F238E27FC236}">
                <a16:creationId xmlns:a16="http://schemas.microsoft.com/office/drawing/2014/main" id="{41B1374F-B1B9-4CAA-AD59-F2CC2BF14ED5}"/>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89" name="PlaceHolder 3">
            <a:extLst>
              <a:ext uri="{FF2B5EF4-FFF2-40B4-BE49-F238E27FC236}">
                <a16:creationId xmlns:a16="http://schemas.microsoft.com/office/drawing/2014/main" id="{85336D9B-7246-42ED-A831-2733930C0DA5}"/>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0" name="PlaceHolder 4">
            <a:extLst>
              <a:ext uri="{FF2B5EF4-FFF2-40B4-BE49-F238E27FC236}">
                <a16:creationId xmlns:a16="http://schemas.microsoft.com/office/drawing/2014/main" id="{1F152E9B-CC36-4D47-B60A-47F0FFBCC5AE}"/>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91" name="PlaceHolder 1">
            <a:extLst>
              <a:ext uri="{FF2B5EF4-FFF2-40B4-BE49-F238E27FC236}">
                <a16:creationId xmlns:a16="http://schemas.microsoft.com/office/drawing/2014/main" id="{A37C121F-D779-4AB8-8BDE-CCDCEDD92A8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92" name="PlaceHolder 2">
            <a:extLst>
              <a:ext uri="{FF2B5EF4-FFF2-40B4-BE49-F238E27FC236}">
                <a16:creationId xmlns:a16="http://schemas.microsoft.com/office/drawing/2014/main" id="{EA663E86-057B-4DD2-A066-FDD82DA753D6}"/>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3" name="PlaceHolder 3">
            <a:extLst>
              <a:ext uri="{FF2B5EF4-FFF2-40B4-BE49-F238E27FC236}">
                <a16:creationId xmlns:a16="http://schemas.microsoft.com/office/drawing/2014/main" id="{E43F5625-341F-4F53-8DB7-889C2BD7BE4A}"/>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4" name="PlaceHolder 4">
            <a:extLst>
              <a:ext uri="{FF2B5EF4-FFF2-40B4-BE49-F238E27FC236}">
                <a16:creationId xmlns:a16="http://schemas.microsoft.com/office/drawing/2014/main" id="{C83D55BB-473B-4E73-B797-C526170FA32A}"/>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95" name="PlaceHolder 1">
            <a:extLst>
              <a:ext uri="{FF2B5EF4-FFF2-40B4-BE49-F238E27FC236}">
                <a16:creationId xmlns:a16="http://schemas.microsoft.com/office/drawing/2014/main" id="{FA8263AF-A520-4E19-81B3-4BABC6F2F0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96" name="PlaceHolder 2">
            <a:extLst>
              <a:ext uri="{FF2B5EF4-FFF2-40B4-BE49-F238E27FC236}">
                <a16:creationId xmlns:a16="http://schemas.microsoft.com/office/drawing/2014/main" id="{299E8D52-20B6-470D-AD19-07EDA08AFF0A}"/>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7" name="PlaceHolder 3">
            <a:extLst>
              <a:ext uri="{FF2B5EF4-FFF2-40B4-BE49-F238E27FC236}">
                <a16:creationId xmlns:a16="http://schemas.microsoft.com/office/drawing/2014/main" id="{491D01F8-DDCB-4F2F-AEE8-D04E878BA85B}"/>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8" name="PlaceHolder 4">
            <a:extLst>
              <a:ext uri="{FF2B5EF4-FFF2-40B4-BE49-F238E27FC236}">
                <a16:creationId xmlns:a16="http://schemas.microsoft.com/office/drawing/2014/main" id="{DD185B24-0E3E-4F99-8C94-F038A7211992}"/>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99" name="PlaceHolder 1">
            <a:extLst>
              <a:ext uri="{FF2B5EF4-FFF2-40B4-BE49-F238E27FC236}">
                <a16:creationId xmlns:a16="http://schemas.microsoft.com/office/drawing/2014/main" id="{ACEA8A00-511B-44E4-81B5-522CCEF1B22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00" name="PlaceHolder 2">
            <a:extLst>
              <a:ext uri="{FF2B5EF4-FFF2-40B4-BE49-F238E27FC236}">
                <a16:creationId xmlns:a16="http://schemas.microsoft.com/office/drawing/2014/main" id="{40D18A39-F672-44E0-B6CC-4D94DD3D8449}"/>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1" name="PlaceHolder 3">
            <a:extLst>
              <a:ext uri="{FF2B5EF4-FFF2-40B4-BE49-F238E27FC236}">
                <a16:creationId xmlns:a16="http://schemas.microsoft.com/office/drawing/2014/main" id="{81B0B2EB-45A0-41CA-8B34-2868A7CE5B7E}"/>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102" name="PlaceHolder 1">
            <a:extLst>
              <a:ext uri="{FF2B5EF4-FFF2-40B4-BE49-F238E27FC236}">
                <a16:creationId xmlns:a16="http://schemas.microsoft.com/office/drawing/2014/main" id="{A5B28CAC-F0BF-452B-AD91-43EE17D2B28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03" name="PlaceHolder 2">
            <a:extLst>
              <a:ext uri="{FF2B5EF4-FFF2-40B4-BE49-F238E27FC236}">
                <a16:creationId xmlns:a16="http://schemas.microsoft.com/office/drawing/2014/main" id="{9CC4CFDA-1C96-4382-A88C-86F9F488B9D0}"/>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4" name="PlaceHolder 3">
            <a:extLst>
              <a:ext uri="{FF2B5EF4-FFF2-40B4-BE49-F238E27FC236}">
                <a16:creationId xmlns:a16="http://schemas.microsoft.com/office/drawing/2014/main" id="{C21319D9-6837-40EF-B39F-7040F579DBB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5" name="PlaceHolder 4">
            <a:extLst>
              <a:ext uri="{FF2B5EF4-FFF2-40B4-BE49-F238E27FC236}">
                <a16:creationId xmlns:a16="http://schemas.microsoft.com/office/drawing/2014/main" id="{A8727D4A-49D4-412F-A624-73DF0FE32201}"/>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6" name="PlaceHolder 5">
            <a:extLst>
              <a:ext uri="{FF2B5EF4-FFF2-40B4-BE49-F238E27FC236}">
                <a16:creationId xmlns:a16="http://schemas.microsoft.com/office/drawing/2014/main" id="{7451DCCF-9D06-4E68-895F-2914D79EFB7D}"/>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a:extLst>
              <a:ext uri="{FF2B5EF4-FFF2-40B4-BE49-F238E27FC236}">
                <a16:creationId xmlns:a16="http://schemas.microsoft.com/office/drawing/2014/main" id="{D21293F2-927D-47B7-A2CF-B2276B7B78F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08" name="PlaceHolder 2">
            <a:extLst>
              <a:ext uri="{FF2B5EF4-FFF2-40B4-BE49-F238E27FC236}">
                <a16:creationId xmlns:a16="http://schemas.microsoft.com/office/drawing/2014/main" id="{6FF53182-D700-4CE1-9258-0E20BCB81957}"/>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9" name="PlaceHolder 3">
            <a:extLst>
              <a:ext uri="{FF2B5EF4-FFF2-40B4-BE49-F238E27FC236}">
                <a16:creationId xmlns:a16="http://schemas.microsoft.com/office/drawing/2014/main" id="{C11EE271-93AE-48FE-83CF-27C48181769C}"/>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0" name="PlaceHolder 4">
            <a:extLst>
              <a:ext uri="{FF2B5EF4-FFF2-40B4-BE49-F238E27FC236}">
                <a16:creationId xmlns:a16="http://schemas.microsoft.com/office/drawing/2014/main" id="{2D1798BD-23DC-4F92-B132-AAB701BD9B36}"/>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1" name="PlaceHolder 5">
            <a:extLst>
              <a:ext uri="{FF2B5EF4-FFF2-40B4-BE49-F238E27FC236}">
                <a16:creationId xmlns:a16="http://schemas.microsoft.com/office/drawing/2014/main" id="{8D0797DA-010E-4438-ABA3-602940AC4914}"/>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2" name="PlaceHolder 6">
            <a:extLst>
              <a:ext uri="{FF2B5EF4-FFF2-40B4-BE49-F238E27FC236}">
                <a16:creationId xmlns:a16="http://schemas.microsoft.com/office/drawing/2014/main" id="{D5B7A535-9A37-4D6C-A073-6E26651B19CB}"/>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3" name="PlaceHolder 7">
            <a:extLst>
              <a:ext uri="{FF2B5EF4-FFF2-40B4-BE49-F238E27FC236}">
                <a16:creationId xmlns:a16="http://schemas.microsoft.com/office/drawing/2014/main" id="{034F792B-68C4-42E9-97FD-6147489E40F5}"/>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17" name="PlaceHolder 1">
            <a:extLst>
              <a:ext uri="{FF2B5EF4-FFF2-40B4-BE49-F238E27FC236}">
                <a16:creationId xmlns:a16="http://schemas.microsoft.com/office/drawing/2014/main" id="{A4C2F67D-2147-4712-9C93-377808522BB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18" name="PlaceHolder 2">
            <a:extLst>
              <a:ext uri="{FF2B5EF4-FFF2-40B4-BE49-F238E27FC236}">
                <a16:creationId xmlns:a16="http://schemas.microsoft.com/office/drawing/2014/main" id="{AEBB9ACF-74BA-45F3-98EC-6227EFFB4180}"/>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9" name="PlaceHolder 1">
            <a:extLst>
              <a:ext uri="{FF2B5EF4-FFF2-40B4-BE49-F238E27FC236}">
                <a16:creationId xmlns:a16="http://schemas.microsoft.com/office/drawing/2014/main" id="{987A50F5-A7C3-47EA-93A3-79F592C1A53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0" name="PlaceHolder 2">
            <a:extLst>
              <a:ext uri="{FF2B5EF4-FFF2-40B4-BE49-F238E27FC236}">
                <a16:creationId xmlns:a16="http://schemas.microsoft.com/office/drawing/2014/main" id="{01ED7D0A-F221-46EF-818B-95A8BEF2E333}"/>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1" name="PlaceHolder 1">
            <a:extLst>
              <a:ext uri="{FF2B5EF4-FFF2-40B4-BE49-F238E27FC236}">
                <a16:creationId xmlns:a16="http://schemas.microsoft.com/office/drawing/2014/main" id="{D09452CC-61D5-4543-B1BB-2094A9FEBF2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2" name="PlaceHolder 2">
            <a:extLst>
              <a:ext uri="{FF2B5EF4-FFF2-40B4-BE49-F238E27FC236}">
                <a16:creationId xmlns:a16="http://schemas.microsoft.com/office/drawing/2014/main" id="{B3BAE729-E61C-435F-B413-62D0E75B0CD4}"/>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23" name="PlaceHolder 3">
            <a:extLst>
              <a:ext uri="{FF2B5EF4-FFF2-40B4-BE49-F238E27FC236}">
                <a16:creationId xmlns:a16="http://schemas.microsoft.com/office/drawing/2014/main" id="{78142662-AA0A-4476-B4B2-B25DB9C3E1AB}"/>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4" name="PlaceHolder 1">
            <a:extLst>
              <a:ext uri="{FF2B5EF4-FFF2-40B4-BE49-F238E27FC236}">
                <a16:creationId xmlns:a16="http://schemas.microsoft.com/office/drawing/2014/main" id="{49714251-2A26-4A6C-90DF-8A591C55E8D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125" name="PlaceHolder 1">
            <a:extLst>
              <a:ext uri="{FF2B5EF4-FFF2-40B4-BE49-F238E27FC236}">
                <a16:creationId xmlns:a16="http://schemas.microsoft.com/office/drawing/2014/main" id="{96D853D4-B600-4312-9335-99022C9A12E4}"/>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126" name="PlaceHolder 1">
            <a:extLst>
              <a:ext uri="{FF2B5EF4-FFF2-40B4-BE49-F238E27FC236}">
                <a16:creationId xmlns:a16="http://schemas.microsoft.com/office/drawing/2014/main" id="{15A62FB6-D45E-4BC9-9762-9A5C429E66C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7" name="PlaceHolder 2">
            <a:extLst>
              <a:ext uri="{FF2B5EF4-FFF2-40B4-BE49-F238E27FC236}">
                <a16:creationId xmlns:a16="http://schemas.microsoft.com/office/drawing/2014/main" id="{2969A164-2576-4A10-B85C-A70D1FCA9B35}"/>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28" name="PlaceHolder 3">
            <a:extLst>
              <a:ext uri="{FF2B5EF4-FFF2-40B4-BE49-F238E27FC236}">
                <a16:creationId xmlns:a16="http://schemas.microsoft.com/office/drawing/2014/main" id="{DB4147B6-B660-45F2-BEED-77CC6F1991E2}"/>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29" name="PlaceHolder 4">
            <a:extLst>
              <a:ext uri="{FF2B5EF4-FFF2-40B4-BE49-F238E27FC236}">
                <a16:creationId xmlns:a16="http://schemas.microsoft.com/office/drawing/2014/main" id="{C5EAA700-BA0E-43AD-9853-41B9294D602D}"/>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130" name="PlaceHolder 1">
            <a:extLst>
              <a:ext uri="{FF2B5EF4-FFF2-40B4-BE49-F238E27FC236}">
                <a16:creationId xmlns:a16="http://schemas.microsoft.com/office/drawing/2014/main" id="{A01D9B28-3FC4-4FF3-A69A-D3784927660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31" name="PlaceHolder 2">
            <a:extLst>
              <a:ext uri="{FF2B5EF4-FFF2-40B4-BE49-F238E27FC236}">
                <a16:creationId xmlns:a16="http://schemas.microsoft.com/office/drawing/2014/main" id="{EEBBE78C-C3B0-45F7-8C64-98F7062B5254}"/>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2" name="PlaceHolder 3">
            <a:extLst>
              <a:ext uri="{FF2B5EF4-FFF2-40B4-BE49-F238E27FC236}">
                <a16:creationId xmlns:a16="http://schemas.microsoft.com/office/drawing/2014/main" id="{5F363A97-E4B6-4A1E-A899-31042E07AE13}"/>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3" name="PlaceHolder 4">
            <a:extLst>
              <a:ext uri="{FF2B5EF4-FFF2-40B4-BE49-F238E27FC236}">
                <a16:creationId xmlns:a16="http://schemas.microsoft.com/office/drawing/2014/main" id="{6177CF6C-FF4C-4B5C-B70A-F3F010D6EF75}"/>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134" name="PlaceHolder 1">
            <a:extLst>
              <a:ext uri="{FF2B5EF4-FFF2-40B4-BE49-F238E27FC236}">
                <a16:creationId xmlns:a16="http://schemas.microsoft.com/office/drawing/2014/main" id="{7D4C30AC-3B13-426E-A33A-96F99AC3B8C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35" name="PlaceHolder 2">
            <a:extLst>
              <a:ext uri="{FF2B5EF4-FFF2-40B4-BE49-F238E27FC236}">
                <a16:creationId xmlns:a16="http://schemas.microsoft.com/office/drawing/2014/main" id="{632B7235-6728-4A95-AF9A-3EC021BD09E2}"/>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6" name="PlaceHolder 3">
            <a:extLst>
              <a:ext uri="{FF2B5EF4-FFF2-40B4-BE49-F238E27FC236}">
                <a16:creationId xmlns:a16="http://schemas.microsoft.com/office/drawing/2014/main" id="{ECE1F142-FBF0-44FC-A63A-13268984963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7" name="PlaceHolder 4">
            <a:extLst>
              <a:ext uri="{FF2B5EF4-FFF2-40B4-BE49-F238E27FC236}">
                <a16:creationId xmlns:a16="http://schemas.microsoft.com/office/drawing/2014/main" id="{282DF918-CA60-408B-B6CE-D31DC83F5820}"/>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138" name="PlaceHolder 1">
            <a:extLst>
              <a:ext uri="{FF2B5EF4-FFF2-40B4-BE49-F238E27FC236}">
                <a16:creationId xmlns:a16="http://schemas.microsoft.com/office/drawing/2014/main" id="{540817C9-5C20-49E7-BC97-4A6F2BD4CC35}"/>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39" name="PlaceHolder 2">
            <a:extLst>
              <a:ext uri="{FF2B5EF4-FFF2-40B4-BE49-F238E27FC236}">
                <a16:creationId xmlns:a16="http://schemas.microsoft.com/office/drawing/2014/main" id="{C9E7E96E-903C-4232-BAFB-33AD1A58EE0A}"/>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0" name="PlaceHolder 3">
            <a:extLst>
              <a:ext uri="{FF2B5EF4-FFF2-40B4-BE49-F238E27FC236}">
                <a16:creationId xmlns:a16="http://schemas.microsoft.com/office/drawing/2014/main" id="{2A3BEE4B-B300-4851-A40B-CBED1BE69F97}"/>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141" name="PlaceHolder 1">
            <a:extLst>
              <a:ext uri="{FF2B5EF4-FFF2-40B4-BE49-F238E27FC236}">
                <a16:creationId xmlns:a16="http://schemas.microsoft.com/office/drawing/2014/main" id="{6E9929D7-DF56-463E-838A-02C4DED0AE61}"/>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42" name="PlaceHolder 2">
            <a:extLst>
              <a:ext uri="{FF2B5EF4-FFF2-40B4-BE49-F238E27FC236}">
                <a16:creationId xmlns:a16="http://schemas.microsoft.com/office/drawing/2014/main" id="{B5B7EE8E-2C16-415C-826F-265E3FC4ECE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3" name="PlaceHolder 3">
            <a:extLst>
              <a:ext uri="{FF2B5EF4-FFF2-40B4-BE49-F238E27FC236}">
                <a16:creationId xmlns:a16="http://schemas.microsoft.com/office/drawing/2014/main" id="{411F5477-0EB2-4D26-8888-69D16B98D333}"/>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4" name="PlaceHolder 4">
            <a:extLst>
              <a:ext uri="{FF2B5EF4-FFF2-40B4-BE49-F238E27FC236}">
                <a16:creationId xmlns:a16="http://schemas.microsoft.com/office/drawing/2014/main" id="{0411E72B-0142-418C-BB8F-E0EF9C18950A}"/>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5" name="PlaceHolder 5">
            <a:extLst>
              <a:ext uri="{FF2B5EF4-FFF2-40B4-BE49-F238E27FC236}">
                <a16:creationId xmlns:a16="http://schemas.microsoft.com/office/drawing/2014/main" id="{F4274417-4BFA-44F5-B477-3968944911DD}"/>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 name="PlaceHolder 1">
            <a:extLst>
              <a:ext uri="{FF2B5EF4-FFF2-40B4-BE49-F238E27FC236}">
                <a16:creationId xmlns:a16="http://schemas.microsoft.com/office/drawing/2014/main" id="{0B9FD4B2-F076-4021-B107-8080A8C8E7E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47" name="PlaceHolder 2">
            <a:extLst>
              <a:ext uri="{FF2B5EF4-FFF2-40B4-BE49-F238E27FC236}">
                <a16:creationId xmlns:a16="http://schemas.microsoft.com/office/drawing/2014/main" id="{BF1287B4-1EE5-4C96-895D-3C6425E85D2D}"/>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8" name="PlaceHolder 3">
            <a:extLst>
              <a:ext uri="{FF2B5EF4-FFF2-40B4-BE49-F238E27FC236}">
                <a16:creationId xmlns:a16="http://schemas.microsoft.com/office/drawing/2014/main" id="{9D1DE7FC-8589-4053-B107-298F3C473871}"/>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9" name="PlaceHolder 4">
            <a:extLst>
              <a:ext uri="{FF2B5EF4-FFF2-40B4-BE49-F238E27FC236}">
                <a16:creationId xmlns:a16="http://schemas.microsoft.com/office/drawing/2014/main" id="{C426F9B6-2259-4125-BBA4-576A5C000BC2}"/>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50" name="PlaceHolder 5">
            <a:extLst>
              <a:ext uri="{FF2B5EF4-FFF2-40B4-BE49-F238E27FC236}">
                <a16:creationId xmlns:a16="http://schemas.microsoft.com/office/drawing/2014/main" id="{0EFE588A-2F70-4982-A625-92881B293E99}"/>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51" name="PlaceHolder 6">
            <a:extLst>
              <a:ext uri="{FF2B5EF4-FFF2-40B4-BE49-F238E27FC236}">
                <a16:creationId xmlns:a16="http://schemas.microsoft.com/office/drawing/2014/main" id="{539763B9-6720-4224-B005-E9362D695ED2}"/>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52" name="PlaceHolder 7">
            <a:extLst>
              <a:ext uri="{FF2B5EF4-FFF2-40B4-BE49-F238E27FC236}">
                <a16:creationId xmlns:a16="http://schemas.microsoft.com/office/drawing/2014/main" id="{BD78B964-D535-40B7-86B2-FFE4CDA0196C}"/>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55" name="PlaceHolder 1">
            <a:extLst>
              <a:ext uri="{FF2B5EF4-FFF2-40B4-BE49-F238E27FC236}">
                <a16:creationId xmlns:a16="http://schemas.microsoft.com/office/drawing/2014/main" id="{F7ABAA29-C61F-4DD0-BB35-2F04C5F5DDD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56" name="PlaceHolder 2">
            <a:extLst>
              <a:ext uri="{FF2B5EF4-FFF2-40B4-BE49-F238E27FC236}">
                <a16:creationId xmlns:a16="http://schemas.microsoft.com/office/drawing/2014/main" id="{068D6E4C-6559-4CA0-B758-10AA58E686BD}"/>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7" name="PlaceHolder 1">
            <a:extLst>
              <a:ext uri="{FF2B5EF4-FFF2-40B4-BE49-F238E27FC236}">
                <a16:creationId xmlns:a16="http://schemas.microsoft.com/office/drawing/2014/main" id="{890FAB61-4FCB-4D86-A479-125B78DF2D1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58" name="PlaceHolder 2">
            <a:extLst>
              <a:ext uri="{FF2B5EF4-FFF2-40B4-BE49-F238E27FC236}">
                <a16:creationId xmlns:a16="http://schemas.microsoft.com/office/drawing/2014/main" id="{9DA84652-0C36-4F01-98C8-FB39F66FFFEE}"/>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9" name="PlaceHolder 1">
            <a:extLst>
              <a:ext uri="{FF2B5EF4-FFF2-40B4-BE49-F238E27FC236}">
                <a16:creationId xmlns:a16="http://schemas.microsoft.com/office/drawing/2014/main" id="{83B1FD53-6E79-4725-AF2A-C7EFED87FC6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0" name="PlaceHolder 2">
            <a:extLst>
              <a:ext uri="{FF2B5EF4-FFF2-40B4-BE49-F238E27FC236}">
                <a16:creationId xmlns:a16="http://schemas.microsoft.com/office/drawing/2014/main" id="{8405CB57-6A8D-4C32-8031-1518540282BE}"/>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61" name="PlaceHolder 3">
            <a:extLst>
              <a:ext uri="{FF2B5EF4-FFF2-40B4-BE49-F238E27FC236}">
                <a16:creationId xmlns:a16="http://schemas.microsoft.com/office/drawing/2014/main" id="{6ED0BF8E-7743-4EC3-ACBD-46DE89C9713D}"/>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2" name="PlaceHolder 1">
            <a:extLst>
              <a:ext uri="{FF2B5EF4-FFF2-40B4-BE49-F238E27FC236}">
                <a16:creationId xmlns:a16="http://schemas.microsoft.com/office/drawing/2014/main" id="{9BEA926A-F1FC-4771-A790-353C0689E17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163" name="PlaceHolder 1">
            <a:extLst>
              <a:ext uri="{FF2B5EF4-FFF2-40B4-BE49-F238E27FC236}">
                <a16:creationId xmlns:a16="http://schemas.microsoft.com/office/drawing/2014/main" id="{33EC7CB8-DE6A-4C0A-92B8-609246B9A227}"/>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164" name="PlaceHolder 1">
            <a:extLst>
              <a:ext uri="{FF2B5EF4-FFF2-40B4-BE49-F238E27FC236}">
                <a16:creationId xmlns:a16="http://schemas.microsoft.com/office/drawing/2014/main" id="{18565A48-0520-4CB7-8236-E4588587232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5" name="PlaceHolder 2">
            <a:extLst>
              <a:ext uri="{FF2B5EF4-FFF2-40B4-BE49-F238E27FC236}">
                <a16:creationId xmlns:a16="http://schemas.microsoft.com/office/drawing/2014/main" id="{5B17A7AF-5224-46E4-A0EF-B5EFE245B2E8}"/>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66" name="PlaceHolder 3">
            <a:extLst>
              <a:ext uri="{FF2B5EF4-FFF2-40B4-BE49-F238E27FC236}">
                <a16:creationId xmlns:a16="http://schemas.microsoft.com/office/drawing/2014/main" id="{C428037B-6C10-4297-93F2-65FA107488A5}"/>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67" name="PlaceHolder 4">
            <a:extLst>
              <a:ext uri="{FF2B5EF4-FFF2-40B4-BE49-F238E27FC236}">
                <a16:creationId xmlns:a16="http://schemas.microsoft.com/office/drawing/2014/main" id="{2207A104-A7D6-404A-BEB5-E173241E8BCB}"/>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168" name="PlaceHolder 1">
            <a:extLst>
              <a:ext uri="{FF2B5EF4-FFF2-40B4-BE49-F238E27FC236}">
                <a16:creationId xmlns:a16="http://schemas.microsoft.com/office/drawing/2014/main" id="{B1CB51F1-2B45-4BB2-A1FA-021EA23E0D5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9" name="PlaceHolder 2">
            <a:extLst>
              <a:ext uri="{FF2B5EF4-FFF2-40B4-BE49-F238E27FC236}">
                <a16:creationId xmlns:a16="http://schemas.microsoft.com/office/drawing/2014/main" id="{CEA966DB-9615-4CA4-BE4A-A6915513BB56}"/>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0" name="PlaceHolder 3">
            <a:extLst>
              <a:ext uri="{FF2B5EF4-FFF2-40B4-BE49-F238E27FC236}">
                <a16:creationId xmlns:a16="http://schemas.microsoft.com/office/drawing/2014/main" id="{3B775B40-D4A0-4542-8919-3DF6AA1EE161}"/>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1" name="PlaceHolder 4">
            <a:extLst>
              <a:ext uri="{FF2B5EF4-FFF2-40B4-BE49-F238E27FC236}">
                <a16:creationId xmlns:a16="http://schemas.microsoft.com/office/drawing/2014/main" id="{72F4204A-3169-4B11-8BCE-BED396A3A8CB}"/>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172" name="PlaceHolder 1">
            <a:extLst>
              <a:ext uri="{FF2B5EF4-FFF2-40B4-BE49-F238E27FC236}">
                <a16:creationId xmlns:a16="http://schemas.microsoft.com/office/drawing/2014/main" id="{2B21A6C5-D02E-4A90-B643-D84E76691DF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73" name="PlaceHolder 2">
            <a:extLst>
              <a:ext uri="{FF2B5EF4-FFF2-40B4-BE49-F238E27FC236}">
                <a16:creationId xmlns:a16="http://schemas.microsoft.com/office/drawing/2014/main" id="{6F88EC52-F3F3-45ED-83BB-902E84177231}"/>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4" name="PlaceHolder 3">
            <a:extLst>
              <a:ext uri="{FF2B5EF4-FFF2-40B4-BE49-F238E27FC236}">
                <a16:creationId xmlns:a16="http://schemas.microsoft.com/office/drawing/2014/main" id="{CC26623D-CF4E-4CA3-80BE-9D41BFCA10E4}"/>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5" name="PlaceHolder 4">
            <a:extLst>
              <a:ext uri="{FF2B5EF4-FFF2-40B4-BE49-F238E27FC236}">
                <a16:creationId xmlns:a16="http://schemas.microsoft.com/office/drawing/2014/main" id="{9E81041E-84F4-4729-8DAB-3C3CE1D8F784}"/>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176" name="PlaceHolder 1">
            <a:extLst>
              <a:ext uri="{FF2B5EF4-FFF2-40B4-BE49-F238E27FC236}">
                <a16:creationId xmlns:a16="http://schemas.microsoft.com/office/drawing/2014/main" id="{157B0039-EDDB-4BF8-B806-C99EE7289645}"/>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77" name="PlaceHolder 2">
            <a:extLst>
              <a:ext uri="{FF2B5EF4-FFF2-40B4-BE49-F238E27FC236}">
                <a16:creationId xmlns:a16="http://schemas.microsoft.com/office/drawing/2014/main" id="{54F371C4-2B95-4DC3-8B45-D90C9376B246}"/>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8" name="PlaceHolder 3">
            <a:extLst>
              <a:ext uri="{FF2B5EF4-FFF2-40B4-BE49-F238E27FC236}">
                <a16:creationId xmlns:a16="http://schemas.microsoft.com/office/drawing/2014/main" id="{60531023-92EE-42F7-BD44-6CE2467BC616}"/>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179" name="PlaceHolder 1">
            <a:extLst>
              <a:ext uri="{FF2B5EF4-FFF2-40B4-BE49-F238E27FC236}">
                <a16:creationId xmlns:a16="http://schemas.microsoft.com/office/drawing/2014/main" id="{4C840580-38E6-447A-8E5F-F37FEBC0F67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80" name="PlaceHolder 2">
            <a:extLst>
              <a:ext uri="{FF2B5EF4-FFF2-40B4-BE49-F238E27FC236}">
                <a16:creationId xmlns:a16="http://schemas.microsoft.com/office/drawing/2014/main" id="{BBDF9BE8-C02A-45D6-8025-7EC133B8DAC9}"/>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1" name="PlaceHolder 3">
            <a:extLst>
              <a:ext uri="{FF2B5EF4-FFF2-40B4-BE49-F238E27FC236}">
                <a16:creationId xmlns:a16="http://schemas.microsoft.com/office/drawing/2014/main" id="{DDCBD312-1031-45F3-A9C9-A0E4C36D3A9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2" name="PlaceHolder 4">
            <a:extLst>
              <a:ext uri="{FF2B5EF4-FFF2-40B4-BE49-F238E27FC236}">
                <a16:creationId xmlns:a16="http://schemas.microsoft.com/office/drawing/2014/main" id="{F43C40AD-CC33-4302-B870-C491F9CB7A68}"/>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3" name="PlaceHolder 5">
            <a:extLst>
              <a:ext uri="{FF2B5EF4-FFF2-40B4-BE49-F238E27FC236}">
                <a16:creationId xmlns:a16="http://schemas.microsoft.com/office/drawing/2014/main" id="{52FB45AA-98D6-48FA-B056-B062D704DB45}"/>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4" name="PlaceHolder 1">
            <a:extLst>
              <a:ext uri="{FF2B5EF4-FFF2-40B4-BE49-F238E27FC236}">
                <a16:creationId xmlns:a16="http://schemas.microsoft.com/office/drawing/2014/main" id="{FC4F745D-ED6B-452A-AB1C-FA727B370FA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85" name="PlaceHolder 2">
            <a:extLst>
              <a:ext uri="{FF2B5EF4-FFF2-40B4-BE49-F238E27FC236}">
                <a16:creationId xmlns:a16="http://schemas.microsoft.com/office/drawing/2014/main" id="{5E7F0B82-401E-4CF1-BEEA-34F42CA5DC85}"/>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6" name="PlaceHolder 3">
            <a:extLst>
              <a:ext uri="{FF2B5EF4-FFF2-40B4-BE49-F238E27FC236}">
                <a16:creationId xmlns:a16="http://schemas.microsoft.com/office/drawing/2014/main" id="{F6B829DD-DFD6-4794-AE98-DE9358FACB0D}"/>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7" name="PlaceHolder 4">
            <a:extLst>
              <a:ext uri="{FF2B5EF4-FFF2-40B4-BE49-F238E27FC236}">
                <a16:creationId xmlns:a16="http://schemas.microsoft.com/office/drawing/2014/main" id="{1FF733BB-2AA2-43E5-B3CB-3FC96808328A}"/>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8" name="PlaceHolder 5">
            <a:extLst>
              <a:ext uri="{FF2B5EF4-FFF2-40B4-BE49-F238E27FC236}">
                <a16:creationId xmlns:a16="http://schemas.microsoft.com/office/drawing/2014/main" id="{D33667D2-4F6D-4FA2-AA53-9339A91109A2}"/>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9" name="PlaceHolder 6">
            <a:extLst>
              <a:ext uri="{FF2B5EF4-FFF2-40B4-BE49-F238E27FC236}">
                <a16:creationId xmlns:a16="http://schemas.microsoft.com/office/drawing/2014/main" id="{6FFDECCE-B2BC-48D6-B39A-F16701C4B138}"/>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90" name="PlaceHolder 7">
            <a:extLst>
              <a:ext uri="{FF2B5EF4-FFF2-40B4-BE49-F238E27FC236}">
                <a16:creationId xmlns:a16="http://schemas.microsoft.com/office/drawing/2014/main" id="{F919C1DB-20E4-4486-9726-34E3ED20E224}"/>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93" name="PlaceHolder 1">
            <a:extLst>
              <a:ext uri="{FF2B5EF4-FFF2-40B4-BE49-F238E27FC236}">
                <a16:creationId xmlns:a16="http://schemas.microsoft.com/office/drawing/2014/main" id="{8B240E33-D438-4F51-9F56-47314F86B2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94" name="PlaceHolder 2">
            <a:extLst>
              <a:ext uri="{FF2B5EF4-FFF2-40B4-BE49-F238E27FC236}">
                <a16:creationId xmlns:a16="http://schemas.microsoft.com/office/drawing/2014/main" id="{05AA68DE-F10E-467D-9219-8B39EED5468F}"/>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5" name="PlaceHolder 1">
            <a:extLst>
              <a:ext uri="{FF2B5EF4-FFF2-40B4-BE49-F238E27FC236}">
                <a16:creationId xmlns:a16="http://schemas.microsoft.com/office/drawing/2014/main" id="{3D324185-B736-4D59-B3B9-5EC20552800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96" name="PlaceHolder 2">
            <a:extLst>
              <a:ext uri="{FF2B5EF4-FFF2-40B4-BE49-F238E27FC236}">
                <a16:creationId xmlns:a16="http://schemas.microsoft.com/office/drawing/2014/main" id="{CB1E618A-B774-4825-A66C-C5E886CA8879}"/>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7" name="PlaceHolder 1">
            <a:extLst>
              <a:ext uri="{FF2B5EF4-FFF2-40B4-BE49-F238E27FC236}">
                <a16:creationId xmlns:a16="http://schemas.microsoft.com/office/drawing/2014/main" id="{CC2BE768-90EF-4609-884B-D795388AEAA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98" name="PlaceHolder 2">
            <a:extLst>
              <a:ext uri="{FF2B5EF4-FFF2-40B4-BE49-F238E27FC236}">
                <a16:creationId xmlns:a16="http://schemas.microsoft.com/office/drawing/2014/main" id="{FDD15309-C705-48E7-AE0D-4B16BFED07B8}"/>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99" name="PlaceHolder 3">
            <a:extLst>
              <a:ext uri="{FF2B5EF4-FFF2-40B4-BE49-F238E27FC236}">
                <a16:creationId xmlns:a16="http://schemas.microsoft.com/office/drawing/2014/main" id="{549BD06A-2938-47B9-ABE5-A66FBDCA41AB}"/>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0" name="PlaceHolder 1">
            <a:extLst>
              <a:ext uri="{FF2B5EF4-FFF2-40B4-BE49-F238E27FC236}">
                <a16:creationId xmlns:a16="http://schemas.microsoft.com/office/drawing/2014/main" id="{64F72384-8B6F-4818-826D-D899BD5C634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201" name="PlaceHolder 1">
            <a:extLst>
              <a:ext uri="{FF2B5EF4-FFF2-40B4-BE49-F238E27FC236}">
                <a16:creationId xmlns:a16="http://schemas.microsoft.com/office/drawing/2014/main" id="{4AE94F4B-1984-4E47-847F-4780FC2F66F8}"/>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202" name="PlaceHolder 1">
            <a:extLst>
              <a:ext uri="{FF2B5EF4-FFF2-40B4-BE49-F238E27FC236}">
                <a16:creationId xmlns:a16="http://schemas.microsoft.com/office/drawing/2014/main" id="{3D98C9AB-C351-4442-B8A6-605D62C3CF4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03" name="PlaceHolder 2">
            <a:extLst>
              <a:ext uri="{FF2B5EF4-FFF2-40B4-BE49-F238E27FC236}">
                <a16:creationId xmlns:a16="http://schemas.microsoft.com/office/drawing/2014/main" id="{69B18B26-0E0D-45F2-8C8E-3FC4E1433D69}"/>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4" name="PlaceHolder 3">
            <a:extLst>
              <a:ext uri="{FF2B5EF4-FFF2-40B4-BE49-F238E27FC236}">
                <a16:creationId xmlns:a16="http://schemas.microsoft.com/office/drawing/2014/main" id="{842FB0DB-E945-4B5A-A325-34A2466C8408}"/>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5" name="PlaceHolder 4">
            <a:extLst>
              <a:ext uri="{FF2B5EF4-FFF2-40B4-BE49-F238E27FC236}">
                <a16:creationId xmlns:a16="http://schemas.microsoft.com/office/drawing/2014/main" id="{44CDFE27-C2DD-43B1-B3B3-AFF5AB3E0DF3}"/>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206" name="PlaceHolder 1">
            <a:extLst>
              <a:ext uri="{FF2B5EF4-FFF2-40B4-BE49-F238E27FC236}">
                <a16:creationId xmlns:a16="http://schemas.microsoft.com/office/drawing/2014/main" id="{0C7BF402-6EA7-4539-B5E9-55A4DF7D9BD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07" name="PlaceHolder 2">
            <a:extLst>
              <a:ext uri="{FF2B5EF4-FFF2-40B4-BE49-F238E27FC236}">
                <a16:creationId xmlns:a16="http://schemas.microsoft.com/office/drawing/2014/main" id="{B2D8F460-616A-4115-9721-6D59218B218B}"/>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8" name="PlaceHolder 3">
            <a:extLst>
              <a:ext uri="{FF2B5EF4-FFF2-40B4-BE49-F238E27FC236}">
                <a16:creationId xmlns:a16="http://schemas.microsoft.com/office/drawing/2014/main" id="{99FFA2CE-F1CB-46C2-A048-BA6C502CAF5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9" name="PlaceHolder 4">
            <a:extLst>
              <a:ext uri="{FF2B5EF4-FFF2-40B4-BE49-F238E27FC236}">
                <a16:creationId xmlns:a16="http://schemas.microsoft.com/office/drawing/2014/main" id="{AB4126A6-0A8C-4DD2-AB2F-65DF65501AC1}"/>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210" name="PlaceHolder 1">
            <a:extLst>
              <a:ext uri="{FF2B5EF4-FFF2-40B4-BE49-F238E27FC236}">
                <a16:creationId xmlns:a16="http://schemas.microsoft.com/office/drawing/2014/main" id="{8AB3C08C-14FF-4514-BE32-A56D407254C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11" name="PlaceHolder 2">
            <a:extLst>
              <a:ext uri="{FF2B5EF4-FFF2-40B4-BE49-F238E27FC236}">
                <a16:creationId xmlns:a16="http://schemas.microsoft.com/office/drawing/2014/main" id="{215BBEAD-BC7D-44AF-ADE6-2AAEED074CE2}"/>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2" name="PlaceHolder 3">
            <a:extLst>
              <a:ext uri="{FF2B5EF4-FFF2-40B4-BE49-F238E27FC236}">
                <a16:creationId xmlns:a16="http://schemas.microsoft.com/office/drawing/2014/main" id="{074BAE6B-44C9-40D9-939A-51B2FE7F9B12}"/>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3" name="PlaceHolder 4">
            <a:extLst>
              <a:ext uri="{FF2B5EF4-FFF2-40B4-BE49-F238E27FC236}">
                <a16:creationId xmlns:a16="http://schemas.microsoft.com/office/drawing/2014/main" id="{796B5544-5020-4558-AAF6-818E60445761}"/>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14" name="PlaceHolder 1">
            <a:extLst>
              <a:ext uri="{FF2B5EF4-FFF2-40B4-BE49-F238E27FC236}">
                <a16:creationId xmlns:a16="http://schemas.microsoft.com/office/drawing/2014/main" id="{800F7C61-E7E7-4E6B-8EC9-F41FB02E467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15" name="PlaceHolder 2">
            <a:extLst>
              <a:ext uri="{FF2B5EF4-FFF2-40B4-BE49-F238E27FC236}">
                <a16:creationId xmlns:a16="http://schemas.microsoft.com/office/drawing/2014/main" id="{795DFAB7-7F70-4B95-9DA9-E93364F199D8}"/>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6" name="PlaceHolder 3">
            <a:extLst>
              <a:ext uri="{FF2B5EF4-FFF2-40B4-BE49-F238E27FC236}">
                <a16:creationId xmlns:a16="http://schemas.microsoft.com/office/drawing/2014/main" id="{F0FC79F8-F9E1-4A98-B5A1-6A8F81C9BDF1}"/>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17" name="PlaceHolder 1">
            <a:extLst>
              <a:ext uri="{FF2B5EF4-FFF2-40B4-BE49-F238E27FC236}">
                <a16:creationId xmlns:a16="http://schemas.microsoft.com/office/drawing/2014/main" id="{A03B3062-E4DA-4E4E-A5CE-6166863C6CE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18" name="PlaceHolder 2">
            <a:extLst>
              <a:ext uri="{FF2B5EF4-FFF2-40B4-BE49-F238E27FC236}">
                <a16:creationId xmlns:a16="http://schemas.microsoft.com/office/drawing/2014/main" id="{CF3C676A-2E05-4B26-A956-CBF71F002256}"/>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9" name="PlaceHolder 3">
            <a:extLst>
              <a:ext uri="{FF2B5EF4-FFF2-40B4-BE49-F238E27FC236}">
                <a16:creationId xmlns:a16="http://schemas.microsoft.com/office/drawing/2014/main" id="{0CE55701-3DC9-4602-830C-76FB86C1524A}"/>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0" name="PlaceHolder 4">
            <a:extLst>
              <a:ext uri="{FF2B5EF4-FFF2-40B4-BE49-F238E27FC236}">
                <a16:creationId xmlns:a16="http://schemas.microsoft.com/office/drawing/2014/main" id="{CFC7780B-68E1-4A66-B2FB-E81898A516B6}"/>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1" name="PlaceHolder 5">
            <a:extLst>
              <a:ext uri="{FF2B5EF4-FFF2-40B4-BE49-F238E27FC236}">
                <a16:creationId xmlns:a16="http://schemas.microsoft.com/office/drawing/2014/main" id="{55B19E40-4682-46F6-BE46-6F59F6EBA293}"/>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22" name="PlaceHolder 1">
            <a:extLst>
              <a:ext uri="{FF2B5EF4-FFF2-40B4-BE49-F238E27FC236}">
                <a16:creationId xmlns:a16="http://schemas.microsoft.com/office/drawing/2014/main" id="{01E0C016-64F9-4C77-AEBC-B8BD806BAD0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23" name="PlaceHolder 2">
            <a:extLst>
              <a:ext uri="{FF2B5EF4-FFF2-40B4-BE49-F238E27FC236}">
                <a16:creationId xmlns:a16="http://schemas.microsoft.com/office/drawing/2014/main" id="{90BDCA87-E0F7-4BB6-8CB1-D60CFBB9DB38}"/>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4" name="PlaceHolder 3">
            <a:extLst>
              <a:ext uri="{FF2B5EF4-FFF2-40B4-BE49-F238E27FC236}">
                <a16:creationId xmlns:a16="http://schemas.microsoft.com/office/drawing/2014/main" id="{AEC93EA5-7A02-4608-9216-92CE6BC33D94}"/>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5" name="PlaceHolder 4">
            <a:extLst>
              <a:ext uri="{FF2B5EF4-FFF2-40B4-BE49-F238E27FC236}">
                <a16:creationId xmlns:a16="http://schemas.microsoft.com/office/drawing/2014/main" id="{745FDBCC-38C7-4A4C-887A-A9BDFDABE316}"/>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6" name="PlaceHolder 5">
            <a:extLst>
              <a:ext uri="{FF2B5EF4-FFF2-40B4-BE49-F238E27FC236}">
                <a16:creationId xmlns:a16="http://schemas.microsoft.com/office/drawing/2014/main" id="{8CE1076D-B65F-4EFB-B32D-641EB5A773D1}"/>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7" name="PlaceHolder 6">
            <a:extLst>
              <a:ext uri="{FF2B5EF4-FFF2-40B4-BE49-F238E27FC236}">
                <a16:creationId xmlns:a16="http://schemas.microsoft.com/office/drawing/2014/main" id="{E3991A36-A441-4378-893F-818912141235}"/>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8" name="PlaceHolder 7">
            <a:extLst>
              <a:ext uri="{FF2B5EF4-FFF2-40B4-BE49-F238E27FC236}">
                <a16:creationId xmlns:a16="http://schemas.microsoft.com/office/drawing/2014/main" id="{2CB79AD0-521B-4780-95E0-71B3CD2AB8FD}"/>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32" name="PlaceHolder 1">
            <a:extLst>
              <a:ext uri="{FF2B5EF4-FFF2-40B4-BE49-F238E27FC236}">
                <a16:creationId xmlns:a16="http://schemas.microsoft.com/office/drawing/2014/main" id="{B1A2F925-617C-485A-B8FD-97EB324F7DE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33" name="PlaceHolder 2">
            <a:extLst>
              <a:ext uri="{FF2B5EF4-FFF2-40B4-BE49-F238E27FC236}">
                <a16:creationId xmlns:a16="http://schemas.microsoft.com/office/drawing/2014/main" id="{D4E8553A-0C25-406E-8BDC-2E4C5043A132}"/>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4" name="PlaceHolder 1">
            <a:extLst>
              <a:ext uri="{FF2B5EF4-FFF2-40B4-BE49-F238E27FC236}">
                <a16:creationId xmlns:a16="http://schemas.microsoft.com/office/drawing/2014/main" id="{FBB44DF5-F345-40E6-B677-A73F411DA2C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35" name="PlaceHolder 2">
            <a:extLst>
              <a:ext uri="{FF2B5EF4-FFF2-40B4-BE49-F238E27FC236}">
                <a16:creationId xmlns:a16="http://schemas.microsoft.com/office/drawing/2014/main" id="{815B0133-EA6B-40AF-B924-329C4CDB13DF}"/>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6" name="PlaceHolder 1">
            <a:extLst>
              <a:ext uri="{FF2B5EF4-FFF2-40B4-BE49-F238E27FC236}">
                <a16:creationId xmlns:a16="http://schemas.microsoft.com/office/drawing/2014/main" id="{36FABD1D-4C74-4BDE-9C8E-86B8E7C078B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37" name="PlaceHolder 2">
            <a:extLst>
              <a:ext uri="{FF2B5EF4-FFF2-40B4-BE49-F238E27FC236}">
                <a16:creationId xmlns:a16="http://schemas.microsoft.com/office/drawing/2014/main" id="{7C915D9D-F678-404E-86B2-A31773BC3872}"/>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38" name="PlaceHolder 3">
            <a:extLst>
              <a:ext uri="{FF2B5EF4-FFF2-40B4-BE49-F238E27FC236}">
                <a16:creationId xmlns:a16="http://schemas.microsoft.com/office/drawing/2014/main" id="{C8BF6C4C-21E4-4888-8BCA-0D79E7232D9E}"/>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9" name="PlaceHolder 1">
            <a:extLst>
              <a:ext uri="{FF2B5EF4-FFF2-40B4-BE49-F238E27FC236}">
                <a16:creationId xmlns:a16="http://schemas.microsoft.com/office/drawing/2014/main" id="{3E1FEC9A-9785-4B7B-A249-E1357F4C104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240" name="PlaceHolder 1">
            <a:extLst>
              <a:ext uri="{FF2B5EF4-FFF2-40B4-BE49-F238E27FC236}">
                <a16:creationId xmlns:a16="http://schemas.microsoft.com/office/drawing/2014/main" id="{1A78E9C6-F500-40AF-9FDF-0632666E3B2D}"/>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241" name="PlaceHolder 1">
            <a:extLst>
              <a:ext uri="{FF2B5EF4-FFF2-40B4-BE49-F238E27FC236}">
                <a16:creationId xmlns:a16="http://schemas.microsoft.com/office/drawing/2014/main" id="{BD3C0892-C236-433B-B315-3CF8DE8F89F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42" name="PlaceHolder 2">
            <a:extLst>
              <a:ext uri="{FF2B5EF4-FFF2-40B4-BE49-F238E27FC236}">
                <a16:creationId xmlns:a16="http://schemas.microsoft.com/office/drawing/2014/main" id="{8EAF4F94-5EA6-4975-B2BD-512D8862AA9C}"/>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3" name="PlaceHolder 3">
            <a:extLst>
              <a:ext uri="{FF2B5EF4-FFF2-40B4-BE49-F238E27FC236}">
                <a16:creationId xmlns:a16="http://schemas.microsoft.com/office/drawing/2014/main" id="{CD4A3ECB-AD8E-4493-B03A-ABD84618C22B}"/>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4" name="PlaceHolder 4">
            <a:extLst>
              <a:ext uri="{FF2B5EF4-FFF2-40B4-BE49-F238E27FC236}">
                <a16:creationId xmlns:a16="http://schemas.microsoft.com/office/drawing/2014/main" id="{574F7D80-AF28-4793-A83C-3CB3E2DA5120}"/>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245" name="PlaceHolder 1">
            <a:extLst>
              <a:ext uri="{FF2B5EF4-FFF2-40B4-BE49-F238E27FC236}">
                <a16:creationId xmlns:a16="http://schemas.microsoft.com/office/drawing/2014/main" id="{DE252033-DED2-4B16-B731-E0079BA7F6F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46" name="PlaceHolder 2">
            <a:extLst>
              <a:ext uri="{FF2B5EF4-FFF2-40B4-BE49-F238E27FC236}">
                <a16:creationId xmlns:a16="http://schemas.microsoft.com/office/drawing/2014/main" id="{EB2EA113-CCC3-4965-BEC1-202DE6E2CF5F}"/>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7" name="PlaceHolder 3">
            <a:extLst>
              <a:ext uri="{FF2B5EF4-FFF2-40B4-BE49-F238E27FC236}">
                <a16:creationId xmlns:a16="http://schemas.microsoft.com/office/drawing/2014/main" id="{E72C0544-66F5-4087-9545-F13206E46F2F}"/>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8" name="PlaceHolder 4">
            <a:extLst>
              <a:ext uri="{FF2B5EF4-FFF2-40B4-BE49-F238E27FC236}">
                <a16:creationId xmlns:a16="http://schemas.microsoft.com/office/drawing/2014/main" id="{AA2AA787-6688-436D-A1F6-ACB85844EF9B}"/>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249" name="PlaceHolder 1">
            <a:extLst>
              <a:ext uri="{FF2B5EF4-FFF2-40B4-BE49-F238E27FC236}">
                <a16:creationId xmlns:a16="http://schemas.microsoft.com/office/drawing/2014/main" id="{F5C65907-CBBD-49C2-BDEF-68C8B9C5793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50" name="PlaceHolder 2">
            <a:extLst>
              <a:ext uri="{FF2B5EF4-FFF2-40B4-BE49-F238E27FC236}">
                <a16:creationId xmlns:a16="http://schemas.microsoft.com/office/drawing/2014/main" id="{F7C44ED1-B763-4F04-8CC0-40989CCEAA8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1" name="PlaceHolder 3">
            <a:extLst>
              <a:ext uri="{FF2B5EF4-FFF2-40B4-BE49-F238E27FC236}">
                <a16:creationId xmlns:a16="http://schemas.microsoft.com/office/drawing/2014/main" id="{EBCB9EBE-67AE-432A-AA86-1A8DBD814807}"/>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2" name="PlaceHolder 4">
            <a:extLst>
              <a:ext uri="{FF2B5EF4-FFF2-40B4-BE49-F238E27FC236}">
                <a16:creationId xmlns:a16="http://schemas.microsoft.com/office/drawing/2014/main" id="{DB659149-26F4-4B60-81A6-98588CDA0984}"/>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53" name="PlaceHolder 1">
            <a:extLst>
              <a:ext uri="{FF2B5EF4-FFF2-40B4-BE49-F238E27FC236}">
                <a16:creationId xmlns:a16="http://schemas.microsoft.com/office/drawing/2014/main" id="{DCFD459D-3D19-427B-988D-E8FC9EC063E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54" name="PlaceHolder 2">
            <a:extLst>
              <a:ext uri="{FF2B5EF4-FFF2-40B4-BE49-F238E27FC236}">
                <a16:creationId xmlns:a16="http://schemas.microsoft.com/office/drawing/2014/main" id="{8C5B4BF2-3915-4695-9170-1A7B8EF6536D}"/>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5" name="PlaceHolder 3">
            <a:extLst>
              <a:ext uri="{FF2B5EF4-FFF2-40B4-BE49-F238E27FC236}">
                <a16:creationId xmlns:a16="http://schemas.microsoft.com/office/drawing/2014/main" id="{D08B899A-41F0-478A-B93F-23843ADBCD3F}"/>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56" name="PlaceHolder 1">
            <a:extLst>
              <a:ext uri="{FF2B5EF4-FFF2-40B4-BE49-F238E27FC236}">
                <a16:creationId xmlns:a16="http://schemas.microsoft.com/office/drawing/2014/main" id="{70F55802-B821-4D93-9BB9-1F84DAC47C6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57" name="PlaceHolder 2">
            <a:extLst>
              <a:ext uri="{FF2B5EF4-FFF2-40B4-BE49-F238E27FC236}">
                <a16:creationId xmlns:a16="http://schemas.microsoft.com/office/drawing/2014/main" id="{5ECEDB0C-ED5D-4E0D-8F3D-2BB5C325E9A8}"/>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8" name="PlaceHolder 3">
            <a:extLst>
              <a:ext uri="{FF2B5EF4-FFF2-40B4-BE49-F238E27FC236}">
                <a16:creationId xmlns:a16="http://schemas.microsoft.com/office/drawing/2014/main" id="{B0B2B577-1DED-4447-B500-04F74AB7653F}"/>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9" name="PlaceHolder 4">
            <a:extLst>
              <a:ext uri="{FF2B5EF4-FFF2-40B4-BE49-F238E27FC236}">
                <a16:creationId xmlns:a16="http://schemas.microsoft.com/office/drawing/2014/main" id="{389F5904-B8CD-45FF-BB46-270826E3209E}"/>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0" name="PlaceHolder 5">
            <a:extLst>
              <a:ext uri="{FF2B5EF4-FFF2-40B4-BE49-F238E27FC236}">
                <a16:creationId xmlns:a16="http://schemas.microsoft.com/office/drawing/2014/main" id="{F88E67E0-0E28-45CC-A4E8-E076282A6048}"/>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 name="PlaceHolder 1">
            <a:extLst>
              <a:ext uri="{FF2B5EF4-FFF2-40B4-BE49-F238E27FC236}">
                <a16:creationId xmlns:a16="http://schemas.microsoft.com/office/drawing/2014/main" id="{7105D7DB-F8DA-4A50-B2C5-966F9730FAF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62" name="PlaceHolder 2">
            <a:extLst>
              <a:ext uri="{FF2B5EF4-FFF2-40B4-BE49-F238E27FC236}">
                <a16:creationId xmlns:a16="http://schemas.microsoft.com/office/drawing/2014/main" id="{981E5721-9FB4-4F97-9349-0395B6717D2D}"/>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3" name="PlaceHolder 3">
            <a:extLst>
              <a:ext uri="{FF2B5EF4-FFF2-40B4-BE49-F238E27FC236}">
                <a16:creationId xmlns:a16="http://schemas.microsoft.com/office/drawing/2014/main" id="{AD260D36-9C13-4F16-A6EB-89AAFB2D3CFF}"/>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4" name="PlaceHolder 4">
            <a:extLst>
              <a:ext uri="{FF2B5EF4-FFF2-40B4-BE49-F238E27FC236}">
                <a16:creationId xmlns:a16="http://schemas.microsoft.com/office/drawing/2014/main" id="{173BA01D-7D23-4B03-8B51-3FC8DACC8A2D}"/>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5" name="PlaceHolder 5">
            <a:extLst>
              <a:ext uri="{FF2B5EF4-FFF2-40B4-BE49-F238E27FC236}">
                <a16:creationId xmlns:a16="http://schemas.microsoft.com/office/drawing/2014/main" id="{3E09404B-22D2-42A1-8626-B94D5B87122D}"/>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6" name="PlaceHolder 6">
            <a:extLst>
              <a:ext uri="{FF2B5EF4-FFF2-40B4-BE49-F238E27FC236}">
                <a16:creationId xmlns:a16="http://schemas.microsoft.com/office/drawing/2014/main" id="{AB1AA377-67E9-4000-9EAF-7B5897A29940}"/>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7" name="PlaceHolder 7">
            <a:extLst>
              <a:ext uri="{FF2B5EF4-FFF2-40B4-BE49-F238E27FC236}">
                <a16:creationId xmlns:a16="http://schemas.microsoft.com/office/drawing/2014/main" id="{16CFEB67-E666-4FAF-8955-97848B0905DC}"/>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70" name="PlaceHolder 1">
            <a:extLst>
              <a:ext uri="{FF2B5EF4-FFF2-40B4-BE49-F238E27FC236}">
                <a16:creationId xmlns:a16="http://schemas.microsoft.com/office/drawing/2014/main" id="{872F8FE4-6BA4-4215-BA58-FDE4FEA4FDA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1" name="PlaceHolder 2">
            <a:extLst>
              <a:ext uri="{FF2B5EF4-FFF2-40B4-BE49-F238E27FC236}">
                <a16:creationId xmlns:a16="http://schemas.microsoft.com/office/drawing/2014/main" id="{AA3B61F6-6FF3-4B84-9140-42783F289BAF}"/>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a:extLst>
              <a:ext uri="{FF2B5EF4-FFF2-40B4-BE49-F238E27FC236}">
                <a16:creationId xmlns:a16="http://schemas.microsoft.com/office/drawing/2014/main" id="{57BF6896-B7B2-4CA4-B3CB-D988E992FE1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3" name="PlaceHolder 2">
            <a:extLst>
              <a:ext uri="{FF2B5EF4-FFF2-40B4-BE49-F238E27FC236}">
                <a16:creationId xmlns:a16="http://schemas.microsoft.com/office/drawing/2014/main" id="{58FC35EE-D97B-45BD-BA51-9A61DAD2F07D}"/>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a:extLst>
              <a:ext uri="{FF2B5EF4-FFF2-40B4-BE49-F238E27FC236}">
                <a16:creationId xmlns:a16="http://schemas.microsoft.com/office/drawing/2014/main" id="{DA638F13-01E2-48E1-B365-101EA74229E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5" name="PlaceHolder 2">
            <a:extLst>
              <a:ext uri="{FF2B5EF4-FFF2-40B4-BE49-F238E27FC236}">
                <a16:creationId xmlns:a16="http://schemas.microsoft.com/office/drawing/2014/main" id="{8A3015CA-B8B6-4C13-9DEA-D12A8AA9F175}"/>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76" name="PlaceHolder 3">
            <a:extLst>
              <a:ext uri="{FF2B5EF4-FFF2-40B4-BE49-F238E27FC236}">
                <a16:creationId xmlns:a16="http://schemas.microsoft.com/office/drawing/2014/main" id="{A6525F05-4BD9-46BF-9302-AABD1F108FFC}"/>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a:extLst>
              <a:ext uri="{FF2B5EF4-FFF2-40B4-BE49-F238E27FC236}">
                <a16:creationId xmlns:a16="http://schemas.microsoft.com/office/drawing/2014/main" id="{B8BEF617-E12E-4B5E-980D-C40ED474952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278" name="PlaceHolder 1">
            <a:extLst>
              <a:ext uri="{FF2B5EF4-FFF2-40B4-BE49-F238E27FC236}">
                <a16:creationId xmlns:a16="http://schemas.microsoft.com/office/drawing/2014/main" id="{3E22D2F2-D36E-4093-AB70-B659CA43CE7B}"/>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279" name="PlaceHolder 1">
            <a:extLst>
              <a:ext uri="{FF2B5EF4-FFF2-40B4-BE49-F238E27FC236}">
                <a16:creationId xmlns:a16="http://schemas.microsoft.com/office/drawing/2014/main" id="{BC81C0D4-941C-4B5E-B636-6EC4DDE7531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80" name="PlaceHolder 2">
            <a:extLst>
              <a:ext uri="{FF2B5EF4-FFF2-40B4-BE49-F238E27FC236}">
                <a16:creationId xmlns:a16="http://schemas.microsoft.com/office/drawing/2014/main" id="{62845A23-A213-4362-87B0-F0AD7055FA4D}"/>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1" name="PlaceHolder 3">
            <a:extLst>
              <a:ext uri="{FF2B5EF4-FFF2-40B4-BE49-F238E27FC236}">
                <a16:creationId xmlns:a16="http://schemas.microsoft.com/office/drawing/2014/main" id="{DDDAB137-C2FA-4832-89FB-5F3A77C0DC0A}"/>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2" name="PlaceHolder 4">
            <a:extLst>
              <a:ext uri="{FF2B5EF4-FFF2-40B4-BE49-F238E27FC236}">
                <a16:creationId xmlns:a16="http://schemas.microsoft.com/office/drawing/2014/main" id="{9935B0BF-86B3-4F3B-8663-59BA0193F355}"/>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283" name="PlaceHolder 1">
            <a:extLst>
              <a:ext uri="{FF2B5EF4-FFF2-40B4-BE49-F238E27FC236}">
                <a16:creationId xmlns:a16="http://schemas.microsoft.com/office/drawing/2014/main" id="{27E4DFB8-62FB-4C55-98D1-61F803B2C26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84" name="PlaceHolder 2">
            <a:extLst>
              <a:ext uri="{FF2B5EF4-FFF2-40B4-BE49-F238E27FC236}">
                <a16:creationId xmlns:a16="http://schemas.microsoft.com/office/drawing/2014/main" id="{720FB4FD-E94A-43DF-A2DD-DC309E8D4AFC}"/>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5" name="PlaceHolder 3">
            <a:extLst>
              <a:ext uri="{FF2B5EF4-FFF2-40B4-BE49-F238E27FC236}">
                <a16:creationId xmlns:a16="http://schemas.microsoft.com/office/drawing/2014/main" id="{EB9269E5-4C85-4A6C-9516-F0923D2E40A6}"/>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6" name="PlaceHolder 4">
            <a:extLst>
              <a:ext uri="{FF2B5EF4-FFF2-40B4-BE49-F238E27FC236}">
                <a16:creationId xmlns:a16="http://schemas.microsoft.com/office/drawing/2014/main" id="{8F7919D1-542F-45F0-812B-74C1FFDDB2D8}"/>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287" name="PlaceHolder 1">
            <a:extLst>
              <a:ext uri="{FF2B5EF4-FFF2-40B4-BE49-F238E27FC236}">
                <a16:creationId xmlns:a16="http://schemas.microsoft.com/office/drawing/2014/main" id="{A1EBB560-F923-48DB-B9F9-0308A8CA162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88" name="PlaceHolder 2">
            <a:extLst>
              <a:ext uri="{FF2B5EF4-FFF2-40B4-BE49-F238E27FC236}">
                <a16:creationId xmlns:a16="http://schemas.microsoft.com/office/drawing/2014/main" id="{7009595E-0ED3-462C-8D4B-8AD7FFC7D1FB}"/>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9" name="PlaceHolder 3">
            <a:extLst>
              <a:ext uri="{FF2B5EF4-FFF2-40B4-BE49-F238E27FC236}">
                <a16:creationId xmlns:a16="http://schemas.microsoft.com/office/drawing/2014/main" id="{057C8F2F-D255-486A-9152-DA2A47FD9A2D}"/>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0" name="PlaceHolder 4">
            <a:extLst>
              <a:ext uri="{FF2B5EF4-FFF2-40B4-BE49-F238E27FC236}">
                <a16:creationId xmlns:a16="http://schemas.microsoft.com/office/drawing/2014/main" id="{172AF54F-D991-48ED-8149-D9207BBD21F6}"/>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91" name="PlaceHolder 1">
            <a:extLst>
              <a:ext uri="{FF2B5EF4-FFF2-40B4-BE49-F238E27FC236}">
                <a16:creationId xmlns:a16="http://schemas.microsoft.com/office/drawing/2014/main" id="{75DD044F-B7DB-4D24-86DF-092166591EC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92" name="PlaceHolder 2">
            <a:extLst>
              <a:ext uri="{FF2B5EF4-FFF2-40B4-BE49-F238E27FC236}">
                <a16:creationId xmlns:a16="http://schemas.microsoft.com/office/drawing/2014/main" id="{FA64BC37-BA6B-4976-AB52-E6B5476370BB}"/>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3" name="PlaceHolder 3">
            <a:extLst>
              <a:ext uri="{FF2B5EF4-FFF2-40B4-BE49-F238E27FC236}">
                <a16:creationId xmlns:a16="http://schemas.microsoft.com/office/drawing/2014/main" id="{A47F8A3C-ABC2-46A3-8041-50789AACEA41}"/>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94" name="PlaceHolder 1">
            <a:extLst>
              <a:ext uri="{FF2B5EF4-FFF2-40B4-BE49-F238E27FC236}">
                <a16:creationId xmlns:a16="http://schemas.microsoft.com/office/drawing/2014/main" id="{DAFDE688-815B-4719-A285-74888D35E28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95" name="PlaceHolder 2">
            <a:extLst>
              <a:ext uri="{FF2B5EF4-FFF2-40B4-BE49-F238E27FC236}">
                <a16:creationId xmlns:a16="http://schemas.microsoft.com/office/drawing/2014/main" id="{E743A035-7585-41AA-A26E-EB110C29E2CA}"/>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6" name="PlaceHolder 3">
            <a:extLst>
              <a:ext uri="{FF2B5EF4-FFF2-40B4-BE49-F238E27FC236}">
                <a16:creationId xmlns:a16="http://schemas.microsoft.com/office/drawing/2014/main" id="{AC04AD1D-C450-46E3-87C4-205B7F5B3FBF}"/>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7" name="PlaceHolder 4">
            <a:extLst>
              <a:ext uri="{FF2B5EF4-FFF2-40B4-BE49-F238E27FC236}">
                <a16:creationId xmlns:a16="http://schemas.microsoft.com/office/drawing/2014/main" id="{FE604D92-694A-4292-A01E-33C478ED624E}"/>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8" name="PlaceHolder 5">
            <a:extLst>
              <a:ext uri="{FF2B5EF4-FFF2-40B4-BE49-F238E27FC236}">
                <a16:creationId xmlns:a16="http://schemas.microsoft.com/office/drawing/2014/main" id="{BBEDA656-2368-4B98-BDB7-528A0614E782}"/>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a:extLst>
              <a:ext uri="{FF2B5EF4-FFF2-40B4-BE49-F238E27FC236}">
                <a16:creationId xmlns:a16="http://schemas.microsoft.com/office/drawing/2014/main" id="{F5797D40-2AD7-4EBD-8ADB-664195EDA04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300" name="PlaceHolder 2">
            <a:extLst>
              <a:ext uri="{FF2B5EF4-FFF2-40B4-BE49-F238E27FC236}">
                <a16:creationId xmlns:a16="http://schemas.microsoft.com/office/drawing/2014/main" id="{28DEC02E-1229-4E1F-962A-B514F2721C0D}"/>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1" name="PlaceHolder 3">
            <a:extLst>
              <a:ext uri="{FF2B5EF4-FFF2-40B4-BE49-F238E27FC236}">
                <a16:creationId xmlns:a16="http://schemas.microsoft.com/office/drawing/2014/main" id="{8697D6E2-91B8-4BDF-A46B-CA53559F7462}"/>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2" name="PlaceHolder 4">
            <a:extLst>
              <a:ext uri="{FF2B5EF4-FFF2-40B4-BE49-F238E27FC236}">
                <a16:creationId xmlns:a16="http://schemas.microsoft.com/office/drawing/2014/main" id="{08993661-F65F-46C4-BFD0-6BFDA3A09F6E}"/>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3" name="PlaceHolder 5">
            <a:extLst>
              <a:ext uri="{FF2B5EF4-FFF2-40B4-BE49-F238E27FC236}">
                <a16:creationId xmlns:a16="http://schemas.microsoft.com/office/drawing/2014/main" id="{E0E9007E-706E-462D-BC58-EEFF1CADC549}"/>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4" name="PlaceHolder 6">
            <a:extLst>
              <a:ext uri="{FF2B5EF4-FFF2-40B4-BE49-F238E27FC236}">
                <a16:creationId xmlns:a16="http://schemas.microsoft.com/office/drawing/2014/main" id="{9977D28C-F65F-4556-A3D0-A9409AD14A85}"/>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5" name="PlaceHolder 7">
            <a:extLst>
              <a:ext uri="{FF2B5EF4-FFF2-40B4-BE49-F238E27FC236}">
                <a16:creationId xmlns:a16="http://schemas.microsoft.com/office/drawing/2014/main" id="{F6BDB51C-2743-4BAA-9148-289FD62ED339}"/>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theme" Target="../theme/theme5.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slideLayout" Target="../slideLayouts/slideLayout70.xml"/><Relationship Id="rId11" Type="http://schemas.openxmlformats.org/officeDocument/2006/relationships/slideLayout" Target="../slideLayouts/slideLayout71.xml"/><Relationship Id="rId12" Type="http://schemas.openxmlformats.org/officeDocument/2006/relationships/slideLayout" Target="../slideLayouts/slideLayout72.xml"/><Relationship Id="rId13" Type="http://schemas.openxmlformats.org/officeDocument/2006/relationships/theme" Target="../theme/theme6.xml"/><Relationship Id="rId14"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 Id="rId9" Type="http://schemas.openxmlformats.org/officeDocument/2006/relationships/slideLayout" Target="../slideLayouts/slideLayout81.xml"/><Relationship Id="rId10" Type="http://schemas.openxmlformats.org/officeDocument/2006/relationships/slideLayout" Target="../slideLayouts/slideLayout82.xml"/><Relationship Id="rId11" Type="http://schemas.openxmlformats.org/officeDocument/2006/relationships/slideLayout" Target="../slideLayouts/slideLayout83.xml"/><Relationship Id="rId12" Type="http://schemas.openxmlformats.org/officeDocument/2006/relationships/slideLayout" Target="../slideLayouts/slideLayout84.xml"/><Relationship Id="rId13" Type="http://schemas.openxmlformats.org/officeDocument/2006/relationships/theme" Target="../theme/theme7.xml"/><Relationship Id="rId1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9" Type="http://schemas.openxmlformats.org/officeDocument/2006/relationships/slideLayout" Target="../slideLayouts/slideLayout93.xml"/><Relationship Id="rId10" Type="http://schemas.openxmlformats.org/officeDocument/2006/relationships/slideLayout" Target="../slideLayouts/slideLayout94.xml"/><Relationship Id="rId11" Type="http://schemas.openxmlformats.org/officeDocument/2006/relationships/slideLayout" Target="../slideLayouts/slideLayout95.xml"/><Relationship Id="rId12" Type="http://schemas.openxmlformats.org/officeDocument/2006/relationships/slideLayout" Target="../slideLayouts/slideLayout96.xml"/><Relationship Id="rId13" Type="http://schemas.openxmlformats.org/officeDocument/2006/relationships/theme" Target="../theme/theme8.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1D90E9D0-B5A8-463A-9DB0-5428B36055E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r>
              <a:rPr sz="1800" b="0" strike="noStrike" spc="-1">
                <a:solidFill>
                  <a:srgbClr val="000000"/>
                </a:solidFill>
                <a:latin typeface="Calibri"/>
                <a:ea typeface="Calibri"/>
                <a:cs typeface="Calibri"/>
              </a:rPr>
              <a:t>Click to edit the title text format</a:t>
            </a:r>
          </a:p>
        </p:txBody>
      </p:sp>
      <p:sp>
        <p:nvSpPr>
          <p:cNvPr id="3" name="PlaceHolder 2">
            <a:extLst>
              <a:ext uri="{FF2B5EF4-FFF2-40B4-BE49-F238E27FC236}">
                <a16:creationId xmlns:a16="http://schemas.microsoft.com/office/drawing/2014/main" id="{BB73EBD6-BBA5-4D2A-A4AE-48E8C2C768AC}"/>
              </a:ext>
            </a:extLst>
          </p:cNvPr>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a:buChar char=""/>
            </a:pPr>
            <a:r>
              <a:rPr sz="2800" b="0" strike="noStrike" spc="-1">
                <a:solidFill>
                  <a:srgbClr val="000000"/>
                </a:solidFill>
                <a:latin typeface="Calibri"/>
                <a:ea typeface="Calibri"/>
                <a:cs typeface="Calibri"/>
              </a:rPr>
              <a:t>Click to edit the outline text format</a:t>
            </a:r>
          </a:p>
          <a:p>
            <a:pPr marL="864000" lvl="1" indent="-324000">
              <a:spcBef>
                <a:spcPts val="1134"/>
              </a:spcBef>
              <a:buClr>
                <a:srgbClr val="FFFFFF"/>
              </a:buClr>
              <a:buSzPct val="75000"/>
              <a:buFont typeface="Symbol"/>
              <a:buChar char=""/>
            </a:pPr>
            <a:r>
              <a:rPr sz="2000" b="0" strike="noStrike" spc="-1">
                <a:solidFill>
                  <a:srgbClr val="000000"/>
                </a:solidFill>
                <a:latin typeface="Calibri"/>
                <a:ea typeface="Calibri"/>
                <a:cs typeface="Calibri"/>
              </a:rPr>
              <a:t>Second Outline Level</a:t>
            </a:r>
          </a:p>
          <a:p>
            <a:pPr marL="1296000" lvl="2" indent="-288000">
              <a:spcBef>
                <a:spcPts val="850"/>
              </a:spcBef>
              <a:buClr>
                <a:srgbClr val="FFFFFF"/>
              </a:buClr>
              <a:buSzPct val="45000"/>
              <a:buFont typeface="Wingdings"/>
              <a:buChar char=""/>
            </a:pPr>
            <a:r>
              <a:rPr sz="1800" b="0" strike="noStrike" spc="-1">
                <a:solidFill>
                  <a:srgbClr val="000000"/>
                </a:solidFill>
                <a:latin typeface="Calibri"/>
                <a:ea typeface="Calibri"/>
                <a:cs typeface="Calibri"/>
              </a:rPr>
              <a:t>Third Outline Level</a:t>
            </a:r>
          </a:p>
          <a:p>
            <a:pPr marL="1728000" lvl="3" indent="-216000">
              <a:spcBef>
                <a:spcPts val="567"/>
              </a:spcBef>
              <a:buClr>
                <a:srgbClr val="FFFFFF"/>
              </a:buClr>
              <a:buSzPct val="75000"/>
              <a:buFont typeface="Symbol"/>
              <a:buChar char=""/>
            </a:pPr>
            <a:r>
              <a:rPr sz="1800" b="0" strike="noStrike" spc="-1">
                <a:solidFill>
                  <a:srgbClr val="000000"/>
                </a:solidFill>
                <a:latin typeface="Calibri"/>
                <a:ea typeface="Calibri"/>
                <a:cs typeface="Calibri"/>
              </a:rPr>
              <a:t>Fourth Outline Level</a:t>
            </a:r>
          </a:p>
          <a:p>
            <a:pPr marL="2160000" lvl="4" indent="-216000">
              <a:spcBef>
                <a:spcPts val="283"/>
              </a:spcBef>
              <a:buClr>
                <a:srgbClr val="FFFFFF"/>
              </a:buClr>
              <a:buSzPct val="45000"/>
              <a:buFont typeface="Wingdings"/>
              <a:buChar char=""/>
            </a:pPr>
            <a:r>
              <a:rPr sz="2000" b="0" strike="noStrike" spc="-1">
                <a:solidFill>
                  <a:srgbClr val="000000"/>
                </a:solidFill>
                <a:latin typeface="Calibri"/>
                <a:ea typeface="Calibri"/>
                <a:cs typeface="Calibri"/>
              </a:rPr>
              <a:t>Fifth Outline Level</a:t>
            </a:r>
          </a:p>
          <a:p>
            <a:pPr marL="2592000" lvl="5" indent="-216000">
              <a:spcBef>
                <a:spcPts val="283"/>
              </a:spcBef>
              <a:buClr>
                <a:srgbClr val="FFFFFF"/>
              </a:buClr>
              <a:buSzPct val="45000"/>
              <a:buFont typeface="Wingdings"/>
              <a:buChar char=""/>
            </a:pPr>
            <a:r>
              <a:rPr sz="2000" b="0" strike="noStrike" spc="-1">
                <a:solidFill>
                  <a:srgbClr val="000000"/>
                </a:solidFill>
                <a:latin typeface="Calibri"/>
                <a:ea typeface="Calibri"/>
                <a:cs typeface="Calibri"/>
              </a:rPr>
              <a:t>Sixth Outline Level</a:t>
            </a:r>
          </a:p>
          <a:p>
            <a:pPr marL="3024000" lvl="6" indent="-216000">
              <a:spcBef>
                <a:spcPts val="283"/>
              </a:spcBef>
              <a:buClr>
                <a:srgbClr val="FFFFFF"/>
              </a:buClr>
              <a:buSzPct val="45000"/>
              <a:buFont typeface="Wingdings"/>
              <a:buChar char=""/>
            </a:pPr>
            <a:r>
              <a:rPr sz="2000" b="0" strike="noStrike" spc="-1">
                <a:solidFill>
                  <a:srgbClr val="000000"/>
                </a:solidFill>
                <a:latin typeface="Calibri"/>
                <a:ea typeface="Calibri"/>
                <a:cs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a:extLst>
              <a:ext uri="{FF2B5EF4-FFF2-40B4-BE49-F238E27FC236}">
                <a16:creationId xmlns:a16="http://schemas.microsoft.com/office/drawing/2014/main" id="{F10A4C01-7EC0-4A9B-AB9B-9C5257F005C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r>
              <a:rPr sz="1800" b="0" strike="noStrike" spc="-1">
                <a:solidFill>
                  <a:srgbClr val="000000"/>
                </a:solidFill>
                <a:latin typeface="Calibri"/>
                <a:ea typeface="Calibri"/>
                <a:cs typeface="Calibri"/>
              </a:rPr>
              <a:t>Click to edit the title text format</a:t>
            </a:r>
          </a:p>
        </p:txBody>
      </p:sp>
      <p:sp>
        <p:nvSpPr>
          <p:cNvPr id="39" name="PlaceHolder 2">
            <a:extLst>
              <a:ext uri="{FF2B5EF4-FFF2-40B4-BE49-F238E27FC236}">
                <a16:creationId xmlns:a16="http://schemas.microsoft.com/office/drawing/2014/main" id="{68F8188F-4548-4E24-88C0-A1E27EC28FF4}"/>
              </a:ext>
            </a:extLst>
          </p:cNvPr>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a:buChar char=""/>
            </a:pPr>
            <a:r>
              <a:rPr sz="2800" b="0" strike="noStrike" spc="-1">
                <a:solidFill>
                  <a:srgbClr val="000000"/>
                </a:solidFill>
                <a:latin typeface="Calibri"/>
                <a:ea typeface="Calibri"/>
                <a:cs typeface="Calibri"/>
              </a:rPr>
              <a:t>Click to edit the outline text format</a:t>
            </a:r>
          </a:p>
          <a:p>
            <a:pPr marL="864000" lvl="1" indent="-324000">
              <a:spcBef>
                <a:spcPts val="1134"/>
              </a:spcBef>
              <a:buClr>
                <a:srgbClr val="000000"/>
              </a:buClr>
              <a:buSzPct val="75000"/>
              <a:buFont typeface="Symbol"/>
              <a:buChar char=""/>
            </a:pPr>
            <a:r>
              <a:rPr sz="2000" b="0" strike="noStrike" spc="-1">
                <a:solidFill>
                  <a:srgbClr val="000000"/>
                </a:solidFill>
                <a:latin typeface="Calibri"/>
                <a:ea typeface="Calibri"/>
                <a:cs typeface="Calibri"/>
              </a:rPr>
              <a:t>Second Outline Level</a:t>
            </a:r>
          </a:p>
          <a:p>
            <a:pPr marL="1296000" lvl="2" indent="-288000">
              <a:spcBef>
                <a:spcPts val="850"/>
              </a:spcBef>
              <a:buClr>
                <a:srgbClr val="000000"/>
              </a:buClr>
              <a:buSzPct val="45000"/>
              <a:buFont typeface="Wingdings"/>
              <a:buChar char=""/>
            </a:pPr>
            <a:r>
              <a:rPr sz="1800" b="0" strike="noStrike" spc="-1">
                <a:solidFill>
                  <a:srgbClr val="000000"/>
                </a:solidFill>
                <a:latin typeface="Calibri"/>
                <a:ea typeface="Calibri"/>
                <a:cs typeface="Calibri"/>
              </a:rPr>
              <a:t>Third Outline Level</a:t>
            </a:r>
          </a:p>
          <a:p>
            <a:pPr marL="1728000" lvl="3" indent="-216000">
              <a:spcBef>
                <a:spcPts val="567"/>
              </a:spcBef>
              <a:buClr>
                <a:srgbClr val="000000"/>
              </a:buClr>
              <a:buSzPct val="75000"/>
              <a:buFont typeface="Symbol"/>
              <a:buChar char=""/>
            </a:pPr>
            <a:r>
              <a:rPr sz="1800" b="0" strike="noStrike" spc="-1">
                <a:solidFill>
                  <a:srgbClr val="000000"/>
                </a:solidFill>
                <a:latin typeface="Calibri"/>
                <a:ea typeface="Calibri"/>
                <a:cs typeface="Calibri"/>
              </a:rPr>
              <a:t>Fourth Outline Level</a:t>
            </a:r>
          </a:p>
          <a:p>
            <a:pPr marL="2160000" lvl="4"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Fifth Outline Level</a:t>
            </a:r>
          </a:p>
          <a:p>
            <a:pPr marL="2592000" lvl="5"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Sixth Outline Level</a:t>
            </a:r>
          </a:p>
          <a:p>
            <a:pPr marL="3024000" lvl="6"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a:extLst>
              <a:ext uri="{FF2B5EF4-FFF2-40B4-BE49-F238E27FC236}">
                <a16:creationId xmlns:a16="http://schemas.microsoft.com/office/drawing/2014/main" id="{EB34FB83-8B20-4907-B4B0-3566341D6598}"/>
              </a:ext>
            </a:extLst>
          </p:cNvPr>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sz="2800" b="0" strike="noStrike" spc="-1">
                <a:solidFill>
                  <a:srgbClr val="000000"/>
                </a:solidFill>
                <a:latin typeface="Lato"/>
                <a:ea typeface="Lato"/>
                <a:cs typeface="Lato"/>
              </a:rPr>
              <a:t>Click to edit Master text styles</a:t>
            </a:r>
            <a:endParaRPr sz="2800" b="0" strike="noStrike" spc="-1">
              <a:solidFill>
                <a:srgbClr val="000000"/>
              </a:solidFill>
              <a:latin typeface="Calibri"/>
              <a:ea typeface="Calibri"/>
              <a:cs typeface="Calibri"/>
            </a:endParaRPr>
          </a:p>
          <a:p>
            <a:pPr marL="685800" lvl="1" indent="-228240">
              <a:lnSpc>
                <a:spcPct val="90000"/>
              </a:lnSpc>
              <a:spcBef>
                <a:spcPts val="499"/>
              </a:spcBef>
              <a:buClr>
                <a:srgbClr val="000000"/>
              </a:buClr>
              <a:buFont typeface="Arial"/>
              <a:buChar char="•"/>
            </a:pPr>
            <a:r>
              <a:rPr sz="2400" b="0" strike="noStrike" spc="-1">
                <a:solidFill>
                  <a:srgbClr val="000000"/>
                </a:solidFill>
                <a:latin typeface="Lato"/>
                <a:ea typeface="Lato"/>
                <a:cs typeface="Lato"/>
              </a:rPr>
              <a:t>Second level</a:t>
            </a:r>
            <a:endParaRPr sz="2400" b="0" strike="noStrike" spc="-1">
              <a:solidFill>
                <a:srgbClr val="000000"/>
              </a:solidFill>
              <a:latin typeface="Calibri"/>
              <a:ea typeface="Calibri"/>
              <a:cs typeface="Calibri"/>
            </a:endParaRPr>
          </a:p>
          <a:p>
            <a:pPr marL="1143000" lvl="2" indent="-228240">
              <a:lnSpc>
                <a:spcPct val="90000"/>
              </a:lnSpc>
              <a:spcBef>
                <a:spcPts val="499"/>
              </a:spcBef>
              <a:buClr>
                <a:srgbClr val="000000"/>
              </a:buClr>
              <a:buFont typeface="Arial"/>
              <a:buChar char="•"/>
            </a:pPr>
            <a:r>
              <a:rPr sz="2000" b="0" strike="noStrike" spc="-1">
                <a:solidFill>
                  <a:srgbClr val="000000"/>
                </a:solidFill>
                <a:latin typeface="Lato"/>
                <a:ea typeface="Lato"/>
                <a:cs typeface="Lato"/>
              </a:rPr>
              <a:t>Third level</a:t>
            </a:r>
            <a:endParaRPr sz="2000" b="0" strike="noStrike" spc="-1">
              <a:solidFill>
                <a:srgbClr val="000000"/>
              </a:solidFill>
              <a:latin typeface="Calibri"/>
              <a:ea typeface="Calibri"/>
              <a:cs typeface="Calibri"/>
            </a:endParaRPr>
          </a:p>
          <a:p>
            <a:pPr marL="1600200" lvl="3"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Fourth level</a:t>
            </a:r>
            <a:endParaRPr sz="1800" b="0" strike="noStrike" spc="-1">
              <a:solidFill>
                <a:srgbClr val="000000"/>
              </a:solidFill>
              <a:latin typeface="Calibri"/>
              <a:ea typeface="Calibri"/>
              <a:cs typeface="Calibri"/>
            </a:endParaRPr>
          </a:p>
          <a:p>
            <a:pPr marL="2057400" lvl="4"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Fifth level</a:t>
            </a:r>
            <a:endParaRPr sz="1800" b="0" strike="noStrike" spc="-1">
              <a:solidFill>
                <a:srgbClr val="000000"/>
              </a:solidFill>
              <a:latin typeface="Calibri"/>
              <a:ea typeface="Calibri"/>
              <a:cs typeface="Calibri"/>
            </a:endParaRPr>
          </a:p>
        </p:txBody>
      </p:sp>
      <p:sp>
        <p:nvSpPr>
          <p:cNvPr id="77" name="PlaceHolder 2">
            <a:extLst>
              <a:ext uri="{FF2B5EF4-FFF2-40B4-BE49-F238E27FC236}">
                <a16:creationId xmlns:a16="http://schemas.microsoft.com/office/drawing/2014/main" id="{02D9A1C1-BE19-4C07-86EF-9B413F41F8AA}"/>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1:……………………………………..</a:t>
            </a:r>
            <a:endParaRPr sz="2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14" name="PlaceHolder 1">
            <a:extLst>
              <a:ext uri="{FF2B5EF4-FFF2-40B4-BE49-F238E27FC236}">
                <a16:creationId xmlns:a16="http://schemas.microsoft.com/office/drawing/2014/main" id="{39465CDB-33ED-4336-8000-67F76CBB4315}"/>
              </a:ext>
            </a:extLst>
          </p:cNvPr>
          <p:cNvSpPr>
            <a:spLocks noGrp="1"/>
          </p:cNvSpPr>
          <p:nvPr>
            <p:ph type="body"/>
          </p:nvPr>
        </p:nvSpPr>
        <p:spPr>
          <a:xfrm>
            <a:off x="330120" y="1406880"/>
            <a:ext cx="5765400" cy="465552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Chart</a:t>
            </a:r>
            <a:endParaRPr sz="1800" b="0" strike="noStrike" spc="-1">
              <a:solidFill>
                <a:srgbClr val="000000"/>
              </a:solidFill>
              <a:latin typeface="Calibri"/>
              <a:ea typeface="Calibri"/>
              <a:cs typeface="Calibri"/>
            </a:endParaRPr>
          </a:p>
        </p:txBody>
      </p:sp>
      <p:sp>
        <p:nvSpPr>
          <p:cNvPr id="115" name="PlaceHolder 2">
            <a:extLst>
              <a:ext uri="{FF2B5EF4-FFF2-40B4-BE49-F238E27FC236}">
                <a16:creationId xmlns:a16="http://schemas.microsoft.com/office/drawing/2014/main" id="{7F90F3E0-D175-4DD5-89D5-5BC74359BA7B}"/>
              </a:ext>
            </a:extLst>
          </p:cNvPr>
          <p:cNvSpPr>
            <a:spLocks noGrp="1"/>
          </p:cNvSpPr>
          <p:nvPr>
            <p:ph type="body"/>
          </p:nvPr>
        </p:nvSpPr>
        <p:spPr>
          <a:xfrm>
            <a:off x="6238800" y="1414440"/>
            <a:ext cx="5444640" cy="465588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Picture</a:t>
            </a:r>
            <a:endParaRPr sz="1800" b="0" strike="noStrike" spc="-1">
              <a:solidFill>
                <a:srgbClr val="000000"/>
              </a:solidFill>
              <a:latin typeface="Calibri"/>
              <a:ea typeface="Calibri"/>
              <a:cs typeface="Calibri"/>
            </a:endParaRPr>
          </a:p>
        </p:txBody>
      </p:sp>
      <p:sp>
        <p:nvSpPr>
          <p:cNvPr id="116" name="PlaceHolder 3">
            <a:extLst>
              <a:ext uri="{FF2B5EF4-FFF2-40B4-BE49-F238E27FC236}">
                <a16:creationId xmlns:a16="http://schemas.microsoft.com/office/drawing/2014/main" id="{030E4AC2-1AB6-4CC1-AB1D-EA6901F83036}"/>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2:……………………………………..</a:t>
            </a:r>
            <a:endParaRPr sz="2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53" name="PlaceHolder 1">
            <a:extLst>
              <a:ext uri="{FF2B5EF4-FFF2-40B4-BE49-F238E27FC236}">
                <a16:creationId xmlns:a16="http://schemas.microsoft.com/office/drawing/2014/main" id="{99803A32-40CA-4288-84F3-72B045A80DAB}"/>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3:……………………………………..</a:t>
            </a:r>
            <a:endParaRPr sz="2800" b="0" strike="noStrike" spc="-1">
              <a:solidFill>
                <a:srgbClr val="000000"/>
              </a:solidFill>
              <a:latin typeface="Calibri"/>
              <a:ea typeface="Calibri"/>
              <a:cs typeface="Calibri"/>
            </a:endParaRPr>
          </a:p>
        </p:txBody>
      </p:sp>
      <p:sp>
        <p:nvSpPr>
          <p:cNvPr id="154" name="PlaceHolder 2">
            <a:extLst>
              <a:ext uri="{FF2B5EF4-FFF2-40B4-BE49-F238E27FC236}">
                <a16:creationId xmlns:a16="http://schemas.microsoft.com/office/drawing/2014/main" id="{1BE6E8D5-3494-445B-8586-598C493D9ABF}"/>
              </a:ext>
            </a:extLst>
          </p:cNvPr>
          <p:cNvSpPr>
            <a:spLocks noGrp="1"/>
          </p:cNvSpPr>
          <p:nvPr>
            <p:ph type="body"/>
          </p:nvPr>
        </p:nvSpPr>
        <p:spPr>
          <a:xfrm>
            <a:off x="337680" y="1032480"/>
            <a:ext cx="11515320" cy="49384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sz="2800" b="0" strike="noStrike" spc="-1">
                <a:solidFill>
                  <a:srgbClr val="000000"/>
                </a:solidFill>
                <a:latin typeface="Lato"/>
                <a:ea typeface="Lato"/>
                <a:cs typeface="Lato"/>
              </a:rPr>
              <a:t>Click to edit Master text styles</a:t>
            </a:r>
            <a:endParaRPr sz="2800" b="0" strike="noStrike" spc="-1">
              <a:solidFill>
                <a:srgbClr val="000000"/>
              </a:solidFill>
              <a:latin typeface="Calibri"/>
              <a:ea typeface="Calibri"/>
              <a:cs typeface="Calibri"/>
            </a:endParaRPr>
          </a:p>
          <a:p>
            <a:pPr marL="685800" lvl="1" indent="-228240">
              <a:lnSpc>
                <a:spcPct val="90000"/>
              </a:lnSpc>
              <a:spcBef>
                <a:spcPts val="499"/>
              </a:spcBef>
              <a:buClr>
                <a:srgbClr val="000000"/>
              </a:buClr>
              <a:buFont typeface="Arial"/>
              <a:buChar char="•"/>
            </a:pPr>
            <a:r>
              <a:rPr sz="2400" b="0" strike="noStrike" spc="-1">
                <a:solidFill>
                  <a:srgbClr val="000000"/>
                </a:solidFill>
                <a:latin typeface="Lato"/>
                <a:ea typeface="Lato"/>
                <a:cs typeface="Lato"/>
              </a:rPr>
              <a:t>Second level</a:t>
            </a:r>
            <a:endParaRPr sz="2400" b="0" strike="noStrike" spc="-1">
              <a:solidFill>
                <a:srgbClr val="000000"/>
              </a:solidFill>
              <a:latin typeface="Calibri"/>
              <a:ea typeface="Calibri"/>
              <a:cs typeface="Calibri"/>
            </a:endParaRPr>
          </a:p>
          <a:p>
            <a:pPr marL="1143000" lvl="2" indent="-228240">
              <a:lnSpc>
                <a:spcPct val="90000"/>
              </a:lnSpc>
              <a:spcBef>
                <a:spcPts val="499"/>
              </a:spcBef>
              <a:buClr>
                <a:srgbClr val="000000"/>
              </a:buClr>
              <a:buFont typeface="Arial"/>
              <a:buChar char="•"/>
            </a:pPr>
            <a:r>
              <a:rPr sz="2000" b="0" strike="noStrike" spc="-1">
                <a:solidFill>
                  <a:srgbClr val="000000"/>
                </a:solidFill>
                <a:latin typeface="Lato"/>
                <a:ea typeface="Lato"/>
                <a:cs typeface="Lato"/>
              </a:rPr>
              <a:t>Third level</a:t>
            </a:r>
            <a:endParaRPr sz="2000" b="0" strike="noStrike" spc="-1">
              <a:solidFill>
                <a:srgbClr val="000000"/>
              </a:solidFill>
              <a:latin typeface="Calibri"/>
              <a:ea typeface="Calibri"/>
              <a:cs typeface="Calibri"/>
            </a:endParaRPr>
          </a:p>
          <a:p>
            <a:pPr marL="1600200" lvl="3"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Fourth level</a:t>
            </a:r>
            <a:endParaRPr sz="1800" b="0" strike="noStrike" spc="-1">
              <a:solidFill>
                <a:srgbClr val="000000"/>
              </a:solidFill>
              <a:latin typeface="Calibri"/>
              <a:ea typeface="Calibri"/>
              <a:cs typeface="Calibri"/>
            </a:endParaRPr>
          </a:p>
          <a:p>
            <a:pPr marL="2057400" lvl="4"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Fifth level</a:t>
            </a:r>
            <a:endParaRPr sz="1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91" name="PlaceHolder 1">
            <a:extLst>
              <a:ext uri="{FF2B5EF4-FFF2-40B4-BE49-F238E27FC236}">
                <a16:creationId xmlns:a16="http://schemas.microsoft.com/office/drawing/2014/main" id="{360F2F93-F625-47BA-8D0C-5AC68FF6F1EA}"/>
              </a:ext>
            </a:extLst>
          </p:cNvPr>
          <p:cNvSpPr>
            <a:spLocks noGrp="1"/>
          </p:cNvSpPr>
          <p:nvPr>
            <p:ph type="body"/>
          </p:nvPr>
        </p:nvSpPr>
        <p:spPr>
          <a:xfrm>
            <a:off x="4558320" y="1248480"/>
            <a:ext cx="7391160" cy="52048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sz="2800" b="0" strike="noStrike" spc="-1">
                <a:solidFill>
                  <a:srgbClr val="000000"/>
                </a:solidFill>
                <a:latin typeface="Lato"/>
                <a:ea typeface="Lato"/>
                <a:cs typeface="Lato"/>
              </a:rPr>
              <a:t>Click to edit Master text styles</a:t>
            </a:r>
            <a:endParaRPr sz="2800" b="0" strike="noStrike" spc="-1">
              <a:solidFill>
                <a:srgbClr val="000000"/>
              </a:solidFill>
              <a:latin typeface="Calibri"/>
              <a:ea typeface="Calibri"/>
              <a:cs typeface="Calibri"/>
            </a:endParaRPr>
          </a:p>
          <a:p>
            <a:pPr marL="685800" lvl="1" indent="-228240">
              <a:lnSpc>
                <a:spcPct val="90000"/>
              </a:lnSpc>
              <a:spcBef>
                <a:spcPts val="499"/>
              </a:spcBef>
              <a:buClr>
                <a:srgbClr val="000000"/>
              </a:buClr>
              <a:buFont typeface="Arial"/>
              <a:buChar char="•"/>
            </a:pPr>
            <a:r>
              <a:rPr sz="2400" b="0" strike="noStrike" spc="-1">
                <a:solidFill>
                  <a:srgbClr val="000000"/>
                </a:solidFill>
                <a:latin typeface="Lato"/>
                <a:ea typeface="Lato"/>
                <a:cs typeface="Lato"/>
              </a:rPr>
              <a:t>Second level</a:t>
            </a:r>
            <a:endParaRPr sz="2400" b="0" strike="noStrike" spc="-1">
              <a:solidFill>
                <a:srgbClr val="000000"/>
              </a:solidFill>
              <a:latin typeface="Calibri"/>
              <a:ea typeface="Calibri"/>
              <a:cs typeface="Calibri"/>
            </a:endParaRPr>
          </a:p>
          <a:p>
            <a:pPr marL="1143000" lvl="2" indent="-228240">
              <a:lnSpc>
                <a:spcPct val="90000"/>
              </a:lnSpc>
              <a:spcBef>
                <a:spcPts val="499"/>
              </a:spcBef>
              <a:buClr>
                <a:srgbClr val="000000"/>
              </a:buClr>
              <a:buFont typeface="Arial"/>
              <a:buChar char="•"/>
            </a:pPr>
            <a:r>
              <a:rPr sz="2000" b="0" strike="noStrike" spc="-1">
                <a:solidFill>
                  <a:srgbClr val="000000"/>
                </a:solidFill>
                <a:latin typeface="Lato"/>
                <a:ea typeface="Lato"/>
                <a:cs typeface="Lato"/>
              </a:rPr>
              <a:t>Third level</a:t>
            </a:r>
            <a:endParaRPr sz="2000" b="0" strike="noStrike" spc="-1">
              <a:solidFill>
                <a:srgbClr val="000000"/>
              </a:solidFill>
              <a:latin typeface="Calibri"/>
              <a:ea typeface="Calibri"/>
              <a:cs typeface="Calibri"/>
            </a:endParaRPr>
          </a:p>
          <a:p>
            <a:pPr marL="1600200" lvl="3"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Fourth level</a:t>
            </a:r>
            <a:endParaRPr sz="1800" b="0" strike="noStrike" spc="-1">
              <a:solidFill>
                <a:srgbClr val="000000"/>
              </a:solidFill>
              <a:latin typeface="Calibri"/>
              <a:ea typeface="Calibri"/>
              <a:cs typeface="Calibri"/>
            </a:endParaRPr>
          </a:p>
          <a:p>
            <a:pPr marL="2057400" lvl="4"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Fifth level</a:t>
            </a:r>
            <a:endParaRPr sz="1800" b="0" strike="noStrike" spc="-1">
              <a:solidFill>
                <a:srgbClr val="000000"/>
              </a:solidFill>
              <a:latin typeface="Calibri"/>
              <a:ea typeface="Calibri"/>
              <a:cs typeface="Calibri"/>
            </a:endParaRPr>
          </a:p>
        </p:txBody>
      </p:sp>
      <p:sp>
        <p:nvSpPr>
          <p:cNvPr id="192" name="PlaceHolder 2">
            <a:extLst>
              <a:ext uri="{FF2B5EF4-FFF2-40B4-BE49-F238E27FC236}">
                <a16:creationId xmlns:a16="http://schemas.microsoft.com/office/drawing/2014/main" id="{31565F90-C15F-4E68-BC10-0B6773945128}"/>
              </a:ext>
            </a:extLst>
          </p:cNvPr>
          <p:cNvSpPr>
            <a:spLocks noGrp="1"/>
          </p:cNvSpPr>
          <p:nvPr>
            <p:ph type="title"/>
          </p:nvPr>
        </p:nvSpPr>
        <p:spPr>
          <a:xfrm>
            <a:off x="4558320" y="404280"/>
            <a:ext cx="7391160" cy="435600"/>
          </a:xfrm>
          <a:prstGeom prst="rect">
            <a:avLst/>
          </a:prstGeom>
        </p:spPr>
        <p:txBody>
          <a:bodyPr lIns="90000" tIns="45000" rIns="90000" bIns="45000">
            <a:noAutofit/>
          </a:bodyPr>
          <a:lstStyle/>
          <a:p>
            <a:pPr>
              <a:lnSpc>
                <a:spcPct val="90000"/>
              </a:lnSpc>
              <a:buNone/>
            </a:pPr>
            <a:r>
              <a:rPr sz="2800" b="1" strike="noStrike" spc="-1">
                <a:solidFill>
                  <a:srgbClr val="000000"/>
                </a:solidFill>
                <a:latin typeface="Lato"/>
                <a:ea typeface="Lato"/>
                <a:cs typeface="Lato"/>
              </a:rPr>
              <a:t>Title 4:……………………………………..</a:t>
            </a:r>
            <a:endParaRPr sz="2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29" name="PlaceHolder 1">
            <a:extLst>
              <a:ext uri="{FF2B5EF4-FFF2-40B4-BE49-F238E27FC236}">
                <a16:creationId xmlns:a16="http://schemas.microsoft.com/office/drawing/2014/main" id="{3B71BFF2-34EB-4770-8004-03AA09E74D00}"/>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5:……………………………………..</a:t>
            </a:r>
            <a:endParaRPr sz="2800" b="0" strike="noStrike" spc="-1">
              <a:solidFill>
                <a:srgbClr val="000000"/>
              </a:solidFill>
              <a:latin typeface="Calibri"/>
              <a:ea typeface="Calibri"/>
              <a:cs typeface="Calibri"/>
            </a:endParaRPr>
          </a:p>
        </p:txBody>
      </p:sp>
      <p:sp>
        <p:nvSpPr>
          <p:cNvPr id="230" name="PlaceHolder 2">
            <a:extLst>
              <a:ext uri="{FF2B5EF4-FFF2-40B4-BE49-F238E27FC236}">
                <a16:creationId xmlns:a16="http://schemas.microsoft.com/office/drawing/2014/main" id="{396340AE-DC99-4147-A4D1-D4A0ABBD55F8}"/>
              </a:ext>
            </a:extLst>
          </p:cNvPr>
          <p:cNvSpPr>
            <a:spLocks noGrp="1"/>
          </p:cNvSpPr>
          <p:nvPr>
            <p:ph type="body"/>
          </p:nvPr>
        </p:nvSpPr>
        <p:spPr>
          <a:xfrm>
            <a:off x="338760" y="1406520"/>
            <a:ext cx="5756760" cy="466992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Chart</a:t>
            </a:r>
            <a:endParaRPr sz="1800" b="0" strike="noStrike" spc="-1">
              <a:solidFill>
                <a:srgbClr val="000000"/>
              </a:solidFill>
              <a:latin typeface="Calibri"/>
              <a:ea typeface="Calibri"/>
              <a:cs typeface="Calibri"/>
            </a:endParaRPr>
          </a:p>
        </p:txBody>
      </p:sp>
      <p:sp>
        <p:nvSpPr>
          <p:cNvPr id="231" name="PlaceHolder 3">
            <a:extLst>
              <a:ext uri="{FF2B5EF4-FFF2-40B4-BE49-F238E27FC236}">
                <a16:creationId xmlns:a16="http://schemas.microsoft.com/office/drawing/2014/main" id="{4801E4DC-8E7B-4F32-8E16-E3933AF1A1EC}"/>
              </a:ext>
            </a:extLst>
          </p:cNvPr>
          <p:cNvSpPr>
            <a:spLocks noGrp="1"/>
          </p:cNvSpPr>
          <p:nvPr>
            <p:ph type="body"/>
          </p:nvPr>
        </p:nvSpPr>
        <p:spPr>
          <a:xfrm>
            <a:off x="6210360" y="1392120"/>
            <a:ext cx="5592240" cy="468432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Table</a:t>
            </a:r>
            <a:endParaRPr sz="1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a:extLst>
              <a:ext uri="{FF2B5EF4-FFF2-40B4-BE49-F238E27FC236}">
                <a16:creationId xmlns:a16="http://schemas.microsoft.com/office/drawing/2014/main" id="{E6413D03-2F9E-4A01-AEB1-B6CA2B5C5E9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r>
              <a:rPr sz="1800" b="0" strike="noStrike" spc="-1">
                <a:solidFill>
                  <a:srgbClr val="000000"/>
                </a:solidFill>
                <a:latin typeface="Calibri"/>
                <a:ea typeface="Calibri"/>
                <a:cs typeface="Calibri"/>
              </a:rPr>
              <a:t>Click to edit the title text format</a:t>
            </a:r>
          </a:p>
        </p:txBody>
      </p:sp>
      <p:sp>
        <p:nvSpPr>
          <p:cNvPr id="269" name="PlaceHolder 2">
            <a:extLst>
              <a:ext uri="{FF2B5EF4-FFF2-40B4-BE49-F238E27FC236}">
                <a16:creationId xmlns:a16="http://schemas.microsoft.com/office/drawing/2014/main" id="{9E165498-8993-4E94-8E82-850A0F00B4A9}"/>
              </a:ext>
            </a:extLst>
          </p:cNvPr>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a:buChar char=""/>
            </a:pPr>
            <a:r>
              <a:rPr sz="2800" b="0" strike="noStrike" spc="-1">
                <a:solidFill>
                  <a:srgbClr val="000000"/>
                </a:solidFill>
                <a:latin typeface="Calibri"/>
                <a:ea typeface="Calibri"/>
                <a:cs typeface="Calibri"/>
              </a:rPr>
              <a:t>Click to edit the outline text format</a:t>
            </a:r>
          </a:p>
          <a:p>
            <a:pPr marL="864000" lvl="1" indent="-324000">
              <a:spcBef>
                <a:spcPts val="1134"/>
              </a:spcBef>
              <a:buClr>
                <a:srgbClr val="000000"/>
              </a:buClr>
              <a:buSzPct val="75000"/>
              <a:buFont typeface="Symbol"/>
              <a:buChar char=""/>
            </a:pPr>
            <a:r>
              <a:rPr sz="2000" b="0" strike="noStrike" spc="-1">
                <a:solidFill>
                  <a:srgbClr val="000000"/>
                </a:solidFill>
                <a:latin typeface="Calibri"/>
                <a:ea typeface="Calibri"/>
                <a:cs typeface="Calibri"/>
              </a:rPr>
              <a:t>Second Outline Level</a:t>
            </a:r>
          </a:p>
          <a:p>
            <a:pPr marL="1296000" lvl="2" indent="-288000">
              <a:spcBef>
                <a:spcPts val="850"/>
              </a:spcBef>
              <a:buClr>
                <a:srgbClr val="000000"/>
              </a:buClr>
              <a:buSzPct val="45000"/>
              <a:buFont typeface="Wingdings"/>
              <a:buChar char=""/>
            </a:pPr>
            <a:r>
              <a:rPr sz="1800" b="0" strike="noStrike" spc="-1">
                <a:solidFill>
                  <a:srgbClr val="000000"/>
                </a:solidFill>
                <a:latin typeface="Calibri"/>
                <a:ea typeface="Calibri"/>
                <a:cs typeface="Calibri"/>
              </a:rPr>
              <a:t>Third Outline Level</a:t>
            </a:r>
          </a:p>
          <a:p>
            <a:pPr marL="1728000" lvl="3" indent="-216000">
              <a:spcBef>
                <a:spcPts val="567"/>
              </a:spcBef>
              <a:buClr>
                <a:srgbClr val="000000"/>
              </a:buClr>
              <a:buSzPct val="75000"/>
              <a:buFont typeface="Symbol"/>
              <a:buChar char=""/>
            </a:pPr>
            <a:r>
              <a:rPr sz="1800" b="0" strike="noStrike" spc="-1">
                <a:solidFill>
                  <a:srgbClr val="000000"/>
                </a:solidFill>
                <a:latin typeface="Calibri"/>
                <a:ea typeface="Calibri"/>
                <a:cs typeface="Calibri"/>
              </a:rPr>
              <a:t>Fourth Outline Level</a:t>
            </a:r>
          </a:p>
          <a:p>
            <a:pPr marL="2160000" lvl="4"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Fifth Outline Level</a:t>
            </a:r>
          </a:p>
          <a:p>
            <a:pPr marL="2592000" lvl="5"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Sixth Outline Level</a:t>
            </a:r>
          </a:p>
          <a:p>
            <a:pPr marL="3024000" lvl="6"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8.jpg"/><Relationship Id="rId4"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cover.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TextBox 3"/>
          <p:cNvSpPr txBox="1"/>
          <p:nvPr/>
        </p:nvSpPr>
        <p:spPr>
          <a:xfrm>
            <a:off x="685800" y="1600200"/>
            <a:ext cx="6949440" cy="1920240"/>
          </a:xfrm>
          <a:prstGeom prst="rect">
            <a:avLst/>
          </a:prstGeom>
          <a:noFill/>
        </p:spPr>
        <p:txBody>
          <a:bodyPr wrap="square" anchor="t" lIns="45720" rIns="45720" tIns="18288" bIns="18288"/>
          <a:lstStyle/>
          <a:p>
            <a:pPr>
              <a:spcBef>
                <a:spcPts val="0"/>
              </a:spcBef>
              <a:buNone/>
            </a:pPr>
            <a:r>
              <a:rPr sz="3800" b="1">
                <a:solidFill>
                  <a:srgbClr val="C00000"/>
                </a:solidFill>
                <a:latin typeface="Roboto Black"/>
                <a:ea typeface="Roboto Black"/>
                <a:cs typeface="Roboto Black"/>
              </a:rPr>
              <a:t>Multi-Agent Systems &amp;</a:t>
            </a:r>
          </a:p>
          <a:p>
            <a:pPr>
              <a:spcBef>
                <a:spcPts val="0"/>
              </a:spcBef>
              <a:buNone/>
            </a:pPr>
            <a:r>
              <a:rPr sz="3800" b="1">
                <a:solidFill>
                  <a:srgbClr val="C00000"/>
                </a:solidFill>
                <a:latin typeface="Roboto Black"/>
                <a:ea typeface="Roboto Black"/>
                <a:cs typeface="Roboto Black"/>
              </a:rPr>
              <a:t>Collaborative Reasoning</a:t>
            </a:r>
          </a:p>
          <a:p>
            <a:pPr>
              <a:spcBef>
                <a:spcPts val="800"/>
              </a:spcBef>
              <a:buNone/>
            </a:pPr>
            <a:r>
              <a:rPr sz="1900" b="1">
                <a:solidFill>
                  <a:srgbClr val="003366"/>
                </a:solidFill>
                <a:latin typeface="Roboto Black"/>
                <a:ea typeface="Roboto Black"/>
                <a:cs typeface="Roboto Black"/>
              </a:rPr>
              <a:t>Khảo sát, phân tích và đánh giá 8 nghiên cứu năm 2026</a:t>
            </a:r>
          </a:p>
          <a:p>
            <a:pPr>
              <a:spcBef>
                <a:spcPts val="400"/>
              </a:spcBef>
              <a:buNone/>
            </a:pPr>
            <a:r>
              <a:rPr sz="1400" b="0">
                <a:solidFill>
                  <a:srgbClr val="666666"/>
                </a:solidFill>
                <a:latin typeface="Roboto Medium"/>
                <a:ea typeface="Roboto Medium"/>
                <a:cs typeface="Roboto Medium"/>
              </a:rPr>
              <a:t>Báo cáo Bài tập lớn · Hình thức tiểu luận · Chủ đề số 3</a:t>
            </a:r>
          </a:p>
        </p:txBody>
      </p:sp>
      <p:sp>
        <p:nvSpPr>
          <p:cNvPr id="5" name="TextBox 4"/>
          <p:cNvSpPr txBox="1"/>
          <p:nvPr/>
        </p:nvSpPr>
        <p:spPr>
          <a:xfrm>
            <a:off x="685800" y="3977639"/>
            <a:ext cx="3017520" cy="150876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Nhóm thực hiện</a:t>
            </a:r>
          </a:p>
          <a:p>
            <a:pPr>
              <a:spcBef>
                <a:spcPts val="300"/>
              </a:spcBef>
              <a:buNone/>
            </a:pPr>
            <a:r>
              <a:rPr sz="1500" b="0">
                <a:solidFill>
                  <a:srgbClr val="222222"/>
                </a:solidFill>
                <a:latin typeface="Roboto Medium"/>
                <a:ea typeface="Roboto Medium"/>
                <a:cs typeface="Roboto Medium"/>
              </a:rPr>
              <a:t>Trần Xuân Hương</a:t>
            </a:r>
          </a:p>
          <a:p>
            <a:pPr>
              <a:spcBef>
                <a:spcPts val="300"/>
              </a:spcBef>
              <a:buNone/>
            </a:pPr>
            <a:r>
              <a:rPr sz="1500" b="0">
                <a:solidFill>
                  <a:srgbClr val="222222"/>
                </a:solidFill>
                <a:latin typeface="Roboto Medium"/>
                <a:ea typeface="Roboto Medium"/>
                <a:cs typeface="Roboto Medium"/>
              </a:rPr>
              <a:t>Vũ Tùng Dương</a:t>
            </a:r>
          </a:p>
          <a:p>
            <a:pPr>
              <a:spcBef>
                <a:spcPts val="300"/>
              </a:spcBef>
              <a:buNone/>
            </a:pPr>
            <a:r>
              <a:rPr sz="1500" b="0">
                <a:solidFill>
                  <a:srgbClr val="222222"/>
                </a:solidFill>
                <a:latin typeface="Roboto Medium"/>
                <a:ea typeface="Roboto Medium"/>
                <a:cs typeface="Roboto Medium"/>
              </a:rPr>
              <a:t>Phạm Việt Dũng</a:t>
            </a:r>
          </a:p>
          <a:p>
            <a:pPr>
              <a:spcBef>
                <a:spcPts val="300"/>
              </a:spcBef>
              <a:buNone/>
            </a:pPr>
            <a:r>
              <a:rPr sz="1500" b="0">
                <a:solidFill>
                  <a:srgbClr val="222222"/>
                </a:solidFill>
                <a:latin typeface="Roboto Medium"/>
                <a:ea typeface="Roboto Medium"/>
                <a:cs typeface="Roboto Medium"/>
              </a:rPr>
              <a:t>Lê Văn Đức</a:t>
            </a:r>
          </a:p>
        </p:txBody>
      </p:sp>
      <p:sp>
        <p:nvSpPr>
          <p:cNvPr id="6" name="TextBox 5"/>
          <p:cNvSpPr txBox="1"/>
          <p:nvPr/>
        </p:nvSpPr>
        <p:spPr>
          <a:xfrm>
            <a:off x="3794760" y="3977639"/>
            <a:ext cx="3291840" cy="82296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Giảng viên hướng dẫn</a:t>
            </a:r>
          </a:p>
          <a:p>
            <a:pPr>
              <a:spcBef>
                <a:spcPts val="300"/>
              </a:spcBef>
              <a:buNone/>
            </a:pPr>
            <a:r>
              <a:rPr sz="1500" b="0">
                <a:solidFill>
                  <a:srgbClr val="222222"/>
                </a:solidFill>
                <a:latin typeface="Roboto Medium"/>
                <a:ea typeface="Roboto Medium"/>
                <a:cs typeface="Roboto Medium"/>
              </a:rPr>
              <a:t>PGS.TS. Lê Thanh Hương</a:t>
            </a:r>
          </a:p>
        </p:txBody>
      </p:sp>
      <p:sp>
        <p:nvSpPr>
          <p:cNvPr id="7" name="TextBox 6"/>
          <p:cNvSpPr txBox="1"/>
          <p:nvPr/>
        </p:nvSpPr>
        <p:spPr>
          <a:xfrm>
            <a:off x="685800" y="5532120"/>
            <a:ext cx="6858000" cy="36576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Học phần IT4772 – Xử lý ngôn ngữ tự nhiên · Đại học Bách khoa Hà Nội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Nội dung trình bày</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23444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23444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1</a:t>
            </a:r>
          </a:p>
        </p:txBody>
      </p:sp>
      <p:sp>
        <p:nvSpPr>
          <p:cNvPr id="10" name="TextBox 9"/>
          <p:cNvSpPr txBox="1"/>
          <p:nvPr/>
        </p:nvSpPr>
        <p:spPr>
          <a:xfrm>
            <a:off x="1234440" y="128016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Giới thiệu</a:t>
            </a:r>
          </a:p>
          <a:p>
            <a:pPr>
              <a:spcBef>
                <a:spcPts val="400"/>
              </a:spcBef>
              <a:buNone/>
            </a:pPr>
            <a:r>
              <a:rPr sz="1500" b="0">
                <a:solidFill>
                  <a:srgbClr val="666666"/>
                </a:solidFill>
                <a:latin typeface="Roboto Medium"/>
                <a:ea typeface="Roboto Medium"/>
                <a:cs typeface="Roboto Medium"/>
              </a:rPr>
              <a:t>Bối cảnh, 4 thách thức, cách chọn 8 paper, taxonomy</a:t>
            </a:r>
          </a:p>
        </p:txBody>
      </p:sp>
      <p:sp>
        <p:nvSpPr>
          <p:cNvPr id="11" name="Rounded Rectangle 10"/>
          <p:cNvSpPr/>
          <p:nvPr/>
        </p:nvSpPr>
        <p:spPr>
          <a:xfrm>
            <a:off x="6172200" y="123444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72200" y="123444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2</a:t>
            </a:r>
          </a:p>
        </p:txBody>
      </p:sp>
      <p:sp>
        <p:nvSpPr>
          <p:cNvPr id="13" name="TextBox 12"/>
          <p:cNvSpPr txBox="1"/>
          <p:nvPr/>
        </p:nvSpPr>
        <p:spPr>
          <a:xfrm>
            <a:off x="6995160" y="128016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Safety &amp; Robustness</a:t>
            </a:r>
          </a:p>
          <a:p>
            <a:pPr>
              <a:spcBef>
                <a:spcPts val="400"/>
              </a:spcBef>
              <a:buNone/>
            </a:pPr>
            <a:r>
              <a:rPr sz="1500" b="0">
                <a:solidFill>
                  <a:srgbClr val="666666"/>
                </a:solidFill>
                <a:latin typeface="Roboto Medium"/>
                <a:ea typeface="Roboto Medium"/>
                <a:cs typeface="Roboto Medium"/>
              </a:rPr>
              <a:t>MIRAGE · TIDE</a:t>
            </a:r>
          </a:p>
        </p:txBody>
      </p:sp>
      <p:sp>
        <p:nvSpPr>
          <p:cNvPr id="14" name="Rounded Rectangle 13"/>
          <p:cNvSpPr/>
          <p:nvPr/>
        </p:nvSpPr>
        <p:spPr>
          <a:xfrm>
            <a:off x="411480" y="278892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1480" y="278892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3</a:t>
            </a:r>
          </a:p>
        </p:txBody>
      </p:sp>
      <p:sp>
        <p:nvSpPr>
          <p:cNvPr id="16" name="TextBox 15"/>
          <p:cNvSpPr txBox="1"/>
          <p:nvPr/>
        </p:nvSpPr>
        <p:spPr>
          <a:xfrm>
            <a:off x="1234440" y="2834639"/>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Orchestration &amp; Control</a:t>
            </a:r>
          </a:p>
          <a:p>
            <a:pPr>
              <a:spcBef>
                <a:spcPts val="400"/>
              </a:spcBef>
              <a:buNone/>
            </a:pPr>
            <a:r>
              <a:rPr sz="1500" b="0">
                <a:solidFill>
                  <a:srgbClr val="666666"/>
                </a:solidFill>
                <a:latin typeface="Roboto Medium"/>
                <a:ea typeface="Roboto Medium"/>
                <a:cs typeface="Roboto Medium"/>
              </a:rPr>
              <a:t>ProgRouter · HalluProp</a:t>
            </a:r>
          </a:p>
        </p:txBody>
      </p:sp>
      <p:sp>
        <p:nvSpPr>
          <p:cNvPr id="17" name="Rounded Rectangle 16"/>
          <p:cNvSpPr/>
          <p:nvPr/>
        </p:nvSpPr>
        <p:spPr>
          <a:xfrm>
            <a:off x="6172200" y="278892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72200" y="278892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4</a:t>
            </a:r>
          </a:p>
        </p:txBody>
      </p:sp>
      <p:sp>
        <p:nvSpPr>
          <p:cNvPr id="19" name="TextBox 18"/>
          <p:cNvSpPr txBox="1"/>
          <p:nvPr/>
        </p:nvSpPr>
        <p:spPr>
          <a:xfrm>
            <a:off x="6995160" y="2834639"/>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Communication &amp; Interaction</a:t>
            </a:r>
          </a:p>
          <a:p>
            <a:pPr>
              <a:spcBef>
                <a:spcPts val="400"/>
              </a:spcBef>
              <a:buNone/>
            </a:pPr>
            <a:r>
              <a:rPr sz="1500" b="0">
                <a:solidFill>
                  <a:srgbClr val="666666"/>
                </a:solidFill>
                <a:latin typeface="Roboto Medium"/>
                <a:ea typeface="Roboto Medium"/>
                <a:cs typeface="Roboto Medium"/>
              </a:rPr>
              <a:t>DAIN · AGENT-RADAR</a:t>
            </a:r>
          </a:p>
        </p:txBody>
      </p:sp>
      <p:sp>
        <p:nvSpPr>
          <p:cNvPr id="20" name="Rounded Rectangle 19"/>
          <p:cNvSpPr/>
          <p:nvPr/>
        </p:nvSpPr>
        <p:spPr>
          <a:xfrm>
            <a:off x="411480" y="434340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11480" y="434340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5</a:t>
            </a:r>
          </a:p>
        </p:txBody>
      </p:sp>
      <p:sp>
        <p:nvSpPr>
          <p:cNvPr id="22" name="TextBox 21"/>
          <p:cNvSpPr txBox="1"/>
          <p:nvPr/>
        </p:nvSpPr>
        <p:spPr>
          <a:xfrm>
            <a:off x="1234440" y="438912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Domain Applications</a:t>
            </a:r>
          </a:p>
          <a:p>
            <a:pPr>
              <a:spcBef>
                <a:spcPts val="400"/>
              </a:spcBef>
              <a:buNone/>
            </a:pPr>
            <a:r>
              <a:rPr sz="1500" b="0">
                <a:solidFill>
                  <a:srgbClr val="666666"/>
                </a:solidFill>
                <a:latin typeface="Roboto Medium"/>
                <a:ea typeface="Roboto Medium"/>
                <a:cs typeface="Roboto Medium"/>
              </a:rPr>
              <a:t>MAC-RRG · UrbanAgent</a:t>
            </a:r>
          </a:p>
        </p:txBody>
      </p:sp>
      <p:sp>
        <p:nvSpPr>
          <p:cNvPr id="23" name="Rounded Rectangle 22"/>
          <p:cNvSpPr/>
          <p:nvPr/>
        </p:nvSpPr>
        <p:spPr>
          <a:xfrm>
            <a:off x="6172200" y="434340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72200" y="434340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6</a:t>
            </a:r>
          </a:p>
        </p:txBody>
      </p:sp>
      <p:sp>
        <p:nvSpPr>
          <p:cNvPr id="25" name="TextBox 24"/>
          <p:cNvSpPr txBox="1"/>
          <p:nvPr/>
        </p:nvSpPr>
        <p:spPr>
          <a:xfrm>
            <a:off x="6995160" y="438912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So sánh &amp; kết luận</a:t>
            </a:r>
          </a:p>
          <a:p>
            <a:pPr>
              <a:spcBef>
                <a:spcPts val="400"/>
              </a:spcBef>
              <a:buNone/>
            </a:pPr>
            <a:r>
              <a:rPr sz="1500" b="0">
                <a:solidFill>
                  <a:srgbClr val="666666"/>
                </a:solidFill>
                <a:latin typeface="Roboto Medium"/>
                <a:ea typeface="Roboto Medium"/>
                <a:cs typeface="Roboto Medium"/>
              </a:rPr>
              <a:t>So sánh hệ thống, research gap, hướng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1.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01</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1</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Giới thiệu</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LLM-based Multi-Agent System</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Bốn thách thức chính</a:t>
            </a:r>
          </a:p>
        </p:txBody>
      </p:sp>
      <p:sp>
        <p:nvSpPr>
          <p:cNvPr id="14" name="Rounded Rectangle 13"/>
          <p:cNvSpPr/>
          <p:nvPr/>
        </p:nvSpPr>
        <p:spPr>
          <a:xfrm>
            <a:off x="841248" y="49103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49103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3</a:t>
            </a:r>
          </a:p>
        </p:txBody>
      </p:sp>
      <p:sp>
        <p:nvSpPr>
          <p:cNvPr id="16" name="TextBox 15"/>
          <p:cNvSpPr txBox="1"/>
          <p:nvPr/>
        </p:nvSpPr>
        <p:spPr>
          <a:xfrm>
            <a:off x="1261872" y="48646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Cách chọn 8 paper</a:t>
            </a:r>
          </a:p>
        </p:txBody>
      </p:sp>
      <p:sp>
        <p:nvSpPr>
          <p:cNvPr id="17" name="Rounded Rectangle 16"/>
          <p:cNvSpPr/>
          <p:nvPr/>
        </p:nvSpPr>
        <p:spPr>
          <a:xfrm>
            <a:off x="841248" y="53675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53675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4</a:t>
            </a:r>
          </a:p>
        </p:txBody>
      </p:sp>
      <p:sp>
        <p:nvSpPr>
          <p:cNvPr id="19" name="TextBox 18"/>
          <p:cNvSpPr txBox="1"/>
          <p:nvPr/>
        </p:nvSpPr>
        <p:spPr>
          <a:xfrm>
            <a:off x="1261872" y="53218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Taxonomy bốn hướng nghiên cứu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LLM-based MAS: nhiều agent cùng suy luận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4</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60120"/>
            <a:ext cx="6035040" cy="4937760"/>
          </a:xfrm>
          <a:prstGeom prst="rect">
            <a:avLst/>
          </a:prstGeom>
          <a:noFill/>
        </p:spPr>
        <p:txBody>
          <a:bodyPr wrap="square" anchor="t" lIns="45720" rIns="45720" tIns="18288" bIns="18288"/>
          <a:lstStyle/>
          <a:p>
            <a:pPr>
              <a:spcBef>
                <a:spcPts val="0"/>
              </a:spcBef>
              <a:buNone/>
            </a:pPr>
            <a:r>
              <a:rPr sz="2200" b="1">
                <a:solidFill>
                  <a:srgbClr val="003366"/>
                </a:solidFill>
                <a:latin typeface="Roboto Black"/>
                <a:ea typeface="Roboto Black"/>
                <a:cs typeface="Roboto Black"/>
              </a:rPr>
              <a:t>Ý tưởng</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Mỗi </a:t>
            </a:r>
            <a:r>
              <a:rPr sz="1800" b="1">
                <a:solidFill>
                  <a:srgbClr val="003366"/>
                </a:solidFill>
                <a:latin typeface="Roboto Black"/>
                <a:ea typeface="Roboto Black"/>
                <a:cs typeface="Roboto Black"/>
              </a:rPr>
              <a:t>agent</a:t>
            </a:r>
            <a:r>
              <a:rPr sz="1800" b="0">
                <a:solidFill>
                  <a:srgbClr val="222222"/>
                </a:solidFill>
                <a:latin typeface="Roboto Medium"/>
                <a:ea typeface="Roboto Medium"/>
                <a:cs typeface="Roboto Medium"/>
              </a:rPr>
              <a:t> = backbone LLM + role prompt + (tùy chọn) tool.</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Các agent trao đổi message để cùng giải bài toán: planner, coder, critic, verifier…</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Framework tiêu biểu: CAMEL, AutoGen, MetaGPT, multi-agent debate.</a:t>
            </a:r>
          </a:p>
          <a:p>
            <a:pPr>
              <a:spcBef>
                <a:spcPts val="1800"/>
              </a:spcBef>
              <a:buNone/>
            </a:pPr>
            <a:r>
              <a:rPr sz="2200" b="1">
                <a:solidFill>
                  <a:srgbClr val="003366"/>
                </a:solidFill>
                <a:latin typeface="Roboto Black"/>
                <a:ea typeface="Roboto Black"/>
                <a:cs typeface="Roboto Black"/>
              </a:rPr>
              <a:t>Câu hỏi nghiên cứu năm 2026</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Không còn là “cộng tác có giúp không?” mà là:</a:t>
            </a:r>
          </a:p>
          <a:p>
            <a:pPr marL="141732" indent="-141732">
              <a:spcBef>
                <a:spcPts val="800"/>
              </a:spcBef>
              <a:buClr>
                <a:srgbClr val="C00000"/>
              </a:buClr>
              <a:buFont typeface="Arial"/>
              <a:buChar char="•"/>
            </a:pPr>
            <a:r>
              <a:rPr sz="1800" b="1">
                <a:solidFill>
                  <a:srgbClr val="003366"/>
                </a:solidFill>
                <a:latin typeface="Roboto Black"/>
                <a:ea typeface="Roboto Black"/>
                <a:cs typeface="Roboto Black"/>
              </a:rPr>
              <a:t>hiệu quả</a:t>
            </a:r>
            <a:r>
              <a:rPr sz="1800" b="0">
                <a:solidFill>
                  <a:srgbClr val="222222"/>
                </a:solidFill>
                <a:latin typeface="Roboto Medium"/>
                <a:ea typeface="Roboto Medium"/>
                <a:cs typeface="Roboto Medium"/>
              </a:rPr>
              <a:t> chi phí · </a:t>
            </a:r>
            <a:r>
              <a:rPr sz="1800" b="1">
                <a:solidFill>
                  <a:srgbClr val="003366"/>
                </a:solidFill>
                <a:latin typeface="Roboto Black"/>
                <a:ea typeface="Roboto Black"/>
                <a:cs typeface="Roboto Black"/>
              </a:rPr>
              <a:t>luồng thông tin</a:t>
            </a:r>
            <a:r>
              <a:rPr sz="1800" b="0">
                <a:solidFill>
                  <a:srgbClr val="222222"/>
                </a:solidFill>
                <a:latin typeface="Roboto Medium"/>
                <a:ea typeface="Roboto Medium"/>
                <a:cs typeface="Roboto Medium"/>
              </a:rPr>
              <a:t> · </a:t>
            </a:r>
            <a:r>
              <a:rPr sz="1800" b="1">
                <a:solidFill>
                  <a:srgbClr val="003366"/>
                </a:solidFill>
                <a:latin typeface="Roboto Black"/>
                <a:ea typeface="Roboto Black"/>
                <a:cs typeface="Roboto Black"/>
              </a:rPr>
              <a:t>an toàn</a:t>
            </a:r>
            <a:r>
              <a:rPr sz="1800" b="0">
                <a:solidFill>
                  <a:srgbClr val="222222"/>
                </a:solidFill>
                <a:latin typeface="Roboto Medium"/>
                <a:ea typeface="Roboto Medium"/>
                <a:cs typeface="Roboto Medium"/>
              </a:rPr>
              <a:t> · </a:t>
            </a:r>
            <a:r>
              <a:rPr sz="1800" b="1">
                <a:solidFill>
                  <a:srgbClr val="003366"/>
                </a:solidFill>
                <a:latin typeface="Roboto Black"/>
                <a:ea typeface="Roboto Black"/>
                <a:cs typeface="Roboto Black"/>
              </a:rPr>
              <a:t>ứng dụng</a:t>
            </a:r>
            <a:r>
              <a:rPr sz="1800" b="0">
                <a:solidFill>
                  <a:srgbClr val="222222"/>
                </a:solidFill>
                <a:latin typeface="Roboto Medium"/>
                <a:ea typeface="Roboto Medium"/>
                <a:cs typeface="Roboto Medium"/>
              </a:rPr>
              <a:t> chuyên ngành.</a:t>
            </a:r>
          </a:p>
        </p:txBody>
      </p:sp>
      <p:sp>
        <p:nvSpPr>
          <p:cNvPr id="9" name="Rectangle 8"/>
          <p:cNvSpPr/>
          <p:nvPr/>
        </p:nvSpPr>
        <p:spPr>
          <a:xfrm>
            <a:off x="6675120" y="1051560"/>
            <a:ext cx="5074920" cy="28803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675120" y="1051560"/>
            <a:ext cx="507492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21424" y="1161288"/>
            <a:ext cx="4800600" cy="2697480"/>
          </a:xfrm>
          <a:prstGeom prst="rect">
            <a:avLst/>
          </a:prstGeom>
          <a:noFill/>
        </p:spPr>
        <p:txBody>
          <a:bodyPr wrap="square" anchor="t" lIns="45720" rIns="45720" tIns="18288" bIns="18288"/>
          <a:lstStyle/>
          <a:p>
            <a:pPr>
              <a:spcBef>
                <a:spcPts val="0"/>
              </a:spcBef>
              <a:buNone/>
            </a:pPr>
            <a:r>
              <a:rPr sz="1950" b="1">
                <a:solidFill>
                  <a:srgbClr val="003366"/>
                </a:solidFill>
                <a:latin typeface="Roboto Black"/>
                <a:ea typeface="Roboto Black"/>
                <a:cs typeface="Roboto Black"/>
              </a:rPr>
              <a:t>MAS = communication graph</a:t>
            </a:r>
          </a:p>
          <a:p>
            <a:pPr>
              <a:spcBef>
                <a:spcPts val="600"/>
              </a:spcBef>
              <a:buNone/>
            </a:pPr>
            <a:r>
              <a:rPr sz="1700" b="0">
                <a:solidFill>
                  <a:srgbClr val="222222"/>
                </a:solidFill>
                <a:latin typeface="Roboto Medium"/>
                <a:ea typeface="Roboto Medium"/>
                <a:cs typeface="Roboto Medium"/>
              </a:rPr>
              <a:t>Node là agent; cạnh v_j → v_i nghĩa là output của v_j làm context cho v_i.</a:t>
            </a:r>
          </a:p>
          <a:p>
            <a:pPr algn="ctr">
              <a:spcBef>
                <a:spcPts val="800"/>
              </a:spcBef>
              <a:buNone/>
            </a:pPr>
            <a:r>
              <a:rPr sz="2000" b="1">
                <a:solidFill>
                  <a:srgbClr val="003366"/>
                </a:solidFill>
                <a:latin typeface="Roboto Black"/>
                <a:ea typeface="Roboto Black"/>
                <a:cs typeface="Roboto Black"/>
              </a:rPr>
              <a:t>r_i = LLM(p_i, q, O_i)</a:t>
            </a:r>
          </a:p>
          <a:p>
            <a:pPr>
              <a:spcBef>
                <a:spcPts val="800"/>
              </a:spcBef>
              <a:buNone/>
            </a:pPr>
            <a:r>
              <a:rPr sz="1700" b="0">
                <a:solidFill>
                  <a:srgbClr val="222222"/>
                </a:solidFill>
                <a:latin typeface="Roboto Medium"/>
                <a:ea typeface="Roboto Medium"/>
                <a:cs typeface="Roboto Medium"/>
              </a:rPr>
              <a:t>Topology quyết định hiệu năng → có thể tối ưu (GPTSwarm, G-Designer) hoặc cắt tỉa (AgentPrune).</a:t>
            </a:r>
          </a:p>
        </p:txBody>
      </p:sp>
      <p:sp>
        <p:nvSpPr>
          <p:cNvPr id="12" name="Rectangle 11"/>
          <p:cNvSpPr/>
          <p:nvPr/>
        </p:nvSpPr>
        <p:spPr>
          <a:xfrm>
            <a:off x="6675120" y="4114800"/>
            <a:ext cx="5074920" cy="178308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675120" y="4114800"/>
            <a:ext cx="50749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21424" y="4224528"/>
            <a:ext cx="4800600" cy="1600200"/>
          </a:xfrm>
          <a:prstGeom prst="rect">
            <a:avLst/>
          </a:prstGeom>
          <a:noFill/>
        </p:spPr>
        <p:txBody>
          <a:bodyPr wrap="square" anchor="t" lIns="45720" rIns="45720" tIns="18288" bIns="18288"/>
          <a:lstStyle/>
          <a:p>
            <a:pPr>
              <a:spcBef>
                <a:spcPts val="0"/>
              </a:spcBef>
              <a:buNone/>
            </a:pPr>
            <a:r>
              <a:rPr sz="1950" b="1">
                <a:solidFill>
                  <a:srgbClr val="C00000"/>
                </a:solidFill>
                <a:latin typeface="Roboto Black"/>
                <a:ea typeface="Roboto Black"/>
                <a:cs typeface="Roboto Black"/>
              </a:rPr>
              <a:t>Vì sao topology quan trọng?</a:t>
            </a:r>
          </a:p>
          <a:p>
            <a:pPr>
              <a:spcBef>
                <a:spcPts val="600"/>
              </a:spcBef>
              <a:buNone/>
            </a:pPr>
            <a:r>
              <a:rPr sz="1700" b="0">
                <a:solidFill>
                  <a:srgbClr val="222222"/>
                </a:solidFill>
                <a:latin typeface="Roboto Medium"/>
                <a:ea typeface="Roboto Medium"/>
                <a:cs typeface="Roboto Medium"/>
              </a:rPr>
              <a:t>Nó vừa là đòn bẩy hiệu năng, vừa là kênh lan truyền lỗi, vừa là bề mặt tấn công.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Bốn thách thức chính của MAS</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5</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05840"/>
            <a:ext cx="914400" cy="2194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0584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C1</a:t>
            </a:r>
          </a:p>
        </p:txBody>
      </p:sp>
      <p:sp>
        <p:nvSpPr>
          <p:cNvPr id="10" name="Rectangle 9"/>
          <p:cNvSpPr/>
          <p:nvPr/>
        </p:nvSpPr>
        <p:spPr>
          <a:xfrm>
            <a:off x="1463039" y="100584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00200" y="109728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Chi phí</a:t>
            </a:r>
          </a:p>
          <a:p>
            <a:pPr>
              <a:spcBef>
                <a:spcPts val="600"/>
              </a:spcBef>
              <a:buNone/>
            </a:pPr>
            <a:r>
              <a:rPr sz="1650" b="0">
                <a:solidFill>
                  <a:srgbClr val="222222"/>
                </a:solidFill>
                <a:latin typeface="Roboto Medium"/>
                <a:ea typeface="Roboto Medium"/>
                <a:cs typeface="Roboto Medium"/>
              </a:rPr>
              <a:t>Nhiều lần gọi LLM, context dài → token, năng lượng GPU, latency tăng nhanh.</a:t>
            </a:r>
          </a:p>
          <a:p>
            <a:pPr>
              <a:spcBef>
                <a:spcPts val="1000"/>
              </a:spcBef>
              <a:buNone/>
            </a:pPr>
            <a:r>
              <a:rPr sz="1600" b="1">
                <a:solidFill>
                  <a:srgbClr val="C00000"/>
                </a:solidFill>
                <a:latin typeface="Roboto Black"/>
                <a:ea typeface="Roboto Black"/>
                <a:cs typeface="Roboto Black"/>
              </a:rPr>
              <a:t>→ ProgRouter · DAIN</a:t>
            </a:r>
          </a:p>
        </p:txBody>
      </p:sp>
      <p:sp>
        <p:nvSpPr>
          <p:cNvPr id="12" name="Rounded Rectangle 11"/>
          <p:cNvSpPr/>
          <p:nvPr/>
        </p:nvSpPr>
        <p:spPr>
          <a:xfrm>
            <a:off x="6172200" y="1005840"/>
            <a:ext cx="914400" cy="21945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72200" y="100584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C2</a:t>
            </a:r>
          </a:p>
        </p:txBody>
      </p:sp>
      <p:sp>
        <p:nvSpPr>
          <p:cNvPr id="14" name="Rectangle 13"/>
          <p:cNvSpPr/>
          <p:nvPr/>
        </p:nvSpPr>
        <p:spPr>
          <a:xfrm>
            <a:off x="7223760" y="100584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60920" y="109728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Quá tải context</a:t>
            </a:r>
          </a:p>
          <a:p>
            <a:pPr>
              <a:spcBef>
                <a:spcPts val="600"/>
              </a:spcBef>
              <a:buNone/>
            </a:pPr>
            <a:r>
              <a:rPr sz="1650" b="0">
                <a:solidFill>
                  <a:srgbClr val="222222"/>
                </a:solidFill>
                <a:latin typeface="Roboto Medium"/>
                <a:ea typeface="Roboto Medium"/>
                <a:cs typeface="Roboto Medium"/>
              </a:rPr>
              <a:t>“Lost in the middle”; compaction hay pruning đều làm mất thông tin.</a:t>
            </a:r>
          </a:p>
          <a:p>
            <a:pPr>
              <a:spcBef>
                <a:spcPts val="1000"/>
              </a:spcBef>
              <a:buNone/>
            </a:pPr>
            <a:r>
              <a:rPr sz="1600" b="1">
                <a:solidFill>
                  <a:srgbClr val="C00000"/>
                </a:solidFill>
                <a:latin typeface="Roboto Black"/>
                <a:ea typeface="Roboto Black"/>
                <a:cs typeface="Roboto Black"/>
              </a:rPr>
              <a:t>→ AGENT-RADAR</a:t>
            </a:r>
          </a:p>
        </p:txBody>
      </p:sp>
      <p:sp>
        <p:nvSpPr>
          <p:cNvPr id="16" name="Rounded Rectangle 15"/>
          <p:cNvSpPr/>
          <p:nvPr/>
        </p:nvSpPr>
        <p:spPr>
          <a:xfrm>
            <a:off x="411480" y="3474720"/>
            <a:ext cx="914400" cy="21945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480" y="347472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C3</a:t>
            </a:r>
          </a:p>
        </p:txBody>
      </p:sp>
      <p:sp>
        <p:nvSpPr>
          <p:cNvPr id="18" name="Rectangle 17"/>
          <p:cNvSpPr/>
          <p:nvPr/>
        </p:nvSpPr>
        <p:spPr>
          <a:xfrm>
            <a:off x="1463039" y="347472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00200" y="356616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Lan truyền lỗi</a:t>
            </a:r>
          </a:p>
          <a:p>
            <a:pPr>
              <a:spcBef>
                <a:spcPts val="600"/>
              </a:spcBef>
              <a:buNone/>
            </a:pPr>
            <a:r>
              <a:rPr sz="1650" b="0">
                <a:solidFill>
                  <a:srgbClr val="222222"/>
                </a:solidFill>
                <a:latin typeface="Roboto Medium"/>
                <a:ea typeface="Roboto Medium"/>
                <a:cs typeface="Roboto Medium"/>
              </a:rPr>
              <a:t>Hallucination hoặc misinformation lan theo cạnh và bị khuếch đại.</a:t>
            </a:r>
          </a:p>
          <a:p>
            <a:pPr>
              <a:spcBef>
                <a:spcPts val="1000"/>
              </a:spcBef>
              <a:buNone/>
            </a:pPr>
            <a:r>
              <a:rPr sz="1600" b="1">
                <a:solidFill>
                  <a:srgbClr val="C00000"/>
                </a:solidFill>
                <a:latin typeface="Roboto Black"/>
                <a:ea typeface="Roboto Black"/>
                <a:cs typeface="Roboto Black"/>
              </a:rPr>
              <a:t>→ HalluProp · TIDE</a:t>
            </a:r>
          </a:p>
        </p:txBody>
      </p:sp>
      <p:sp>
        <p:nvSpPr>
          <p:cNvPr id="20" name="Rounded Rectangle 19"/>
          <p:cNvSpPr/>
          <p:nvPr/>
        </p:nvSpPr>
        <p:spPr>
          <a:xfrm>
            <a:off x="6172200" y="3474720"/>
            <a:ext cx="914400" cy="2194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72200" y="347472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C4</a:t>
            </a:r>
          </a:p>
        </p:txBody>
      </p:sp>
      <p:sp>
        <p:nvSpPr>
          <p:cNvPr id="22" name="Rectangle 21"/>
          <p:cNvSpPr/>
          <p:nvPr/>
        </p:nvSpPr>
        <p:spPr>
          <a:xfrm>
            <a:off x="7223760" y="347472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60920" y="356616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Bảo mật topology</a:t>
            </a:r>
          </a:p>
          <a:p>
            <a:pPr>
              <a:spcBef>
                <a:spcPts val="600"/>
              </a:spcBef>
              <a:buNone/>
            </a:pPr>
            <a:r>
              <a:rPr sz="1650" b="0">
                <a:solidFill>
                  <a:srgbClr val="222222"/>
                </a:solidFill>
                <a:latin typeface="Roboto Medium"/>
                <a:ea typeface="Roboto Medium"/>
                <a:cs typeface="Roboto Medium"/>
              </a:rPr>
              <a:t>Topology là tài sản trí tuệ; lộ topology → tấn công có chủ đích.</a:t>
            </a:r>
          </a:p>
          <a:p>
            <a:pPr>
              <a:spcBef>
                <a:spcPts val="1000"/>
              </a:spcBef>
              <a:buNone/>
            </a:pPr>
            <a:r>
              <a:rPr sz="1600" b="1">
                <a:solidFill>
                  <a:srgbClr val="C00000"/>
                </a:solidFill>
                <a:latin typeface="Roboto Black"/>
                <a:ea typeface="Roboto Black"/>
                <a:cs typeface="Roboto Black"/>
              </a:rPr>
              <a:t>→ MIRAGE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Tám paper được khảo sát</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6</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graphicFrame>
        <p:nvGraphicFramePr>
          <p:cNvPr id="8" name="Table 7"/>
          <p:cNvGraphicFramePr>
            <a:graphicFrameLocks noGrp="1"/>
          </p:cNvGraphicFramePr>
          <p:nvPr/>
        </p:nvGraphicFramePr>
        <p:xfrm>
          <a:off x="411480" y="960120"/>
          <a:ext cx="7680960" cy="4608576"/>
        </p:xfrm>
        <a:graphic>
          <a:graphicData uri="http://schemas.openxmlformats.org/drawingml/2006/table">
            <a:tbl>
              <a:tblPr firstRow="0" bandRow="0"/>
              <a:tblGrid>
                <a:gridCol w="411480"/>
                <a:gridCol w="1554480"/>
                <a:gridCol w="3291840"/>
                <a:gridCol w="731520"/>
                <a:gridCol w="1691640"/>
              </a:tblGrid>
              <a:tr h="512064">
                <a:tc>
                  <a:txBody>
                    <a:bodyPr wrap="square"/>
                    <a:lstStyle/>
                    <a:p>
                      <a:pPr>
                        <a:spcBef>
                          <a:spcPts val="0"/>
                        </a:spcBef>
                        <a:buNone/>
                      </a:pPr>
                      <a:r>
                        <a:rPr sz="1400" b="1">
                          <a:solidFill>
                            <a:srgbClr val="FFFFFF"/>
                          </a:solidFill>
                          <a:latin typeface="Roboto Black"/>
                          <a:ea typeface="Roboto Black"/>
                          <a:cs typeface="Roboto Black"/>
                        </a:rPr>
                        <a:t>#</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Paper</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Chủ đề chính</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Nộp</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Nhóm</a:t>
                      </a:r>
                    </a:p>
                  </a:txBody>
                  <a:tcPr marL="54864" marR="54864" marT="27432" marB="27432" anchor="ctr">
                    <a:solidFill>
                      <a:srgbClr val="003366"/>
                    </a:solidFill>
                  </a:tcPr>
                </a:tc>
              </a:tr>
              <a:tr h="512064">
                <a:tc>
                  <a:txBody>
                    <a:bodyPr wrap="square"/>
                    <a:lstStyle/>
                    <a:p>
                      <a:pPr>
                        <a:spcBef>
                          <a:spcPts val="0"/>
                        </a:spcBef>
                        <a:buNone/>
                      </a:pPr>
                      <a:r>
                        <a:rPr sz="1400" b="1">
                          <a:solidFill>
                            <a:srgbClr val="003366"/>
                          </a:solidFill>
                          <a:latin typeface="Roboto Black"/>
                          <a:ea typeface="Roboto Black"/>
                          <a:cs typeface="Roboto Black"/>
                        </a:rPr>
                        <a:t>1</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MIRAGE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Che giấu topology bằng phantom structure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29/09</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Safety</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2</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MAC-RRG</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Multi-agent cho radiology report generation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20/09</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Application</a:t>
                      </a:r>
                    </a:p>
                  </a:txBody>
                  <a:tcPr marL="54864" marR="54864" marT="27432" marB="27432" anchor="ctr">
                    <a:solidFill>
                      <a:srgbClr val="F3F6FB"/>
                    </a:solidFill>
                  </a:tcPr>
                </a:tc>
              </a:tr>
              <a:tr h="512064">
                <a:tc>
                  <a:txBody>
                    <a:bodyPr wrap="square"/>
                    <a:lstStyle/>
                    <a:p>
                      <a:pPr>
                        <a:spcBef>
                          <a:spcPts val="0"/>
                        </a:spcBef>
                        <a:buNone/>
                      </a:pPr>
                      <a:r>
                        <a:rPr sz="1400" b="1">
                          <a:solidFill>
                            <a:srgbClr val="003366"/>
                          </a:solidFill>
                          <a:latin typeface="Roboto Black"/>
                          <a:ea typeface="Roboto Black"/>
                          <a:cs typeface="Roboto Black"/>
                        </a:rPr>
                        <a:t>3</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ProgRouter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Routing LLM theo tiến độ, có ngân sách</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26/08</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Orchestration</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4</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TIDE</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Misinformation khi sự thật bị phân tán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04/08</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Safety</a:t>
                      </a:r>
                    </a:p>
                  </a:txBody>
                  <a:tcPr marL="54864" marR="54864" marT="27432" marB="27432" anchor="ctr">
                    <a:solidFill>
                      <a:srgbClr val="F3F6FB"/>
                    </a:solidFill>
                  </a:tcPr>
                </a:tc>
              </a:tr>
              <a:tr h="512064">
                <a:tc>
                  <a:txBody>
                    <a:bodyPr wrap="square"/>
                    <a:lstStyle/>
                    <a:p>
                      <a:pPr>
                        <a:spcBef>
                          <a:spcPts val="0"/>
                        </a:spcBef>
                        <a:buNone/>
                      </a:pPr>
                      <a:r>
                        <a:rPr sz="1400" b="1">
                          <a:solidFill>
                            <a:srgbClr val="003366"/>
                          </a:solidFill>
                          <a:latin typeface="Roboto Black"/>
                          <a:ea typeface="Roboto Black"/>
                          <a:cs typeface="Roboto Black"/>
                        </a:rPr>
                        <a:t>5</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HalluProp</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Dự báo rủi ro hallucination pre-hoc</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29/07</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Orchestration</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6</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UrbanAgent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Urban region profiling (KDD’26)</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15/07</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Application</a:t>
                      </a:r>
                    </a:p>
                  </a:txBody>
                  <a:tcPr marL="54864" marR="54864" marT="27432" marB="27432" anchor="ctr">
                    <a:solidFill>
                      <a:srgbClr val="F3F6FB"/>
                    </a:solidFill>
                  </a:tcPr>
                </a:tc>
              </a:tr>
              <a:tr h="512064">
                <a:tc>
                  <a:txBody>
                    <a:bodyPr wrap="square"/>
                    <a:lstStyle/>
                    <a:p>
                      <a:pPr>
                        <a:spcBef>
                          <a:spcPts val="0"/>
                        </a:spcBef>
                        <a:buNone/>
                      </a:pPr>
                      <a:r>
                        <a:rPr sz="1400" b="1">
                          <a:solidFill>
                            <a:srgbClr val="003366"/>
                          </a:solidFill>
                          <a:latin typeface="Roboto Black"/>
                          <a:ea typeface="Roboto Black"/>
                          <a:cs typeface="Roboto Black"/>
                        </a:rPr>
                        <a:t>7</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DAIN</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Dynamic agent interaction network</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29/06</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Communication</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8</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AGENT-RADAR</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Attention steering cho MAS</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28/05</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Communication</a:t>
                      </a:r>
                    </a:p>
                  </a:txBody>
                  <a:tcPr marL="54864" marR="54864" marT="27432" marB="27432" anchor="ctr">
                    <a:solidFill>
                      <a:srgbClr val="F3F6FB"/>
                    </a:solidFill>
                  </a:tcPr>
                </a:tc>
              </a:tr>
            </a:tbl>
          </a:graphicData>
        </a:graphic>
      </p:graphicFrame>
      <p:sp>
        <p:nvSpPr>
          <p:cNvPr id="9" name="Rectangle 8"/>
          <p:cNvSpPr/>
          <p:nvPr/>
        </p:nvSpPr>
        <p:spPr>
          <a:xfrm>
            <a:off x="8321040" y="960120"/>
            <a:ext cx="3456432" cy="4617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321040" y="960120"/>
            <a:ext cx="345643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67344" y="1069848"/>
            <a:ext cx="3182112" cy="443484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Cách chọn bài</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Nguồn: </a:t>
            </a:r>
            <a:r>
              <a:rPr sz="1600" b="1">
                <a:solidFill>
                  <a:srgbClr val="003366"/>
                </a:solidFill>
                <a:latin typeface="Roboto Black"/>
                <a:ea typeface="Roboto Black"/>
                <a:cs typeface="Roboto Black"/>
              </a:rPr>
              <a:t>arXiv</a:t>
            </a:r>
            <a:r>
              <a:rPr sz="1600" b="0">
                <a:solidFill>
                  <a:srgbClr val="222222"/>
                </a:solidFill>
                <a:latin typeface="Roboto Medium"/>
                <a:ea typeface="Roboto Medium"/>
                <a:cs typeface="Roboto Medium"/>
              </a:rPr>
              <a:t>.</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Abstract chứa “multi-agent” và “collaborative reasoning”.</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Lấy </a:t>
            </a:r>
            <a:r>
              <a:rPr sz="1600" b="1">
                <a:solidFill>
                  <a:srgbClr val="003366"/>
                </a:solidFill>
                <a:latin typeface="Roboto Black"/>
                <a:ea typeface="Roboto Black"/>
                <a:cs typeface="Roboto Black"/>
              </a:rPr>
              <a:t>8 bài mới nhất</a:t>
            </a:r>
            <a:r>
              <a:rPr sz="1600" b="0">
                <a:solidFill>
                  <a:srgbClr val="222222"/>
                </a:solidFill>
                <a:latin typeface="Roboto Medium"/>
                <a:ea typeface="Roboto Medium"/>
                <a:cs typeface="Roboto Medium"/>
              </a:rPr>
              <a:t> (05–09/2026).</a:t>
            </a:r>
          </a:p>
          <a:p>
            <a:pPr>
              <a:spcBef>
                <a:spcPts val="1400"/>
              </a:spcBef>
              <a:buNone/>
            </a:pPr>
            <a:r>
              <a:rPr sz="1900" b="1">
                <a:solidFill>
                  <a:srgbClr val="C00000"/>
                </a:solidFill>
                <a:latin typeface="Roboto Black"/>
                <a:ea typeface="Roboto Black"/>
                <a:cs typeface="Roboto Black"/>
              </a:rPr>
              <a:t>Lưu ý</a:t>
            </a:r>
          </a:p>
          <a:p>
            <a:pPr marL="125984" indent="-125984">
              <a:spcBef>
                <a:spcPts val="600"/>
              </a:spcBef>
              <a:buClr>
                <a:srgbClr val="C00000"/>
              </a:buClr>
              <a:buFont typeface="Arial"/>
              <a:buChar char="•"/>
            </a:pPr>
            <a:r>
              <a:rPr sz="1600" b="1">
                <a:solidFill>
                  <a:srgbClr val="C00000"/>
                </a:solidFill>
                <a:latin typeface="Roboto Black"/>
                <a:ea typeface="Roboto Black"/>
                <a:cs typeface="Roboto Black"/>
              </a:rPr>
              <a:t>7/8</a:t>
            </a:r>
            <a:r>
              <a:rPr sz="1600" b="0">
                <a:solidFill>
                  <a:srgbClr val="222222"/>
                </a:solidFill>
                <a:latin typeface="Roboto Medium"/>
                <a:ea typeface="Roboto Medium"/>
                <a:cs typeface="Roboto Medium"/>
              </a:rPr>
              <a:t> là preprint; chỉ UrbanAgent đã được nhận ở KDD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Taxonomy: bốn hướng nghiên cứu</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7</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ectangle 7"/>
          <p:cNvSpPr/>
          <p:nvPr/>
        </p:nvSpPr>
        <p:spPr>
          <a:xfrm>
            <a:off x="411480"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11480" y="1005840"/>
            <a:ext cx="269748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Safety &amp; Robustness</a:t>
            </a:r>
          </a:p>
        </p:txBody>
      </p:sp>
      <p:sp>
        <p:nvSpPr>
          <p:cNvPr id="11" name="TextBox 10"/>
          <p:cNvSpPr txBox="1"/>
          <p:nvPr/>
        </p:nvSpPr>
        <p:spPr>
          <a:xfrm>
            <a:off x="521208"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Hệ thống có chống chịu được tấn công và thông tin sai?</a:t>
            </a:r>
          </a:p>
        </p:txBody>
      </p:sp>
      <p:sp>
        <p:nvSpPr>
          <p:cNvPr id="12" name="Rounded Rectangle 11"/>
          <p:cNvSpPr/>
          <p:nvPr/>
        </p:nvSpPr>
        <p:spPr>
          <a:xfrm>
            <a:off x="548640"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#1 MIRAGE</a:t>
            </a:r>
          </a:p>
        </p:txBody>
      </p:sp>
      <p:sp>
        <p:nvSpPr>
          <p:cNvPr id="14" name="Rounded Rectangle 13"/>
          <p:cNvSpPr/>
          <p:nvPr/>
        </p:nvSpPr>
        <p:spPr>
          <a:xfrm>
            <a:off x="548640"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#4 TIDE</a:t>
            </a:r>
          </a:p>
        </p:txBody>
      </p:sp>
      <p:sp>
        <p:nvSpPr>
          <p:cNvPr id="16" name="Rectangle 15"/>
          <p:cNvSpPr/>
          <p:nvPr/>
        </p:nvSpPr>
        <p:spPr>
          <a:xfrm>
            <a:off x="3291840"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291840" y="1005840"/>
            <a:ext cx="269748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291840"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Orchestration &amp; Control</a:t>
            </a:r>
          </a:p>
        </p:txBody>
      </p:sp>
      <p:sp>
        <p:nvSpPr>
          <p:cNvPr id="19" name="TextBox 18"/>
          <p:cNvSpPr txBox="1"/>
          <p:nvPr/>
        </p:nvSpPr>
        <p:spPr>
          <a:xfrm>
            <a:off x="3401568"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Ai chạy, chạy bằng model nào, agent nào rủi ro?</a:t>
            </a:r>
          </a:p>
        </p:txBody>
      </p:sp>
      <p:sp>
        <p:nvSpPr>
          <p:cNvPr id="20" name="Rounded Rectangle 19"/>
          <p:cNvSpPr/>
          <p:nvPr/>
        </p:nvSpPr>
        <p:spPr>
          <a:xfrm>
            <a:off x="3429000"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429000"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#3 ProgRouter</a:t>
            </a:r>
          </a:p>
        </p:txBody>
      </p:sp>
      <p:sp>
        <p:nvSpPr>
          <p:cNvPr id="22" name="Rounded Rectangle 21"/>
          <p:cNvSpPr/>
          <p:nvPr/>
        </p:nvSpPr>
        <p:spPr>
          <a:xfrm>
            <a:off x="3429000"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9000"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#5 HalluProp</a:t>
            </a:r>
          </a:p>
        </p:txBody>
      </p:sp>
      <p:sp>
        <p:nvSpPr>
          <p:cNvPr id="24" name="Rectangle 23"/>
          <p:cNvSpPr/>
          <p:nvPr/>
        </p:nvSpPr>
        <p:spPr>
          <a:xfrm>
            <a:off x="6172200"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172200" y="1005840"/>
            <a:ext cx="269748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72200"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Communication &amp; Interaction</a:t>
            </a:r>
          </a:p>
        </p:txBody>
      </p:sp>
      <p:sp>
        <p:nvSpPr>
          <p:cNvPr id="27" name="TextBox 26"/>
          <p:cNvSpPr txBox="1"/>
          <p:nvPr/>
        </p:nvSpPr>
        <p:spPr>
          <a:xfrm>
            <a:off x="6281928"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Agent trao đổi gì, với ai, mức độ nào?</a:t>
            </a:r>
          </a:p>
        </p:txBody>
      </p:sp>
      <p:sp>
        <p:nvSpPr>
          <p:cNvPr id="28" name="Rounded Rectangle 27"/>
          <p:cNvSpPr/>
          <p:nvPr/>
        </p:nvSpPr>
        <p:spPr>
          <a:xfrm>
            <a:off x="6309360"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09360"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#7 DAIN</a:t>
            </a:r>
          </a:p>
        </p:txBody>
      </p:sp>
      <p:sp>
        <p:nvSpPr>
          <p:cNvPr id="30" name="Rounded Rectangle 29"/>
          <p:cNvSpPr/>
          <p:nvPr/>
        </p:nvSpPr>
        <p:spPr>
          <a:xfrm>
            <a:off x="6309360"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09360"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#8 AGENT-RADAR</a:t>
            </a:r>
          </a:p>
        </p:txBody>
      </p:sp>
      <p:sp>
        <p:nvSpPr>
          <p:cNvPr id="32" name="Rectangle 31"/>
          <p:cNvSpPr/>
          <p:nvPr/>
        </p:nvSpPr>
        <p:spPr>
          <a:xfrm>
            <a:off x="9052559"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052559" y="1005840"/>
            <a:ext cx="269748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052559"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Domain Applications</a:t>
            </a:r>
          </a:p>
        </p:txBody>
      </p:sp>
      <p:sp>
        <p:nvSpPr>
          <p:cNvPr id="35" name="TextBox 34"/>
          <p:cNvSpPr txBox="1"/>
          <p:nvPr/>
        </p:nvSpPr>
        <p:spPr>
          <a:xfrm>
            <a:off x="9162287"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Áp dụng cộng tác vào bài toán chuyên ngành.</a:t>
            </a:r>
          </a:p>
        </p:txBody>
      </p:sp>
      <p:sp>
        <p:nvSpPr>
          <p:cNvPr id="36" name="Rounded Rectangle 35"/>
          <p:cNvSpPr/>
          <p:nvPr/>
        </p:nvSpPr>
        <p:spPr>
          <a:xfrm>
            <a:off x="9189719"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189719"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#2 MAC-RRG</a:t>
            </a:r>
          </a:p>
        </p:txBody>
      </p:sp>
      <p:sp>
        <p:nvSpPr>
          <p:cNvPr id="38" name="Rounded Rectangle 37"/>
          <p:cNvSpPr/>
          <p:nvPr/>
        </p:nvSpPr>
        <p:spPr>
          <a:xfrm>
            <a:off x="9189719"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89719"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#6 UrbanAgent</a:t>
            </a:r>
          </a:p>
        </p:txBody>
      </p:sp>
      <p:sp>
        <p:nvSpPr>
          <p:cNvPr id="40" name="TextBox 39"/>
          <p:cNvSpPr txBox="1"/>
          <p:nvPr/>
        </p:nvSpPr>
        <p:spPr>
          <a:xfrm>
            <a:off x="411480" y="5394960"/>
            <a:ext cx="11365992" cy="502920"/>
          </a:xfrm>
          <a:prstGeom prst="rect">
            <a:avLst/>
          </a:prstGeom>
          <a:noFill/>
        </p:spPr>
        <p:txBody>
          <a:bodyPr wrap="square" anchor="t" lIns="45720" rIns="45720" tIns="18288" bIns="18288"/>
          <a:lstStyle/>
          <a:p>
            <a:pPr>
              <a:spcBef>
                <a:spcPts val="0"/>
              </a:spcBef>
              <a:buNone/>
            </a:pPr>
            <a:r>
              <a:rPr sz="1500" b="0">
                <a:solidFill>
                  <a:srgbClr val="666666"/>
                </a:solidFill>
                <a:latin typeface="Roboto Medium"/>
                <a:ea typeface="Roboto Medium"/>
                <a:cs typeface="Roboto Medium"/>
              </a:rPr>
              <a:t>Phân loại theo </a:t>
            </a:r>
            <a:r>
              <a:rPr sz="1500" b="1">
                <a:solidFill>
                  <a:srgbClr val="003366"/>
                </a:solidFill>
                <a:latin typeface="Roboto Black"/>
                <a:ea typeface="Roboto Black"/>
                <a:cs typeface="Roboto Black"/>
              </a:rPr>
              <a:t>mục tiêu chính</a:t>
            </a:r>
            <a:r>
              <a:rPr sz="1500" b="0">
                <a:solidFill>
                  <a:srgbClr val="666666"/>
                </a:solidFill>
                <a:latin typeface="Roboto Medium"/>
                <a:ea typeface="Roboto Medium"/>
                <a:cs typeface="Roboto Medium"/>
              </a:rPr>
              <a:t>; nhiều bài thuộc nhiều nhóm (VD: HalluProp vừa là orchestration vừa là safety).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Mỗi phương pháp can thiệp ở đâu trong lifecycle của MAS</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8</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Thiết kế role</a:t>
            </a:r>
          </a:p>
          <a:p>
            <a:pPr algn="ctr">
              <a:spcBef>
                <a:spcPts val="0"/>
              </a:spcBef>
              <a:buNone/>
            </a:pPr>
            <a:r>
              <a:rPr sz="1600" b="1">
                <a:solidFill>
                  <a:srgbClr val="FFFFFF"/>
                </a:solidFill>
                <a:latin typeface="Roboto Black"/>
                <a:ea typeface="Roboto Black"/>
                <a:cs typeface="Roboto Black"/>
              </a:rPr>
              <a:t>&amp; graph</a:t>
            </a:r>
          </a:p>
        </p:txBody>
      </p:sp>
      <p:sp>
        <p:nvSpPr>
          <p:cNvPr id="10" name="Right Arrow 9"/>
          <p:cNvSpPr/>
          <p:nvPr/>
        </p:nvSpPr>
        <p:spPr>
          <a:xfrm>
            <a:off x="240487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14600"/>
            <a:ext cx="1965960" cy="566928"/>
          </a:xfrm>
          <a:prstGeom prst="roundRect">
            <a:avLst>
              <a:gd name="adj" fmla="val 12000"/>
            </a:avLst>
          </a:prstGeom>
          <a:solidFill>
            <a:srgbClr val="F3F6FB"/>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11480" y="2514600"/>
            <a:ext cx="1965960" cy="566928"/>
          </a:xfrm>
          <a:prstGeom prst="rect">
            <a:avLst/>
          </a:prstGeom>
          <a:noFill/>
        </p:spPr>
        <p:txBody>
          <a:bodyPr wrap="square" anchor="ctr" lIns="45720" rIns="45720" tIns="18288" bIns="18288"/>
          <a:lstStyle/>
          <a:p>
            <a:pPr algn="ctr">
              <a:spcBef>
                <a:spcPts val="0"/>
              </a:spcBef>
              <a:buNone/>
            </a:pPr>
            <a:r>
              <a:rPr sz="1400" b="1">
                <a:solidFill>
                  <a:srgbClr val="003366"/>
                </a:solidFill>
                <a:latin typeface="Roboto Black"/>
                <a:ea typeface="Roboto Black"/>
                <a:cs typeface="Roboto Black"/>
              </a:rPr>
              <a:t>#5 HalluProp (pre-hoc)</a:t>
            </a:r>
          </a:p>
        </p:txBody>
      </p:sp>
      <p:sp>
        <p:nvSpPr>
          <p:cNvPr id="13" name="Rounded Rectangle 12"/>
          <p:cNvSpPr/>
          <p:nvPr/>
        </p:nvSpPr>
        <p:spPr>
          <a:xfrm>
            <a:off x="274320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74320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Điều phối</a:t>
            </a:r>
          </a:p>
          <a:p>
            <a:pPr algn="ctr">
              <a:spcBef>
                <a:spcPts val="0"/>
              </a:spcBef>
              <a:buNone/>
            </a:pPr>
            <a:r>
              <a:rPr sz="1600" b="1">
                <a:solidFill>
                  <a:srgbClr val="FFFFFF"/>
                </a:solidFill>
                <a:latin typeface="Roboto Black"/>
                <a:ea typeface="Roboto Black"/>
                <a:cs typeface="Roboto Black"/>
              </a:rPr>
              <a:t>&amp; kích hoạt</a:t>
            </a:r>
          </a:p>
        </p:txBody>
      </p:sp>
      <p:sp>
        <p:nvSpPr>
          <p:cNvPr id="15" name="Right Arrow 14"/>
          <p:cNvSpPr/>
          <p:nvPr/>
        </p:nvSpPr>
        <p:spPr>
          <a:xfrm>
            <a:off x="473659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43200" y="2514600"/>
            <a:ext cx="1965960" cy="566928"/>
          </a:xfrm>
          <a:prstGeom prst="roundRect">
            <a:avLst>
              <a:gd name="adj" fmla="val 12000"/>
            </a:avLst>
          </a:prstGeom>
          <a:solidFill>
            <a:srgbClr val="F3F6FB"/>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743200" y="2514600"/>
            <a:ext cx="1965960" cy="566928"/>
          </a:xfrm>
          <a:prstGeom prst="rect">
            <a:avLst/>
          </a:prstGeom>
          <a:noFill/>
        </p:spPr>
        <p:txBody>
          <a:bodyPr wrap="square" anchor="ctr" lIns="45720" rIns="45720" tIns="18288" bIns="18288"/>
          <a:lstStyle/>
          <a:p>
            <a:pPr algn="ctr">
              <a:spcBef>
                <a:spcPts val="0"/>
              </a:spcBef>
              <a:buNone/>
            </a:pPr>
            <a:r>
              <a:rPr sz="1400" b="1">
                <a:solidFill>
                  <a:srgbClr val="003366"/>
                </a:solidFill>
                <a:latin typeface="Roboto Black"/>
                <a:ea typeface="Roboto Black"/>
                <a:cs typeface="Roboto Black"/>
              </a:rPr>
              <a:t>#3 ProgRouter</a:t>
            </a:r>
          </a:p>
        </p:txBody>
      </p:sp>
      <p:sp>
        <p:nvSpPr>
          <p:cNvPr id="18" name="Rounded Rectangle 17"/>
          <p:cNvSpPr/>
          <p:nvPr/>
        </p:nvSpPr>
        <p:spPr>
          <a:xfrm>
            <a:off x="2743200" y="3227832"/>
            <a:ext cx="1965960" cy="566928"/>
          </a:xfrm>
          <a:prstGeom prst="roundRect">
            <a:avLst>
              <a:gd name="adj" fmla="val 12000"/>
            </a:avLst>
          </a:prstGeom>
          <a:solidFill>
            <a:srgbClr val="EEF6EE"/>
          </a:solidFill>
          <a:ln w="952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743200" y="3227832"/>
            <a:ext cx="1965960" cy="566928"/>
          </a:xfrm>
          <a:prstGeom prst="rect">
            <a:avLst/>
          </a:prstGeom>
          <a:noFill/>
        </p:spPr>
        <p:txBody>
          <a:bodyPr wrap="square" anchor="ctr" lIns="45720" rIns="45720" tIns="18288" bIns="18288"/>
          <a:lstStyle/>
          <a:p>
            <a:pPr algn="ctr">
              <a:spcBef>
                <a:spcPts val="0"/>
              </a:spcBef>
              <a:buNone/>
            </a:pPr>
            <a:r>
              <a:rPr sz="1400" b="1">
                <a:solidFill>
                  <a:srgbClr val="1E6B3A"/>
                </a:solidFill>
                <a:latin typeface="Roboto Black"/>
                <a:ea typeface="Roboto Black"/>
                <a:cs typeface="Roboto Black"/>
              </a:rPr>
              <a:t>#7 DAIN (gating)</a:t>
            </a:r>
          </a:p>
        </p:txBody>
      </p:sp>
      <p:sp>
        <p:nvSpPr>
          <p:cNvPr id="20" name="Rounded Rectangle 19"/>
          <p:cNvSpPr/>
          <p:nvPr/>
        </p:nvSpPr>
        <p:spPr>
          <a:xfrm>
            <a:off x="507492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492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Giao tiếp</a:t>
            </a:r>
          </a:p>
          <a:p>
            <a:pPr algn="ctr">
              <a:spcBef>
                <a:spcPts val="0"/>
              </a:spcBef>
              <a:buNone/>
            </a:pPr>
            <a:r>
              <a:rPr sz="1600" b="1">
                <a:solidFill>
                  <a:srgbClr val="FFFFFF"/>
                </a:solidFill>
                <a:latin typeface="Roboto Black"/>
                <a:ea typeface="Roboto Black"/>
                <a:cs typeface="Roboto Black"/>
              </a:rPr>
              <a:t>&amp; suy luận</a:t>
            </a:r>
          </a:p>
        </p:txBody>
      </p:sp>
      <p:sp>
        <p:nvSpPr>
          <p:cNvPr id="22" name="Right Arrow 21"/>
          <p:cNvSpPr/>
          <p:nvPr/>
        </p:nvSpPr>
        <p:spPr>
          <a:xfrm>
            <a:off x="706831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514600"/>
            <a:ext cx="1965960" cy="566928"/>
          </a:xfrm>
          <a:prstGeom prst="roundRect">
            <a:avLst>
              <a:gd name="adj" fmla="val 12000"/>
            </a:avLst>
          </a:prstGeom>
          <a:solidFill>
            <a:srgbClr val="EEF6EE"/>
          </a:solidFill>
          <a:ln w="952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74920" y="2514600"/>
            <a:ext cx="1965960" cy="566928"/>
          </a:xfrm>
          <a:prstGeom prst="rect">
            <a:avLst/>
          </a:prstGeom>
          <a:noFill/>
        </p:spPr>
        <p:txBody>
          <a:bodyPr wrap="square" anchor="ctr" lIns="45720" rIns="45720" tIns="18288" bIns="18288"/>
          <a:lstStyle/>
          <a:p>
            <a:pPr algn="ctr">
              <a:spcBef>
                <a:spcPts val="0"/>
              </a:spcBef>
              <a:buNone/>
            </a:pPr>
            <a:r>
              <a:rPr sz="1400" b="1">
                <a:solidFill>
                  <a:srgbClr val="1E6B3A"/>
                </a:solidFill>
                <a:latin typeface="Roboto Black"/>
                <a:ea typeface="Roboto Black"/>
                <a:cs typeface="Roboto Black"/>
              </a:rPr>
              <a:t>#8 AGENT-RADAR</a:t>
            </a:r>
          </a:p>
        </p:txBody>
      </p:sp>
      <p:sp>
        <p:nvSpPr>
          <p:cNvPr id="25" name="Rounded Rectangle 24"/>
          <p:cNvSpPr/>
          <p:nvPr/>
        </p:nvSpPr>
        <p:spPr>
          <a:xfrm>
            <a:off x="5074920" y="3227832"/>
            <a:ext cx="1965960" cy="566928"/>
          </a:xfrm>
          <a:prstGeom prst="roundRect">
            <a:avLst>
              <a:gd name="adj" fmla="val 12000"/>
            </a:avLst>
          </a:prstGeom>
          <a:solidFill>
            <a:srgbClr val="EEF6EE"/>
          </a:solidFill>
          <a:ln w="952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4920" y="3227832"/>
            <a:ext cx="1965960" cy="566928"/>
          </a:xfrm>
          <a:prstGeom prst="rect">
            <a:avLst/>
          </a:prstGeom>
          <a:noFill/>
        </p:spPr>
        <p:txBody>
          <a:bodyPr wrap="square" anchor="ctr" lIns="45720" rIns="45720" tIns="18288" bIns="18288"/>
          <a:lstStyle/>
          <a:p>
            <a:pPr algn="ctr">
              <a:spcBef>
                <a:spcPts val="0"/>
              </a:spcBef>
              <a:buNone/>
            </a:pPr>
            <a:r>
              <a:rPr sz="1400" b="1">
                <a:solidFill>
                  <a:srgbClr val="1E6B3A"/>
                </a:solidFill>
                <a:latin typeface="Roboto Black"/>
                <a:ea typeface="Roboto Black"/>
                <a:cs typeface="Roboto Black"/>
              </a:rPr>
              <a:t>#7 DAIN (graph)</a:t>
            </a:r>
          </a:p>
        </p:txBody>
      </p:sp>
      <p:sp>
        <p:nvSpPr>
          <p:cNvPr id="27" name="Rounded Rectangle 26"/>
          <p:cNvSpPr/>
          <p:nvPr/>
        </p:nvSpPr>
        <p:spPr>
          <a:xfrm>
            <a:off x="5074920" y="3941064"/>
            <a:ext cx="1965960" cy="566928"/>
          </a:xfrm>
          <a:prstGeom prst="roundRect">
            <a:avLst>
              <a:gd name="adj" fmla="val 12000"/>
            </a:avLst>
          </a:prstGeom>
          <a:solidFill>
            <a:srgbClr val="FDF5E6"/>
          </a:solidFill>
          <a:ln w="9525">
            <a:solidFill>
              <a:srgbClr val="9A64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74920" y="3941064"/>
            <a:ext cx="1965960" cy="566928"/>
          </a:xfrm>
          <a:prstGeom prst="rect">
            <a:avLst/>
          </a:prstGeom>
          <a:noFill/>
        </p:spPr>
        <p:txBody>
          <a:bodyPr wrap="square" anchor="ctr" lIns="45720" rIns="45720" tIns="18288" bIns="18288"/>
          <a:lstStyle/>
          <a:p>
            <a:pPr algn="ctr">
              <a:spcBef>
                <a:spcPts val="0"/>
              </a:spcBef>
              <a:buNone/>
            </a:pPr>
            <a:r>
              <a:rPr sz="1400" b="1">
                <a:solidFill>
                  <a:srgbClr val="9A6408"/>
                </a:solidFill>
                <a:latin typeface="Roboto Black"/>
                <a:ea typeface="Roboto Black"/>
                <a:cs typeface="Roboto Black"/>
              </a:rPr>
              <a:t>#6 UrbanAgent</a:t>
            </a:r>
          </a:p>
        </p:txBody>
      </p:sp>
      <p:sp>
        <p:nvSpPr>
          <p:cNvPr id="29" name="Rounded Rectangle 28"/>
          <p:cNvSpPr/>
          <p:nvPr/>
        </p:nvSpPr>
        <p:spPr>
          <a:xfrm>
            <a:off x="5074920" y="4654296"/>
            <a:ext cx="1965960" cy="566928"/>
          </a:xfrm>
          <a:prstGeom prst="roundRect">
            <a:avLst>
              <a:gd name="adj" fmla="val 12000"/>
            </a:avLst>
          </a:prstGeom>
          <a:solidFill>
            <a:srgbClr val="FDF5E6"/>
          </a:solidFill>
          <a:ln w="9525">
            <a:solidFill>
              <a:srgbClr val="9A64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74920" y="4654296"/>
            <a:ext cx="1965960" cy="566928"/>
          </a:xfrm>
          <a:prstGeom prst="rect">
            <a:avLst/>
          </a:prstGeom>
          <a:noFill/>
        </p:spPr>
        <p:txBody>
          <a:bodyPr wrap="square" anchor="ctr" lIns="45720" rIns="45720" tIns="18288" bIns="18288"/>
          <a:lstStyle/>
          <a:p>
            <a:pPr algn="ctr">
              <a:spcBef>
                <a:spcPts val="0"/>
              </a:spcBef>
              <a:buNone/>
            </a:pPr>
            <a:r>
              <a:rPr sz="1400" b="1">
                <a:solidFill>
                  <a:srgbClr val="9A6408"/>
                </a:solidFill>
                <a:latin typeface="Roboto Black"/>
                <a:ea typeface="Roboto Black"/>
                <a:cs typeface="Roboto Black"/>
              </a:rPr>
              <a:t>#2 MAC-RRG</a:t>
            </a:r>
          </a:p>
        </p:txBody>
      </p:sp>
      <p:sp>
        <p:nvSpPr>
          <p:cNvPr id="31" name="Rounded Rectangle 30"/>
          <p:cNvSpPr/>
          <p:nvPr/>
        </p:nvSpPr>
        <p:spPr>
          <a:xfrm>
            <a:off x="740664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0664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Tổng hợp</a:t>
            </a:r>
          </a:p>
          <a:p>
            <a:pPr algn="ctr">
              <a:spcBef>
                <a:spcPts val="0"/>
              </a:spcBef>
              <a:buNone/>
            </a:pPr>
            <a:r>
              <a:rPr sz="1600" b="1">
                <a:solidFill>
                  <a:srgbClr val="FFFFFF"/>
                </a:solidFill>
                <a:latin typeface="Roboto Black"/>
                <a:ea typeface="Roboto Black"/>
                <a:cs typeface="Roboto Black"/>
              </a:rPr>
              <a:t>&amp; phơi bày</a:t>
            </a:r>
          </a:p>
        </p:txBody>
      </p:sp>
      <p:sp>
        <p:nvSpPr>
          <p:cNvPr id="33" name="Right Arrow 32"/>
          <p:cNvSpPr/>
          <p:nvPr/>
        </p:nvSpPr>
        <p:spPr>
          <a:xfrm>
            <a:off x="940003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06640" y="2514600"/>
            <a:ext cx="1965960" cy="566928"/>
          </a:xfrm>
          <a:prstGeom prst="roundRect">
            <a:avLst>
              <a:gd name="adj" fmla="val 12000"/>
            </a:avLst>
          </a:prstGeom>
          <a:solidFill>
            <a:srgbClr val="FCF4F4"/>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406640" y="2514600"/>
            <a:ext cx="1965960" cy="566928"/>
          </a:xfrm>
          <a:prstGeom prst="rect">
            <a:avLst/>
          </a:prstGeom>
          <a:noFill/>
        </p:spPr>
        <p:txBody>
          <a:bodyPr wrap="square" anchor="ctr" lIns="45720" rIns="45720" tIns="18288" bIns="18288"/>
          <a:lstStyle/>
          <a:p>
            <a:pPr algn="ctr">
              <a:spcBef>
                <a:spcPts val="0"/>
              </a:spcBef>
              <a:buNone/>
            </a:pPr>
            <a:r>
              <a:rPr sz="1400" b="1">
                <a:solidFill>
                  <a:srgbClr val="C00000"/>
                </a:solidFill>
                <a:latin typeface="Roboto Black"/>
                <a:ea typeface="Roboto Black"/>
                <a:cs typeface="Roboto Black"/>
              </a:rPr>
              <a:t>#1 MIRAGE</a:t>
            </a:r>
          </a:p>
        </p:txBody>
      </p:sp>
      <p:sp>
        <p:nvSpPr>
          <p:cNvPr id="36" name="Rounded Rectangle 35"/>
          <p:cNvSpPr/>
          <p:nvPr/>
        </p:nvSpPr>
        <p:spPr>
          <a:xfrm>
            <a:off x="9738359"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38359"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Đánh giá</a:t>
            </a:r>
          </a:p>
          <a:p>
            <a:pPr algn="ctr">
              <a:spcBef>
                <a:spcPts val="0"/>
              </a:spcBef>
              <a:buNone/>
            </a:pPr>
            <a:r>
              <a:rPr sz="1600" b="1">
                <a:solidFill>
                  <a:srgbClr val="FFFFFF"/>
                </a:solidFill>
                <a:latin typeface="Roboto Black"/>
                <a:ea typeface="Roboto Black"/>
                <a:cs typeface="Roboto Black"/>
              </a:rPr>
              <a:t>&amp; kiểm toán</a:t>
            </a:r>
          </a:p>
        </p:txBody>
      </p:sp>
      <p:sp>
        <p:nvSpPr>
          <p:cNvPr id="38" name="Rounded Rectangle 37"/>
          <p:cNvSpPr/>
          <p:nvPr/>
        </p:nvSpPr>
        <p:spPr>
          <a:xfrm>
            <a:off x="9738359" y="2514600"/>
            <a:ext cx="1965960" cy="566928"/>
          </a:xfrm>
          <a:prstGeom prst="roundRect">
            <a:avLst>
              <a:gd name="adj" fmla="val 12000"/>
            </a:avLst>
          </a:prstGeom>
          <a:solidFill>
            <a:srgbClr val="FCF4F4"/>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738359" y="2514600"/>
            <a:ext cx="1965960" cy="566928"/>
          </a:xfrm>
          <a:prstGeom prst="rect">
            <a:avLst/>
          </a:prstGeom>
          <a:noFill/>
        </p:spPr>
        <p:txBody>
          <a:bodyPr wrap="square" anchor="ctr" lIns="45720" rIns="45720" tIns="18288" bIns="18288"/>
          <a:lstStyle/>
          <a:p>
            <a:pPr algn="ctr">
              <a:spcBef>
                <a:spcPts val="0"/>
              </a:spcBef>
              <a:buNone/>
            </a:pPr>
            <a:r>
              <a:rPr sz="1400" b="1">
                <a:solidFill>
                  <a:srgbClr val="C00000"/>
                </a:solidFill>
                <a:latin typeface="Roboto Black"/>
                <a:ea typeface="Roboto Black"/>
                <a:cs typeface="Roboto Black"/>
              </a:rPr>
              <a:t>#4 TIDE</a:t>
            </a:r>
          </a:p>
        </p:txBody>
      </p:sp>
      <p:sp>
        <p:nvSpPr>
          <p:cNvPr id="40" name="TextBox 39"/>
          <p:cNvSpPr txBox="1"/>
          <p:nvPr/>
        </p:nvSpPr>
        <p:spPr>
          <a:xfrm>
            <a:off x="411480" y="5532120"/>
            <a:ext cx="11365992" cy="457200"/>
          </a:xfrm>
          <a:prstGeom prst="rect">
            <a:avLst/>
          </a:prstGeom>
          <a:noFill/>
        </p:spPr>
        <p:txBody>
          <a:bodyPr wrap="square" anchor="t" lIns="45720" rIns="45720" tIns="18288" bIns="18288"/>
          <a:lstStyle/>
          <a:p>
            <a:pPr>
              <a:spcBef>
                <a:spcPts val="0"/>
              </a:spcBef>
              <a:buNone/>
            </a:pPr>
            <a:r>
              <a:rPr sz="1400" b="0">
                <a:solidFill>
                  <a:srgbClr val="666666"/>
                </a:solidFill>
                <a:latin typeface="Roboto Medium"/>
                <a:ea typeface="Roboto Medium"/>
                <a:cs typeface="Roboto Medium"/>
              </a:rPr>
              <a:t>Màu: </a:t>
            </a:r>
            <a:r>
              <a:rPr sz="1400" b="1">
                <a:solidFill>
                  <a:srgbClr val="C00000"/>
                </a:solidFill>
                <a:latin typeface="Roboto Black"/>
                <a:ea typeface="Roboto Black"/>
                <a:cs typeface="Roboto Black"/>
              </a:rPr>
              <a:t>đỏ</a:t>
            </a:r>
            <a:r>
              <a:rPr sz="1400" b="0">
                <a:solidFill>
                  <a:srgbClr val="666666"/>
                </a:solidFill>
                <a:latin typeface="Roboto Medium"/>
                <a:ea typeface="Roboto Medium"/>
                <a:cs typeface="Roboto Medium"/>
              </a:rPr>
              <a:t> Safety · </a:t>
            </a:r>
            <a:r>
              <a:rPr sz="1400" b="1">
                <a:solidFill>
                  <a:srgbClr val="003366"/>
                </a:solidFill>
                <a:latin typeface="Roboto Black"/>
                <a:ea typeface="Roboto Black"/>
                <a:cs typeface="Roboto Black"/>
              </a:rPr>
              <a:t>xanh navy</a:t>
            </a:r>
            <a:r>
              <a:rPr sz="1400" b="0">
                <a:solidFill>
                  <a:srgbClr val="666666"/>
                </a:solidFill>
                <a:latin typeface="Roboto Medium"/>
                <a:ea typeface="Roboto Medium"/>
                <a:cs typeface="Roboto Medium"/>
              </a:rPr>
              <a:t> Orchestration · xanh lá Communication · vàng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2.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02</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2</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Safety &amp; Robustness</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MIRAGE: che giấu topology của MAS</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TIDE: misinformation khi sự thật bị phân tán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che giấu topology bằng phantom structure</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10</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6080760" cy="502920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Bài toán</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Tấn công </a:t>
            </a:r>
            <a:r>
              <a:rPr sz="1700" b="1">
                <a:solidFill>
                  <a:srgbClr val="003366"/>
                </a:solidFill>
                <a:latin typeface="Roboto Black"/>
                <a:ea typeface="Roboto Black"/>
                <a:cs typeface="Roboto Black"/>
              </a:rPr>
              <a:t>CIA</a:t>
            </a:r>
            <a:r>
              <a:rPr sz="1700" b="0">
                <a:solidFill>
                  <a:srgbClr val="222222"/>
                </a:solidFill>
                <a:latin typeface="Roboto Medium"/>
                <a:ea typeface="Roboto Medium"/>
                <a:cs typeface="Roboto Medium"/>
              </a:rPr>
              <a:t> suy ra topology chỉ qua truy vấn hộp đen.</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Lộ topology → mất tài sản trí tuệ, lộ agent then chốt.</a:t>
            </a:r>
          </a:p>
          <a:p>
            <a:pPr>
              <a:spcBef>
                <a:spcPts val="1400"/>
              </a:spcBef>
              <a:buNone/>
            </a:pPr>
            <a:r>
              <a:rPr sz="2000" b="1">
                <a:solidFill>
                  <a:srgbClr val="003366"/>
                </a:solidFill>
                <a:latin typeface="Roboto Black"/>
                <a:ea typeface="Roboto Black"/>
                <a:cs typeface="Roboto Black"/>
              </a:rPr>
              <a:t>Phương pháp: 3 bước</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Phantom topology:</a:t>
            </a:r>
            <a:r>
              <a:rPr sz="1700" b="0">
                <a:solidFill>
                  <a:srgbClr val="222222"/>
                </a:solidFill>
                <a:latin typeface="Roboto Medium"/>
                <a:ea typeface="Roboto Medium"/>
                <a:cs typeface="Roboto Medium"/>
              </a:rPr>
              <a:t> đi dây lại cạnh, độ lệch ρ ≥ ρ₀ (k-anonymity).</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Semantic edge realization:</a:t>
            </a:r>
            <a:r>
              <a:rPr sz="1700" b="0">
                <a:solidFill>
                  <a:srgbClr val="222222"/>
                </a:solidFill>
                <a:latin typeface="Roboto Medium"/>
                <a:ea typeface="Roboto Medium"/>
                <a:cs typeface="Roboto Medium"/>
              </a:rPr>
              <a:t> LLM sinh bằng chứng giả cho phantom edge; paraphrase để giấu cạnh thật.</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Dual-view execution:</a:t>
            </a:r>
            <a:r>
              <a:rPr sz="1700" b="0">
                <a:solidFill>
                  <a:srgbClr val="222222"/>
                </a:solidFill>
                <a:latin typeface="Roboto Medium"/>
                <a:ea typeface="Roboto Medium"/>
                <a:cs typeface="Roboto Medium"/>
              </a:rPr>
              <a:t> chạy trên G thật, chỉ phơi bày G′.</a:t>
            </a:r>
          </a:p>
        </p:txBody>
      </p:sp>
      <p:sp>
        <p:nvSpPr>
          <p:cNvPr id="9" name="TextBox 8"/>
          <p:cNvSpPr txBox="1"/>
          <p:nvPr/>
        </p:nvSpPr>
        <p:spPr>
          <a:xfrm>
            <a:off x="6675120" y="914400"/>
            <a:ext cx="5074920" cy="365760"/>
          </a:xfrm>
          <a:prstGeom prst="rect">
            <a:avLst/>
          </a:prstGeom>
          <a:noFill/>
        </p:spPr>
        <p:txBody>
          <a:bodyPr wrap="square" anchor="t" lIns="45720" rIns="45720" tIns="18288" bIns="18288"/>
          <a:lstStyle/>
          <a:p>
            <a:pPr>
              <a:spcBef>
                <a:spcPts val="0"/>
              </a:spcBef>
              <a:buNone/>
            </a:pPr>
            <a:r>
              <a:rPr sz="1300" b="1">
                <a:solidFill>
                  <a:srgbClr val="666666"/>
                </a:solidFill>
                <a:latin typeface="Roboto Black"/>
                <a:ea typeface="Roboto Black"/>
                <a:cs typeface="Roboto Black"/>
              </a:rPr>
              <a:t>AUC / ACC / F1 của tấn công (G-Designer, thấp hơn là tốt)</a:t>
            </a:r>
          </a:p>
        </p:txBody>
      </p:sp>
      <p:graphicFrame>
        <p:nvGraphicFramePr>
          <p:cNvPr id="10" name="Table 9"/>
          <p:cNvGraphicFramePr>
            <a:graphicFrameLocks noGrp="1"/>
          </p:cNvGraphicFramePr>
          <p:nvPr/>
        </p:nvGraphicFramePr>
        <p:xfrm>
          <a:off x="6675120" y="1298448"/>
          <a:ext cx="5074920" cy="2286000"/>
        </p:xfrm>
        <a:graphic>
          <a:graphicData uri="http://schemas.openxmlformats.org/drawingml/2006/table">
            <a:tbl>
              <a:tblPr firstRow="0" bandRow="0"/>
              <a:tblGrid>
                <a:gridCol w="1234440"/>
                <a:gridCol w="1920240"/>
                <a:gridCol w="1920240"/>
              </a:tblGrid>
              <a:tr h="457200">
                <a:tc>
                  <a:txBody>
                    <a:bodyPr wrap="square"/>
                    <a:lstStyle/>
                    <a:p>
                      <a:pPr>
                        <a:spcBef>
                          <a:spcPts val="0"/>
                        </a:spcBef>
                        <a:buNone/>
                      </a:pPr>
                      <a:r>
                        <a:rPr sz="1400" b="1">
                          <a:solidFill>
                            <a:srgbClr val="FFFFFF"/>
                          </a:solidFill>
                          <a:latin typeface="Roboto Black"/>
                          <a:ea typeface="Roboto Black"/>
                          <a:cs typeface="Roboto Black"/>
                        </a:rPr>
                        <a:t>Dataset</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Delimiters</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MIRAGE</a:t>
                      </a:r>
                    </a:p>
                  </a:txBody>
                  <a:tcPr marL="54864" marR="54864" marT="27432" marB="27432" anchor="ctr">
                    <a:solidFill>
                      <a:srgbClr val="003366"/>
                    </a:solidFill>
                  </a:tcPr>
                </a:tc>
              </a:tr>
              <a:tr h="457200">
                <a:tc>
                  <a:txBody>
                    <a:bodyPr wrap="square"/>
                    <a:lstStyle/>
                    <a:p>
                      <a:pPr>
                        <a:spcBef>
                          <a:spcPts val="0"/>
                        </a:spcBef>
                        <a:buNone/>
                      </a:pPr>
                      <a:r>
                        <a:rPr sz="1400" b="1">
                          <a:solidFill>
                            <a:srgbClr val="003366"/>
                          </a:solidFill>
                          <a:latin typeface="Roboto Black"/>
                          <a:ea typeface="Roboto Black"/>
                          <a:cs typeface="Roboto Black"/>
                        </a:rPr>
                        <a:t>MMLU</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0.76 / 0.61 / 0.64</a:t>
                      </a:r>
                    </a:p>
                  </a:txBody>
                  <a:tcPr marL="54864" marR="54864" marT="27432" marB="27432" anchor="ctr">
                    <a:solidFill>
                      <a:srgbClr val="FFFFFF"/>
                    </a:solidFill>
                  </a:tcPr>
                </a:tc>
                <a:tc>
                  <a:txBody>
                    <a:bodyPr wrap="square"/>
                    <a:lstStyle/>
                    <a:p>
                      <a:pPr>
                        <a:spcBef>
                          <a:spcPts val="0"/>
                        </a:spcBef>
                        <a:buNone/>
                      </a:pPr>
                      <a:r>
                        <a:rPr sz="1400" b="1">
                          <a:solidFill>
                            <a:srgbClr val="003366"/>
                          </a:solidFill>
                          <a:latin typeface="Roboto Black"/>
                          <a:ea typeface="Roboto Black"/>
                          <a:cs typeface="Roboto Black"/>
                        </a:rPr>
                        <a:t>0.67 / 0.50 / 0.49</a:t>
                      </a:r>
                    </a:p>
                  </a:txBody>
                  <a:tcPr marL="54864" marR="54864" marT="27432" marB="27432" anchor="ctr">
                    <a:solidFill>
                      <a:srgbClr val="FFFFFF"/>
                    </a:solidFill>
                  </a:tcPr>
                </a:tc>
              </a:tr>
              <a:tr h="457200">
                <a:tc>
                  <a:txBody>
                    <a:bodyPr wrap="square"/>
                    <a:lstStyle/>
                    <a:p>
                      <a:pPr>
                        <a:spcBef>
                          <a:spcPts val="0"/>
                        </a:spcBef>
                        <a:buNone/>
                      </a:pPr>
                      <a:r>
                        <a:rPr sz="1400" b="1">
                          <a:solidFill>
                            <a:srgbClr val="003366"/>
                          </a:solidFill>
                          <a:latin typeface="Roboto Black"/>
                          <a:ea typeface="Roboto Black"/>
                          <a:cs typeface="Roboto Black"/>
                        </a:rPr>
                        <a:t>GSM8K</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0.80 / 0.76 / 0.67</a:t>
                      </a:r>
                    </a:p>
                  </a:txBody>
                  <a:tcPr marL="54864" marR="54864" marT="27432" marB="27432" anchor="ctr">
                    <a:solidFill>
                      <a:srgbClr val="F3F6FB"/>
                    </a:solidFill>
                  </a:tcPr>
                </a:tc>
                <a:tc>
                  <a:txBody>
                    <a:bodyPr wrap="square"/>
                    <a:lstStyle/>
                    <a:p>
                      <a:pPr>
                        <a:spcBef>
                          <a:spcPts val="0"/>
                        </a:spcBef>
                        <a:buNone/>
                      </a:pPr>
                      <a:r>
                        <a:rPr sz="1400" b="1">
                          <a:solidFill>
                            <a:srgbClr val="003366"/>
                          </a:solidFill>
                          <a:latin typeface="Roboto Black"/>
                          <a:ea typeface="Roboto Black"/>
                          <a:cs typeface="Roboto Black"/>
                        </a:rPr>
                        <a:t>0.64 / 0.51 / 0.42</a:t>
                      </a:r>
                    </a:p>
                  </a:txBody>
                  <a:tcPr marL="54864" marR="54864" marT="27432" marB="27432" anchor="ctr">
                    <a:solidFill>
                      <a:srgbClr val="F3F6FB"/>
                    </a:solidFill>
                  </a:tcPr>
                </a:tc>
              </a:tr>
              <a:tr h="457200">
                <a:tc>
                  <a:txBody>
                    <a:bodyPr wrap="square"/>
                    <a:lstStyle/>
                    <a:p>
                      <a:pPr>
                        <a:spcBef>
                          <a:spcPts val="0"/>
                        </a:spcBef>
                        <a:buNone/>
                      </a:pPr>
                      <a:r>
                        <a:rPr sz="1400" b="1">
                          <a:solidFill>
                            <a:srgbClr val="003366"/>
                          </a:solidFill>
                          <a:latin typeface="Roboto Black"/>
                          <a:ea typeface="Roboto Black"/>
                          <a:cs typeface="Roboto Black"/>
                        </a:rPr>
                        <a:t>SVAMP</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0.70 / 0.68 / 0.71</a:t>
                      </a:r>
                    </a:p>
                  </a:txBody>
                  <a:tcPr marL="54864" marR="54864" marT="27432" marB="27432" anchor="ctr">
                    <a:solidFill>
                      <a:srgbClr val="FFFFFF"/>
                    </a:solidFill>
                  </a:tcPr>
                </a:tc>
                <a:tc>
                  <a:txBody>
                    <a:bodyPr wrap="square"/>
                    <a:lstStyle/>
                    <a:p>
                      <a:pPr>
                        <a:spcBef>
                          <a:spcPts val="0"/>
                        </a:spcBef>
                        <a:buNone/>
                      </a:pPr>
                      <a:r>
                        <a:rPr sz="1400" b="1">
                          <a:solidFill>
                            <a:srgbClr val="003366"/>
                          </a:solidFill>
                          <a:latin typeface="Roboto Black"/>
                          <a:ea typeface="Roboto Black"/>
                          <a:cs typeface="Roboto Black"/>
                        </a:rPr>
                        <a:t>0.64 / 0.48 / 0.39</a:t>
                      </a:r>
                    </a:p>
                  </a:txBody>
                  <a:tcPr marL="54864" marR="54864" marT="27432" marB="27432" anchor="ctr">
                    <a:solidFill>
                      <a:srgbClr val="FFFFFF"/>
                    </a:solidFill>
                  </a:tcPr>
                </a:tc>
              </a:tr>
              <a:tr h="457200">
                <a:tc>
                  <a:txBody>
                    <a:bodyPr wrap="square"/>
                    <a:lstStyle/>
                    <a:p>
                      <a:pPr>
                        <a:spcBef>
                          <a:spcPts val="0"/>
                        </a:spcBef>
                        <a:buNone/>
                      </a:pPr>
                      <a:r>
                        <a:rPr sz="1400" b="1">
                          <a:solidFill>
                            <a:srgbClr val="003366"/>
                          </a:solidFill>
                          <a:latin typeface="Roboto Black"/>
                          <a:ea typeface="Roboto Black"/>
                          <a:cs typeface="Roboto Black"/>
                        </a:rPr>
                        <a:t>HumanEval</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0.76 / 0.65 / 0.56</a:t>
                      </a:r>
                    </a:p>
                  </a:txBody>
                  <a:tcPr marL="54864" marR="54864" marT="27432" marB="27432" anchor="ctr">
                    <a:solidFill>
                      <a:srgbClr val="F3F6FB"/>
                    </a:solidFill>
                  </a:tcPr>
                </a:tc>
                <a:tc>
                  <a:txBody>
                    <a:bodyPr wrap="square"/>
                    <a:lstStyle/>
                    <a:p>
                      <a:pPr>
                        <a:spcBef>
                          <a:spcPts val="0"/>
                        </a:spcBef>
                        <a:buNone/>
                      </a:pPr>
                      <a:r>
                        <a:rPr sz="1400" b="1">
                          <a:solidFill>
                            <a:srgbClr val="003366"/>
                          </a:solidFill>
                          <a:latin typeface="Roboto Black"/>
                          <a:ea typeface="Roboto Black"/>
                          <a:cs typeface="Roboto Black"/>
                        </a:rPr>
                        <a:t>0.68 / 0.44</a:t>
                      </a:r>
                      <a:r>
                        <a:rPr sz="1400" b="0">
                          <a:solidFill>
                            <a:srgbClr val="222222"/>
                          </a:solidFill>
                          <a:latin typeface="Roboto Medium"/>
                          <a:ea typeface="Roboto Medium"/>
                          <a:cs typeface="Roboto Medium"/>
                        </a:rPr>
                        <a:t> / 0.52</a:t>
                      </a:r>
                    </a:p>
                  </a:txBody>
                  <a:tcPr marL="54864" marR="54864" marT="27432" marB="27432" anchor="ctr">
                    <a:solidFill>
                      <a:srgbClr val="F3F6FB"/>
                    </a:solidFill>
                  </a:tcPr>
                </a:tc>
              </a:tr>
            </a:tbl>
          </a:graphicData>
        </a:graphic>
      </p:graphicFrame>
      <p:sp>
        <p:nvSpPr>
          <p:cNvPr id="11" name="Rectangle 10"/>
          <p:cNvSpPr/>
          <p:nvPr/>
        </p:nvSpPr>
        <p:spPr>
          <a:xfrm>
            <a:off x="6675120" y="3977639"/>
            <a:ext cx="5074920" cy="196596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675120" y="3977639"/>
            <a:ext cx="50749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21424" y="4087368"/>
            <a:ext cx="4800600" cy="178308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Hạn chế</a:t>
            </a:r>
          </a:p>
          <a:p>
            <a:pPr marL="125984" indent="-125984">
              <a:spcBef>
                <a:spcPts val="400"/>
              </a:spcBef>
              <a:buClr>
                <a:srgbClr val="C00000"/>
              </a:buClr>
              <a:buFont typeface="Arial"/>
              <a:buChar char="•"/>
            </a:pPr>
            <a:r>
              <a:rPr sz="1600" b="0">
                <a:solidFill>
                  <a:srgbClr val="222222"/>
                </a:solidFill>
                <a:latin typeface="Roboto Medium"/>
                <a:ea typeface="Roboto Medium"/>
                <a:cs typeface="Roboto Medium"/>
              </a:rPr>
              <a:t>Chỉ 1 tấn công, không có adaptive attacker.</a:t>
            </a:r>
          </a:p>
          <a:p>
            <a:pPr marL="125984" indent="-125984">
              <a:spcBef>
                <a:spcPts val="400"/>
              </a:spcBef>
              <a:buClr>
                <a:srgbClr val="C00000"/>
              </a:buClr>
              <a:buFont typeface="Arial"/>
              <a:buChar char="•"/>
            </a:pPr>
            <a:r>
              <a:rPr sz="1600" b="0">
                <a:solidFill>
                  <a:srgbClr val="222222"/>
                </a:solidFill>
                <a:latin typeface="Roboto Medium"/>
                <a:ea typeface="Roboto Medium"/>
                <a:cs typeface="Roboto Medium"/>
              </a:rPr>
              <a:t>AUC vẫn 0.64–0.68, xa mức lý tưởng 0.5.</a:t>
            </a:r>
          </a:p>
          <a:p>
            <a:pPr marL="125984" indent="-125984">
              <a:spcBef>
                <a:spcPts val="400"/>
              </a:spcBef>
              <a:buClr>
                <a:srgbClr val="C00000"/>
              </a:buClr>
              <a:buFont typeface="Arial"/>
              <a:buChar char="•"/>
            </a:pPr>
            <a:r>
              <a:rPr sz="1600" b="0">
                <a:solidFill>
                  <a:srgbClr val="222222"/>
                </a:solidFill>
                <a:latin typeface="Roboto Medium"/>
                <a:ea typeface="Roboto Medium"/>
                <a:cs typeface="Roboto Medium"/>
              </a:rPr>
              <a:t>Không báo cáo chi phí của các lần gọi LLM thêm.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TIDE: misinformation làm chệch collective fact recovery</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11</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5852160" cy="301752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Thiết lập</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120 môi trường</a:t>
            </a:r>
            <a:r>
              <a:rPr sz="1700" b="0">
                <a:solidFill>
                  <a:srgbClr val="222222"/>
                </a:solidFill>
                <a:latin typeface="Roboto Medium"/>
                <a:ea typeface="Roboto Medium"/>
                <a:cs typeface="Roboto Medium"/>
              </a:rPr>
              <a:t> Hi-ToM; 5 agent, mỗi agent chỉ thấy một phần chuỗi vị trí.</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C0: tất cả trung thực · C1: key agent nói dối (Event / Coverage / Source).</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GPT-5.5, DeepSeek-v4-pro, Grok-4.5; đo cả </a:t>
            </a:r>
            <a:r>
              <a:rPr sz="1700" b="1">
                <a:solidFill>
                  <a:srgbClr val="003366"/>
                </a:solidFill>
                <a:latin typeface="Roboto Black"/>
                <a:ea typeface="Roboto Black"/>
                <a:cs typeface="Roboto Black"/>
              </a:rPr>
              <a:t>evidence lineage</a:t>
            </a:r>
            <a:r>
              <a:rPr sz="1700" b="0">
                <a:solidFill>
                  <a:srgbClr val="222222"/>
                </a:solidFill>
                <a:latin typeface="Roboto Medium"/>
                <a:ea typeface="Roboto Medium"/>
                <a:cs typeface="Roboto Medium"/>
              </a:rPr>
              <a:t>.</a:t>
            </a:r>
          </a:p>
        </p:txBody>
      </p:sp>
      <p:sp>
        <p:nvSpPr>
          <p:cNvPr id="9" name="Rectangle 8"/>
          <p:cNvSpPr/>
          <p:nvPr/>
        </p:nvSpPr>
        <p:spPr>
          <a:xfrm>
            <a:off x="6492240" y="960120"/>
            <a:ext cx="5285232" cy="297180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92240" y="960120"/>
            <a:ext cx="528523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38544" y="1069848"/>
            <a:ext cx="5029200" cy="365760"/>
          </a:xfrm>
          <a:prstGeom prst="rect">
            <a:avLst/>
          </a:prstGeom>
          <a:noFill/>
        </p:spPr>
        <p:txBody>
          <a:bodyPr wrap="square" anchor="t" lIns="45720" rIns="45720" tIns="18288" bIns="18288"/>
          <a:lstStyle/>
          <a:p>
            <a:pPr>
              <a:spcBef>
                <a:spcPts val="0"/>
              </a:spcBef>
              <a:buNone/>
            </a:pPr>
            <a:r>
              <a:rPr sz="1500" b="1">
                <a:solidFill>
                  <a:srgbClr val="666666"/>
                </a:solidFill>
                <a:latin typeface="Roboto Black"/>
                <a:ea typeface="Roboto Black"/>
                <a:cs typeface="Roboto Black"/>
              </a:rPr>
              <a:t>Tỉ lệ đa số đúng (C0 → C1)</a:t>
            </a:r>
          </a:p>
        </p:txBody>
      </p:sp>
      <p:sp>
        <p:nvSpPr>
          <p:cNvPr id="12" name="TextBox 11"/>
          <p:cNvSpPr txBox="1"/>
          <p:nvPr/>
        </p:nvSpPr>
        <p:spPr>
          <a:xfrm>
            <a:off x="6638544" y="1463040"/>
            <a:ext cx="5029200" cy="1005840"/>
          </a:xfrm>
          <a:prstGeom prst="rect">
            <a:avLst/>
          </a:prstGeom>
          <a:noFill/>
        </p:spPr>
        <p:txBody>
          <a:bodyPr wrap="square" anchor="t" lIns="45720" rIns="45720" tIns="18288" bIns="18288"/>
          <a:lstStyle/>
          <a:p>
            <a:pPr>
              <a:spcBef>
                <a:spcPts val="0"/>
              </a:spcBef>
              <a:buNone/>
            </a:pPr>
            <a:r>
              <a:rPr sz="4400" b="1">
                <a:solidFill>
                  <a:srgbClr val="003366"/>
                </a:solidFill>
                <a:latin typeface="Roboto Black"/>
                <a:ea typeface="Roboto Black"/>
                <a:cs typeface="Roboto Black"/>
              </a:rPr>
              <a:t>72.50% → </a:t>
            </a:r>
            <a:r>
              <a:rPr sz="4400" b="1">
                <a:solidFill>
                  <a:srgbClr val="C00000"/>
                </a:solidFill>
                <a:latin typeface="Roboto Black"/>
                <a:ea typeface="Roboto Black"/>
                <a:cs typeface="Roboto Black"/>
              </a:rPr>
              <a:t>14.17%</a:t>
            </a:r>
          </a:p>
        </p:txBody>
      </p:sp>
      <p:sp>
        <p:nvSpPr>
          <p:cNvPr id="13" name="TextBox 12"/>
          <p:cNvSpPr txBox="1"/>
          <p:nvPr/>
        </p:nvSpPr>
        <p:spPr>
          <a:xfrm>
            <a:off x="6638544" y="2514600"/>
            <a:ext cx="2468880" cy="685800"/>
          </a:xfrm>
          <a:prstGeom prst="rect">
            <a:avLst/>
          </a:prstGeom>
          <a:noFill/>
        </p:spPr>
        <p:txBody>
          <a:bodyPr wrap="square" anchor="t" lIns="45720" rIns="45720" tIns="18288" bIns="18288"/>
          <a:lstStyle/>
          <a:p>
            <a:pPr>
              <a:spcBef>
                <a:spcPts val="0"/>
              </a:spcBef>
              <a:buNone/>
            </a:pPr>
            <a:r>
              <a:rPr sz="2200" b="1">
                <a:solidFill>
                  <a:srgbClr val="C00000"/>
                </a:solidFill>
                <a:latin typeface="Roboto Black"/>
                <a:ea typeface="Roboto Black"/>
                <a:cs typeface="Roboto Black"/>
              </a:rPr>
              <a:t>70.7% vs 25.4%</a:t>
            </a:r>
          </a:p>
        </p:txBody>
      </p:sp>
      <p:sp>
        <p:nvSpPr>
          <p:cNvPr id="14" name="TextBox 13"/>
          <p:cNvSpPr txBox="1"/>
          <p:nvPr/>
        </p:nvSpPr>
        <p:spPr>
          <a:xfrm>
            <a:off x="6638544" y="3172968"/>
            <a:ext cx="2468880" cy="64008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testimony sai vs đúng được chấp nhận</a:t>
            </a:r>
          </a:p>
        </p:txBody>
      </p:sp>
      <p:sp>
        <p:nvSpPr>
          <p:cNvPr id="15" name="TextBox 14"/>
          <p:cNvSpPr txBox="1"/>
          <p:nvPr/>
        </p:nvSpPr>
        <p:spPr>
          <a:xfrm>
            <a:off x="9189720" y="2514600"/>
            <a:ext cx="2468880" cy="685800"/>
          </a:xfrm>
          <a:prstGeom prst="rect">
            <a:avLst/>
          </a:prstGeom>
          <a:noFill/>
        </p:spPr>
        <p:txBody>
          <a:bodyPr wrap="square" anchor="t" lIns="45720" rIns="45720" tIns="18288" bIns="18288"/>
          <a:lstStyle/>
          <a:p>
            <a:pPr>
              <a:spcBef>
                <a:spcPts val="0"/>
              </a:spcBef>
              <a:buNone/>
            </a:pPr>
            <a:r>
              <a:rPr sz="2200" b="1">
                <a:solidFill>
                  <a:srgbClr val="003366"/>
                </a:solidFill>
                <a:latin typeface="Roboto Black"/>
                <a:ea typeface="Roboto Black"/>
                <a:cs typeface="Roboto Black"/>
              </a:rPr>
              <a:t>2.66 vs 1.33</a:t>
            </a:r>
          </a:p>
        </p:txBody>
      </p:sp>
      <p:sp>
        <p:nvSpPr>
          <p:cNvPr id="16" name="TextBox 15"/>
          <p:cNvSpPr txBox="1"/>
          <p:nvPr/>
        </p:nvSpPr>
        <p:spPr>
          <a:xfrm>
            <a:off x="9189720" y="3172968"/>
            <a:ext cx="2468880" cy="64008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propagation order: sai vs đúng</a:t>
            </a:r>
          </a:p>
        </p:txBody>
      </p:sp>
      <p:sp>
        <p:nvSpPr>
          <p:cNvPr id="17" name="Rectangle 16"/>
          <p:cNvSpPr/>
          <p:nvPr/>
        </p:nvSpPr>
        <p:spPr>
          <a:xfrm>
            <a:off x="411480" y="4114800"/>
            <a:ext cx="11365992" cy="182880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11480" y="4114800"/>
            <a:ext cx="1136599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7784" y="4224528"/>
            <a:ext cx="11064240" cy="164592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Thông điệp</a:t>
            </a:r>
          </a:p>
          <a:p>
            <a:pPr marL="129921" indent="-129921">
              <a:spcBef>
                <a:spcPts val="400"/>
              </a:spcBef>
              <a:buClr>
                <a:srgbClr val="C00000"/>
              </a:buClr>
              <a:buFont typeface="Arial"/>
              <a:buChar char="•"/>
            </a:pPr>
            <a:r>
              <a:rPr sz="1650" b="0">
                <a:solidFill>
                  <a:srgbClr val="222222"/>
                </a:solidFill>
                <a:latin typeface="Roboto Medium"/>
                <a:ea typeface="Roboto Medium"/>
                <a:cs typeface="Roboto Medium"/>
              </a:rPr>
              <a:t>Thảo luận </a:t>
            </a:r>
            <a:r>
              <a:rPr sz="1650" b="1">
                <a:solidFill>
                  <a:srgbClr val="003366"/>
                </a:solidFill>
                <a:latin typeface="Roboto Black"/>
                <a:ea typeface="Roboto Black"/>
                <a:cs typeface="Roboto Black"/>
              </a:rPr>
              <a:t>khuếch đại</a:t>
            </a:r>
            <a:r>
              <a:rPr sz="1650" b="0">
                <a:solidFill>
                  <a:srgbClr val="222222"/>
                </a:solidFill>
                <a:latin typeface="Roboto Medium"/>
                <a:ea typeface="Roboto Medium"/>
                <a:cs typeface="Roboto Medium"/>
              </a:rPr>
              <a:t> chiều hướng của bằng chứng ban đầu thay vì sửa sai; ~85% khoảng cách hình thành ngay khi chia sẻ testimony.</a:t>
            </a:r>
          </a:p>
          <a:p>
            <a:pPr marL="129921" indent="-129921">
              <a:spcBef>
                <a:spcPts val="400"/>
              </a:spcBef>
              <a:buClr>
                <a:srgbClr val="C00000"/>
              </a:buClr>
              <a:buFont typeface="Arial"/>
              <a:buChar char="•"/>
            </a:pPr>
            <a:r>
              <a:rPr sz="1650" b="0">
                <a:solidFill>
                  <a:srgbClr val="222222"/>
                </a:solidFill>
                <a:latin typeface="Roboto Medium"/>
                <a:ea typeface="Roboto Medium"/>
                <a:cs typeface="Roboto Medium"/>
              </a:rPr>
              <a:t>Observer giảm 90% decoy majority nhưng </a:t>
            </a:r>
            <a:r>
              <a:rPr sz="1650" b="1">
                <a:solidFill>
                  <a:srgbClr val="003366"/>
                </a:solidFill>
                <a:latin typeface="Roboto Black"/>
                <a:ea typeface="Roboto Black"/>
                <a:cs typeface="Roboto Black"/>
              </a:rPr>
              <a:t>không</a:t>
            </a:r>
            <a:r>
              <a:rPr sz="1650" b="0">
                <a:solidFill>
                  <a:srgbClr val="222222"/>
                </a:solidFill>
                <a:latin typeface="Roboto Medium"/>
                <a:ea typeface="Roboto Medium"/>
                <a:cs typeface="Roboto Medium"/>
              </a:rPr>
              <a:t> tăng đáp án đúng. Hạn chế: 1 tác vụ hẹp, chưa có defense.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3.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03</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3</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Orchestration &amp; Control</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ProgRouter: routing LLM theo tiến độ</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HalluProp: dự báo rủi ro trước khi chạy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ProgRouter: chọn LLM cho từng bước của workflow</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3. Orchestration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13</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5852160" cy="3291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Bài toán</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Router cũ quyết định </a:t>
            </a:r>
            <a:r>
              <a:rPr sz="1700" b="1">
                <a:solidFill>
                  <a:srgbClr val="003366"/>
                </a:solidFill>
                <a:latin typeface="Roboto Black"/>
                <a:ea typeface="Roboto Black"/>
                <a:cs typeface="Roboto Black"/>
              </a:rPr>
              <a:t>1 lần/câu hỏi</a:t>
            </a:r>
            <a:r>
              <a:rPr sz="1700" b="0">
                <a:solidFill>
                  <a:srgbClr val="222222"/>
                </a:solidFill>
                <a:latin typeface="Roboto Medium"/>
                <a:ea typeface="Roboto Medium"/>
                <a:cs typeface="Roboto Medium"/>
              </a:rPr>
              <a:t>; workflow cần quyết định </a:t>
            </a:r>
            <a:r>
              <a:rPr sz="1700" b="1">
                <a:solidFill>
                  <a:srgbClr val="003366"/>
                </a:solidFill>
                <a:latin typeface="Roboto Black"/>
                <a:ea typeface="Roboto Black"/>
                <a:cs typeface="Roboto Black"/>
              </a:rPr>
              <a:t>từng bước</a:t>
            </a:r>
            <a:r>
              <a:rPr sz="1700" b="0">
                <a:solidFill>
                  <a:srgbClr val="222222"/>
                </a:solidFill>
                <a:latin typeface="Roboto Medium"/>
                <a:ea typeface="Roboto Medium"/>
                <a:cs typeface="Roboto Medium"/>
              </a:rPr>
              <a:t>.</a:t>
            </a:r>
          </a:p>
          <a:p>
            <a:pPr>
              <a:spcBef>
                <a:spcPts val="1200"/>
              </a:spcBef>
              <a:buNone/>
            </a:pPr>
            <a:r>
              <a:rPr sz="2000" b="1">
                <a:solidFill>
                  <a:srgbClr val="003366"/>
                </a:solidFill>
                <a:latin typeface="Roboto Black"/>
                <a:ea typeface="Roboto Black"/>
                <a:cs typeface="Roboto Black"/>
              </a:rPr>
              <a:t>Ba thành phần</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Progress scorer</a:t>
            </a:r>
            <a:r>
              <a:rPr sz="1700" b="0">
                <a:solidFill>
                  <a:srgbClr val="222222"/>
                </a:solidFill>
                <a:latin typeface="Roboto Medium"/>
                <a:ea typeface="Roboto Medium"/>
                <a:cs typeface="Roboto Medium"/>
              </a:rPr>
              <a:t> g(s_t) ∈ [0,1].</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Predictor</a:t>
            </a:r>
            <a:r>
              <a:rPr sz="1700" b="0">
                <a:solidFill>
                  <a:srgbClr val="222222"/>
                </a:solidFill>
                <a:latin typeface="Roboto Medium"/>
                <a:ea typeface="Roboto Medium"/>
                <a:cs typeface="Roboto Medium"/>
              </a:rPr>
              <a:t> hai nhánh + XGBoost meta-learner.</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Lyapunov drift-plus-penalty</a:t>
            </a:r>
            <a:r>
              <a:rPr sz="1700" b="0">
                <a:solidFill>
                  <a:srgbClr val="222222"/>
                </a:solidFill>
                <a:latin typeface="Roboto Medium"/>
                <a:ea typeface="Roboto Medium"/>
                <a:cs typeface="Roboto Medium"/>
              </a:rPr>
              <a:t> với ngân sách năng lượng.</a:t>
            </a:r>
          </a:p>
        </p:txBody>
      </p:sp>
      <p:sp>
        <p:nvSpPr>
          <p:cNvPr id="9" name="Rectangle 8"/>
          <p:cNvSpPr/>
          <p:nvPr/>
        </p:nvSpPr>
        <p:spPr>
          <a:xfrm>
            <a:off x="411480" y="4343400"/>
            <a:ext cx="5852160" cy="160020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1480" y="4343400"/>
            <a:ext cx="585216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7784" y="4453128"/>
            <a:ext cx="5577840" cy="141732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Điểm định tuyến</a:t>
            </a:r>
          </a:p>
          <a:p>
            <a:pPr>
              <a:spcBef>
                <a:spcPts val="600"/>
              </a:spcBef>
              <a:buNone/>
            </a:pPr>
            <a:r>
              <a:rPr sz="1550" b="1">
                <a:solidFill>
                  <a:srgbClr val="003366"/>
                </a:solidFill>
                <a:latin typeface="Roboto Black"/>
                <a:ea typeface="Roboto Black"/>
                <a:cs typeface="Roboto Black"/>
              </a:rPr>
              <a:t>score(m) = V·(1−g)·ŷ(m) − Q·(E(m)−Ē) − c_Γ·Γ(m) − c_E·E(m)</a:t>
            </a:r>
          </a:p>
          <a:p>
            <a:pPr>
              <a:spcBef>
                <a:spcPts val="400"/>
              </a:spcBef>
              <a:buNone/>
            </a:pPr>
            <a:r>
              <a:rPr sz="1400" b="0">
                <a:solidFill>
                  <a:srgbClr val="666666"/>
                </a:solidFill>
                <a:latin typeface="Roboto Medium"/>
                <a:ea typeface="Roboto Medium"/>
                <a:cs typeface="Roboto Medium"/>
              </a:rPr>
              <a:t>Tiến độ có giá trị hơn khi tác vụ còn xa đích.</a:t>
            </a:r>
          </a:p>
        </p:txBody>
      </p:sp>
      <p:sp>
        <p:nvSpPr>
          <p:cNvPr id="12" name="TextBox 11"/>
          <p:cNvSpPr txBox="1"/>
          <p:nvPr/>
        </p:nvSpPr>
        <p:spPr>
          <a:xfrm>
            <a:off x="6492240" y="914400"/>
            <a:ext cx="5285232" cy="365760"/>
          </a:xfrm>
          <a:prstGeom prst="rect">
            <a:avLst/>
          </a:prstGeom>
          <a:noFill/>
        </p:spPr>
        <p:txBody>
          <a:bodyPr wrap="square" anchor="t" lIns="45720" rIns="45720" tIns="18288" bIns="18288"/>
          <a:lstStyle/>
          <a:p>
            <a:pPr>
              <a:spcBef>
                <a:spcPts val="0"/>
              </a:spcBef>
              <a:buNone/>
            </a:pPr>
            <a:r>
              <a:rPr sz="1300" b="1">
                <a:solidFill>
                  <a:srgbClr val="666666"/>
                </a:solidFill>
                <a:latin typeface="Roboto Black"/>
                <a:ea typeface="Roboto Black"/>
                <a:cs typeface="Roboto Black"/>
              </a:rPr>
              <a:t>Accuracy % / năng lượng J (in đỏ: vượt ngân sách)</a:t>
            </a:r>
          </a:p>
        </p:txBody>
      </p:sp>
      <p:graphicFrame>
        <p:nvGraphicFramePr>
          <p:cNvPr id="13" name="Table 12"/>
          <p:cNvGraphicFramePr>
            <a:graphicFrameLocks noGrp="1"/>
          </p:cNvGraphicFramePr>
          <p:nvPr/>
        </p:nvGraphicFramePr>
        <p:xfrm>
          <a:off x="6492240" y="1298448"/>
          <a:ext cx="5285232" cy="2011680"/>
        </p:xfrm>
        <a:graphic>
          <a:graphicData uri="http://schemas.openxmlformats.org/drawingml/2006/table">
            <a:tbl>
              <a:tblPr firstRow="0" bandRow="0"/>
              <a:tblGrid>
                <a:gridCol w="1353312"/>
                <a:gridCol w="1325880"/>
                <a:gridCol w="1325880"/>
                <a:gridCol w="1280160"/>
              </a:tblGrid>
              <a:tr h="502920">
                <a:tc>
                  <a:txBody>
                    <a:bodyPr wrap="square"/>
                    <a:lstStyle/>
                    <a:p>
                      <a:pPr>
                        <a:spcBef>
                          <a:spcPts val="0"/>
                        </a:spcBef>
                        <a:buNone/>
                      </a:pPr>
                      <a:r>
                        <a:rPr sz="1400" b="1">
                          <a:solidFill>
                            <a:srgbClr val="FFFFFF"/>
                          </a:solidFill>
                          <a:latin typeface="Roboto Black"/>
                          <a:ea typeface="Roboto Black"/>
                          <a:cs typeface="Roboto Black"/>
                        </a:rPr>
                        <a:t>Method</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HumanEval+</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MBPP</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MATH-500</a:t>
                      </a:r>
                    </a:p>
                  </a:txBody>
                  <a:tcPr marL="54864" marR="54864" marT="27432" marB="27432" anchor="ctr">
                    <a:solidFill>
                      <a:srgbClr val="003366"/>
                    </a:solidFill>
                  </a:tcPr>
                </a:tc>
              </a:tr>
              <a:tr h="502920">
                <a:tc>
                  <a:txBody>
                    <a:bodyPr wrap="square"/>
                    <a:lstStyle/>
                    <a:p>
                      <a:pPr>
                        <a:spcBef>
                          <a:spcPts val="0"/>
                        </a:spcBef>
                        <a:buNone/>
                      </a:pPr>
                      <a:r>
                        <a:rPr sz="1400" b="1">
                          <a:solidFill>
                            <a:srgbClr val="003366"/>
                          </a:solidFill>
                          <a:latin typeface="Roboto Black"/>
                          <a:ea typeface="Roboto Black"/>
                          <a:cs typeface="Roboto Black"/>
                        </a:rPr>
                        <a:t>MasRouter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90.9 / 4483</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67.8 / 3700</a:t>
                      </a:r>
                    </a:p>
                  </a:txBody>
                  <a:tcPr marL="54864" marR="54864" marT="27432" marB="27432" anchor="ctr">
                    <a:solidFill>
                      <a:srgbClr val="FFFFFF"/>
                    </a:solidFill>
                  </a:tcPr>
                </a:tc>
                <a:tc>
                  <a:txBody>
                    <a:bodyPr wrap="square"/>
                    <a:lstStyle/>
                    <a:p>
                      <a:pPr>
                        <a:spcBef>
                          <a:spcPts val="0"/>
                        </a:spcBef>
                        <a:buNone/>
                      </a:pPr>
                      <a:r>
                        <a:rPr sz="1400" b="1">
                          <a:solidFill>
                            <a:srgbClr val="C00000"/>
                          </a:solidFill>
                          <a:latin typeface="Roboto Black"/>
                          <a:ea typeface="Roboto Black"/>
                          <a:cs typeface="Roboto Black"/>
                        </a:rPr>
                        <a:t>73.6 / 8294</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CASCADIA</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84.8 / 4658</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78.5 / 3857</a:t>
                      </a:r>
                    </a:p>
                  </a:txBody>
                  <a:tcPr marL="54864" marR="54864" marT="27432" marB="27432" anchor="ctr">
                    <a:solidFill>
                      <a:srgbClr val="F3F6FB"/>
                    </a:solidFill>
                  </a:tcPr>
                </a:tc>
                <a:tc>
                  <a:txBody>
                    <a:bodyPr wrap="square"/>
                    <a:lstStyle/>
                    <a:p>
                      <a:pPr>
                        <a:spcBef>
                          <a:spcPts val="0"/>
                        </a:spcBef>
                        <a:buNone/>
                      </a:pPr>
                      <a:r>
                        <a:rPr sz="1400" b="1">
                          <a:solidFill>
                            <a:srgbClr val="003366"/>
                          </a:solidFill>
                          <a:latin typeface="Roboto Black"/>
                          <a:ea typeface="Roboto Black"/>
                          <a:cs typeface="Roboto Black"/>
                        </a:rPr>
                        <a:t>87.8</a:t>
                      </a:r>
                      <a:r>
                        <a:rPr sz="1400" b="0">
                          <a:solidFill>
                            <a:srgbClr val="222222"/>
                          </a:solidFill>
                          <a:latin typeface="Roboto Medium"/>
                          <a:ea typeface="Roboto Medium"/>
                          <a:cs typeface="Roboto Medium"/>
                        </a:rPr>
                        <a:t> / 6875</a:t>
                      </a:r>
                    </a:p>
                  </a:txBody>
                  <a:tcPr marL="54864" marR="54864" marT="27432" marB="27432" anchor="ctr">
                    <a:solidFill>
                      <a:srgbClr val="F3F6FB"/>
                    </a:solidFill>
                  </a:tcPr>
                </a:tc>
              </a:tr>
              <a:tr h="502920">
                <a:tc>
                  <a:txBody>
                    <a:bodyPr wrap="square"/>
                    <a:lstStyle/>
                    <a:p>
                      <a:pPr>
                        <a:spcBef>
                          <a:spcPts val="0"/>
                        </a:spcBef>
                        <a:buNone/>
                      </a:pPr>
                      <a:r>
                        <a:rPr sz="1400" b="1">
                          <a:solidFill>
                            <a:srgbClr val="C00000"/>
                          </a:solidFill>
                          <a:latin typeface="Roboto Black"/>
                          <a:ea typeface="Roboto Black"/>
                          <a:cs typeface="Roboto Black"/>
                        </a:rPr>
                        <a:t>ProgRouter</a:t>
                      </a:r>
                    </a:p>
                  </a:txBody>
                  <a:tcPr marL="54864" marR="54864" marT="27432" marB="27432" anchor="ctr">
                    <a:solidFill>
                      <a:srgbClr val="FCF4F4"/>
                    </a:solidFill>
                  </a:tcPr>
                </a:tc>
                <a:tc>
                  <a:txBody>
                    <a:bodyPr wrap="square"/>
                    <a:lstStyle/>
                    <a:p>
                      <a:pPr>
                        <a:spcBef>
                          <a:spcPts val="0"/>
                        </a:spcBef>
                        <a:buNone/>
                      </a:pPr>
                      <a:r>
                        <a:rPr sz="1400" b="1">
                          <a:solidFill>
                            <a:srgbClr val="003366"/>
                          </a:solidFill>
                          <a:latin typeface="Roboto Black"/>
                          <a:ea typeface="Roboto Black"/>
                          <a:cs typeface="Roboto Black"/>
                        </a:rPr>
                        <a:t>93.0</a:t>
                      </a:r>
                      <a:r>
                        <a:rPr sz="1400" b="0">
                          <a:solidFill>
                            <a:srgbClr val="222222"/>
                          </a:solidFill>
                          <a:latin typeface="Roboto Medium"/>
                          <a:ea typeface="Roboto Medium"/>
                          <a:cs typeface="Roboto Medium"/>
                        </a:rPr>
                        <a:t> / 4796</a:t>
                      </a:r>
                    </a:p>
                  </a:txBody>
                  <a:tcPr marL="54864" marR="54864" marT="27432" marB="27432" anchor="ctr">
                    <a:solidFill>
                      <a:srgbClr val="FCF4F4"/>
                    </a:solidFill>
                  </a:tcPr>
                </a:tc>
                <a:tc>
                  <a:txBody>
                    <a:bodyPr wrap="square"/>
                    <a:lstStyle/>
                    <a:p>
                      <a:pPr>
                        <a:spcBef>
                          <a:spcPts val="0"/>
                        </a:spcBef>
                        <a:buNone/>
                      </a:pPr>
                      <a:r>
                        <a:rPr sz="1400" b="1">
                          <a:solidFill>
                            <a:srgbClr val="003366"/>
                          </a:solidFill>
                          <a:latin typeface="Roboto Black"/>
                          <a:ea typeface="Roboto Black"/>
                          <a:cs typeface="Roboto Black"/>
                        </a:rPr>
                        <a:t>79.4 / 3376</a:t>
                      </a:r>
                    </a:p>
                  </a:txBody>
                  <a:tcPr marL="54864" marR="54864" marT="27432" marB="27432" anchor="ctr">
                    <a:solidFill>
                      <a:srgbClr val="FCF4F4"/>
                    </a:solidFill>
                  </a:tcPr>
                </a:tc>
                <a:tc>
                  <a:txBody>
                    <a:bodyPr wrap="square"/>
                    <a:lstStyle/>
                    <a:p>
                      <a:pPr>
                        <a:spcBef>
                          <a:spcPts val="0"/>
                        </a:spcBef>
                        <a:buNone/>
                      </a:pPr>
                      <a:r>
                        <a:rPr sz="1400" b="0">
                          <a:solidFill>
                            <a:srgbClr val="222222"/>
                          </a:solidFill>
                          <a:latin typeface="Roboto Medium"/>
                          <a:ea typeface="Roboto Medium"/>
                          <a:cs typeface="Roboto Medium"/>
                        </a:rPr>
                        <a:t>84.3 / </a:t>
                      </a:r>
                      <a:r>
                        <a:rPr sz="1400" b="1">
                          <a:solidFill>
                            <a:srgbClr val="003366"/>
                          </a:solidFill>
                          <a:latin typeface="Roboto Black"/>
                          <a:ea typeface="Roboto Black"/>
                          <a:cs typeface="Roboto Black"/>
                        </a:rPr>
                        <a:t>6112</a:t>
                      </a:r>
                    </a:p>
                  </a:txBody>
                  <a:tcPr marL="54864" marR="54864" marT="27432" marB="27432" anchor="ctr">
                    <a:solidFill>
                      <a:srgbClr val="FCF4F4"/>
                    </a:solidFill>
                  </a:tcPr>
                </a:tc>
              </a:tr>
            </a:tbl>
          </a:graphicData>
        </a:graphic>
      </p:graphicFrame>
      <p:sp>
        <p:nvSpPr>
          <p:cNvPr id="14" name="TextBox 13"/>
          <p:cNvSpPr txBox="1"/>
          <p:nvPr/>
        </p:nvSpPr>
        <p:spPr>
          <a:xfrm>
            <a:off x="6492240" y="3520440"/>
            <a:ext cx="2560320" cy="685800"/>
          </a:xfrm>
          <a:prstGeom prst="rect">
            <a:avLst/>
          </a:prstGeom>
          <a:noFill/>
        </p:spPr>
        <p:txBody>
          <a:bodyPr wrap="square" anchor="t" lIns="45720" rIns="45720" tIns="18288" bIns="18288"/>
          <a:lstStyle/>
          <a:p>
            <a:pPr>
              <a:spcBef>
                <a:spcPts val="0"/>
              </a:spcBef>
              <a:buNone/>
            </a:pPr>
            <a:r>
              <a:rPr sz="3200" b="1">
                <a:solidFill>
                  <a:srgbClr val="003366"/>
                </a:solidFill>
                <a:latin typeface="Roboto Black"/>
                <a:ea typeface="Roboto Black"/>
                <a:cs typeface="Roboto Black"/>
              </a:rPr>
              <a:t>84.3%</a:t>
            </a:r>
          </a:p>
        </p:txBody>
      </p:sp>
      <p:sp>
        <p:nvSpPr>
          <p:cNvPr id="15" name="TextBox 14"/>
          <p:cNvSpPr txBox="1"/>
          <p:nvPr/>
        </p:nvSpPr>
        <p:spPr>
          <a:xfrm>
            <a:off x="6492240" y="4178808"/>
            <a:ext cx="2560320" cy="64008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lần gọi dùng model 0.5B (HumanEval+)</a:t>
            </a:r>
          </a:p>
        </p:txBody>
      </p:sp>
      <p:sp>
        <p:nvSpPr>
          <p:cNvPr id="16" name="TextBox 15"/>
          <p:cNvSpPr txBox="1"/>
          <p:nvPr/>
        </p:nvSpPr>
        <p:spPr>
          <a:xfrm>
            <a:off x="9144000" y="3520440"/>
            <a:ext cx="2560320" cy="685800"/>
          </a:xfrm>
          <a:prstGeom prst="rect">
            <a:avLst/>
          </a:prstGeom>
          <a:noFill/>
        </p:spPr>
        <p:txBody>
          <a:bodyPr wrap="square" anchor="t" lIns="45720" rIns="45720" tIns="18288" bIns="18288"/>
          <a:lstStyle/>
          <a:p>
            <a:pPr>
              <a:spcBef>
                <a:spcPts val="0"/>
              </a:spcBef>
              <a:buNone/>
            </a:pPr>
            <a:r>
              <a:rPr sz="3200" b="1">
                <a:solidFill>
                  <a:srgbClr val="C00000"/>
                </a:solidFill>
                <a:latin typeface="Roboto Black"/>
                <a:ea typeface="Roboto Black"/>
                <a:cs typeface="Roboto Black"/>
              </a:rPr>
              <a:t>17.7%</a:t>
            </a:r>
          </a:p>
        </p:txBody>
      </p:sp>
      <p:sp>
        <p:nvSpPr>
          <p:cNvPr id="17" name="TextBox 16"/>
          <p:cNvSpPr txBox="1"/>
          <p:nvPr/>
        </p:nvSpPr>
        <p:spPr>
          <a:xfrm>
            <a:off x="9144000" y="4178808"/>
            <a:ext cx="2560320" cy="64008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accuracy của greedy “progress / cost” ngây thơ</a:t>
            </a:r>
          </a:p>
        </p:txBody>
      </p:sp>
      <p:sp>
        <p:nvSpPr>
          <p:cNvPr id="18" name="TextBox 17"/>
          <p:cNvSpPr txBox="1"/>
          <p:nvPr/>
        </p:nvSpPr>
        <p:spPr>
          <a:xfrm>
            <a:off x="6492240" y="5029200"/>
            <a:ext cx="5285232" cy="914400"/>
          </a:xfrm>
          <a:prstGeom prst="rect">
            <a:avLst/>
          </a:prstGeom>
          <a:noFill/>
        </p:spPr>
        <p:txBody>
          <a:bodyPr wrap="square" anchor="t" lIns="45720" rIns="45720" tIns="18288" bIns="18288"/>
          <a:lstStyle/>
          <a:p>
            <a:pPr>
              <a:spcBef>
                <a:spcPts val="0"/>
              </a:spcBef>
              <a:buNone/>
            </a:pPr>
            <a:r>
              <a:rPr sz="1450" b="0">
                <a:solidFill>
                  <a:srgbClr val="666666"/>
                </a:solidFill>
                <a:latin typeface="Roboto Medium"/>
                <a:ea typeface="Roboto Medium"/>
                <a:cs typeface="Roboto Medium"/>
              </a:rPr>
              <a:t>Hạn chế: thua CASCADIA 3.5 điểm trên MATH-500; bỏ qua chi phí warm-up; mốc tiến độ phải định nghĩa thủ công.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HalluProp: dự báo rủi ro trước khi agent lên tiếng</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3. Orchestration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14</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6035040" cy="29260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Ý tưởng: pre-hoc</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Chỉ dùng </a:t>
            </a:r>
            <a:r>
              <a:rPr sz="1700" b="1">
                <a:solidFill>
                  <a:srgbClr val="003366"/>
                </a:solidFill>
                <a:latin typeface="Roboto Black"/>
                <a:ea typeface="Roboto Black"/>
                <a:cs typeface="Roboto Black"/>
              </a:rPr>
              <a:t>role prompt + câu hỏi + topology</a:t>
            </a:r>
            <a:r>
              <a:rPr sz="1700" b="0">
                <a:solidFill>
                  <a:srgbClr val="222222"/>
                </a:solidFill>
                <a:latin typeface="Roboto Medium"/>
                <a:ea typeface="Roboto Medium"/>
                <a:cs typeface="Roboto Medium"/>
              </a:rPr>
              <a:t>, chưa chạy agent nào.</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Intrinsic risk</a:t>
            </a:r>
            <a:r>
              <a:rPr sz="1700" b="0">
                <a:solidFill>
                  <a:srgbClr val="222222"/>
                </a:solidFill>
                <a:latin typeface="Roboto Medium"/>
                <a:ea typeface="Roboto Medium"/>
                <a:cs typeface="Roboto Medium"/>
              </a:rPr>
              <a:t> π_i: role có khớp câu hỏi không.</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Propagation risk</a:t>
            </a:r>
            <a:r>
              <a:rPr sz="1700" b="0">
                <a:solidFill>
                  <a:srgbClr val="222222"/>
                </a:solidFill>
                <a:latin typeface="Roboto Medium"/>
                <a:ea typeface="Roboto Medium"/>
                <a:cs typeface="Roboto Medium"/>
              </a:rPr>
              <a:t> t_j→i: ảnh hưởng của bên gửi × độ dễ tổn thương của bên nhận.</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Can thiệp: cắt cạnh ra hoặc đổi role thành verifier.</a:t>
            </a:r>
          </a:p>
        </p:txBody>
      </p:sp>
      <p:sp>
        <p:nvSpPr>
          <p:cNvPr id="9" name="Rectangle 8"/>
          <p:cNvSpPr/>
          <p:nvPr/>
        </p:nvSpPr>
        <p:spPr>
          <a:xfrm>
            <a:off x="411480" y="4023360"/>
            <a:ext cx="6035040" cy="1920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1480" y="4023360"/>
            <a:ext cx="603504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7784" y="4133087"/>
            <a:ext cx="5760720" cy="173736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Noisy-OR khả vi (K = 3 vòng lặp)</a:t>
            </a:r>
          </a:p>
          <a:p>
            <a:pPr algn="ctr">
              <a:spcBef>
                <a:spcPts val="800"/>
              </a:spcBef>
              <a:buNone/>
            </a:pPr>
            <a:r>
              <a:rPr sz="1900" b="1">
                <a:solidFill>
                  <a:srgbClr val="003366"/>
                </a:solidFill>
                <a:latin typeface="Roboto Black"/>
                <a:ea typeface="Roboto Black"/>
                <a:cs typeface="Roboto Black"/>
              </a:rPr>
              <a:t>h_i = 1 − (1 − π_i) · Π_j (1 − t_j→i · h_j)</a:t>
            </a:r>
          </a:p>
          <a:p>
            <a:pPr>
              <a:spcBef>
                <a:spcPts val="800"/>
              </a:spcBef>
              <a:buNone/>
            </a:pPr>
            <a:r>
              <a:rPr sz="1450" b="0">
                <a:solidFill>
                  <a:srgbClr val="666666"/>
                </a:solidFill>
                <a:latin typeface="Roboto Medium"/>
                <a:ea typeface="Roboto Medium"/>
                <a:cs typeface="Roboto Medium"/>
              </a:rPr>
              <a:t>Agent lỗi nếu tự lỗi, hoặc nhận lỗi lan từ bất kỳ agent gửi tin nào.</a:t>
            </a:r>
          </a:p>
        </p:txBody>
      </p:sp>
      <p:sp>
        <p:nvSpPr>
          <p:cNvPr id="12" name="Rectangle 11"/>
          <p:cNvSpPr/>
          <p:nvPr/>
        </p:nvSpPr>
        <p:spPr>
          <a:xfrm>
            <a:off x="6675120" y="960120"/>
            <a:ext cx="5102352" cy="1078992"/>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675120" y="960120"/>
            <a:ext cx="51023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21424" y="1069848"/>
            <a:ext cx="1737360" cy="914400"/>
          </a:xfrm>
          <a:prstGeom prst="rect">
            <a:avLst/>
          </a:prstGeom>
          <a:noFill/>
        </p:spPr>
        <p:txBody>
          <a:bodyPr wrap="square" anchor="ctr" lIns="45720" rIns="45720" tIns="18288" bIns="18288"/>
          <a:lstStyle/>
          <a:p>
            <a:pPr>
              <a:spcBef>
                <a:spcPts val="0"/>
              </a:spcBef>
              <a:buNone/>
            </a:pPr>
            <a:r>
              <a:rPr sz="3000" b="1">
                <a:solidFill>
                  <a:srgbClr val="003366"/>
                </a:solidFill>
                <a:latin typeface="Roboto Black"/>
                <a:ea typeface="Roboto Black"/>
                <a:cs typeface="Roboto Black"/>
              </a:rPr>
              <a:t>84.6</a:t>
            </a:r>
          </a:p>
        </p:txBody>
      </p:sp>
      <p:sp>
        <p:nvSpPr>
          <p:cNvPr id="15" name="TextBox 14"/>
          <p:cNvSpPr txBox="1"/>
          <p:nvPr/>
        </p:nvSpPr>
        <p:spPr>
          <a:xfrm>
            <a:off x="8595360" y="1069848"/>
            <a:ext cx="3108960" cy="914400"/>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AUROC trung bình (4 LLM × 3 dataset)</a:t>
            </a:r>
          </a:p>
        </p:txBody>
      </p:sp>
      <p:sp>
        <p:nvSpPr>
          <p:cNvPr id="16" name="Rectangle 15"/>
          <p:cNvSpPr/>
          <p:nvPr/>
        </p:nvSpPr>
        <p:spPr>
          <a:xfrm>
            <a:off x="6675120" y="2167128"/>
            <a:ext cx="5102352" cy="1078992"/>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675120" y="2167128"/>
            <a:ext cx="51023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21424" y="2276856"/>
            <a:ext cx="1737360" cy="914400"/>
          </a:xfrm>
          <a:prstGeom prst="rect">
            <a:avLst/>
          </a:prstGeom>
          <a:noFill/>
        </p:spPr>
        <p:txBody>
          <a:bodyPr wrap="square" anchor="ctr" lIns="45720" rIns="45720" tIns="18288" bIns="18288"/>
          <a:lstStyle/>
          <a:p>
            <a:pPr>
              <a:spcBef>
                <a:spcPts val="0"/>
              </a:spcBef>
              <a:buNone/>
            </a:pPr>
            <a:r>
              <a:rPr sz="3000" b="1">
                <a:solidFill>
                  <a:srgbClr val="C00000"/>
                </a:solidFill>
                <a:latin typeface="Roboto Black"/>
                <a:ea typeface="Roboto Black"/>
                <a:cs typeface="Roboto Black"/>
              </a:rPr>
              <a:t>&lt; 1 s</a:t>
            </a:r>
          </a:p>
        </p:txBody>
      </p:sp>
      <p:sp>
        <p:nvSpPr>
          <p:cNvPr id="19" name="TextBox 18"/>
          <p:cNvSpPr txBox="1"/>
          <p:nvPr/>
        </p:nvSpPr>
        <p:spPr>
          <a:xfrm>
            <a:off x="8595360" y="2276856"/>
            <a:ext cx="3108960" cy="914400"/>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chẩn đoán, so với 53–308 s của post-hoc</a:t>
            </a:r>
          </a:p>
        </p:txBody>
      </p:sp>
      <p:sp>
        <p:nvSpPr>
          <p:cNvPr id="20" name="Rectangle 19"/>
          <p:cNvSpPr/>
          <p:nvPr/>
        </p:nvSpPr>
        <p:spPr>
          <a:xfrm>
            <a:off x="6675120" y="3374136"/>
            <a:ext cx="5102352" cy="1078992"/>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675120" y="3374136"/>
            <a:ext cx="51023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21424" y="3483864"/>
            <a:ext cx="1737360" cy="914400"/>
          </a:xfrm>
          <a:prstGeom prst="rect">
            <a:avLst/>
          </a:prstGeom>
          <a:noFill/>
        </p:spPr>
        <p:txBody>
          <a:bodyPr wrap="square" anchor="ctr" lIns="45720" rIns="45720" tIns="18288" bIns="18288"/>
          <a:lstStyle/>
          <a:p>
            <a:pPr>
              <a:spcBef>
                <a:spcPts val="0"/>
              </a:spcBef>
              <a:buNone/>
            </a:pPr>
            <a:r>
              <a:rPr sz="3000" b="1">
                <a:solidFill>
                  <a:srgbClr val="003366"/>
                </a:solidFill>
                <a:latin typeface="Roboto Black"/>
                <a:ea typeface="Roboto Black"/>
                <a:cs typeface="Roboto Black"/>
              </a:rPr>
              <a:t>67.6%</a:t>
            </a:r>
          </a:p>
        </p:txBody>
      </p:sp>
      <p:sp>
        <p:nvSpPr>
          <p:cNvPr id="23" name="TextBox 22"/>
          <p:cNvSpPr txBox="1"/>
          <p:nvPr/>
        </p:nvSpPr>
        <p:spPr>
          <a:xfrm>
            <a:off x="8595360" y="3483864"/>
            <a:ext cx="3108960" cy="914400"/>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accuracy sau refinement, so với 63.5% của GUARDIAN</a:t>
            </a:r>
          </a:p>
        </p:txBody>
      </p:sp>
      <p:sp>
        <p:nvSpPr>
          <p:cNvPr id="24" name="Rectangle 23"/>
          <p:cNvSpPr/>
          <p:nvPr/>
        </p:nvSpPr>
        <p:spPr>
          <a:xfrm>
            <a:off x="6675120" y="4617720"/>
            <a:ext cx="5102352" cy="132588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675120" y="4617720"/>
            <a:ext cx="510235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21424" y="4709160"/>
            <a:ext cx="4846320" cy="1188720"/>
          </a:xfrm>
          <a:prstGeom prst="rect">
            <a:avLst/>
          </a:prstGeom>
          <a:noFill/>
        </p:spPr>
        <p:txBody>
          <a:bodyPr wrap="square" anchor="t" lIns="45720" rIns="45720" tIns="18288" bIns="18288"/>
          <a:lstStyle/>
          <a:p>
            <a:pPr>
              <a:spcBef>
                <a:spcPts val="0"/>
              </a:spcBef>
              <a:buNone/>
            </a:pPr>
            <a:r>
              <a:rPr sz="1700" b="1">
                <a:solidFill>
                  <a:srgbClr val="C00000"/>
                </a:solidFill>
                <a:latin typeface="Roboto Black"/>
                <a:ea typeface="Roboto Black"/>
                <a:cs typeface="Roboto Black"/>
              </a:rPr>
              <a:t>Hạn chế</a:t>
            </a:r>
          </a:p>
          <a:p>
            <a:pPr>
              <a:spcBef>
                <a:spcPts val="400"/>
              </a:spcBef>
              <a:buNone/>
            </a:pPr>
            <a:r>
              <a:rPr sz="1450" b="0">
                <a:solidFill>
                  <a:srgbClr val="222222"/>
                </a:solidFill>
                <a:latin typeface="Roboto Medium"/>
                <a:ea typeface="Roboto Medium"/>
                <a:cs typeface="Roboto Medium"/>
              </a:rPr>
              <a:t>“Hallucination” = trả lời sai; role bị nhiễu nhân tạo; cần nhãn; đồ thị ≤ 7 agent.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4.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04</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4</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Communication &amp; Interaction</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DAIN: dynamic agent interaction network</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AGENT-RADAR: attention steering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DAIN: Dynamic Agent-based Interaction Network</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4. Communication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16</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ectangle 7"/>
          <p:cNvSpPr/>
          <p:nvPr/>
        </p:nvSpPr>
        <p:spPr>
          <a:xfrm>
            <a:off x="411480"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11480" y="1005840"/>
            <a:ext cx="251460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Encode</a:t>
            </a:r>
          </a:p>
        </p:txBody>
      </p:sp>
      <p:sp>
        <p:nvSpPr>
          <p:cNvPr id="11" name="TextBox 10"/>
          <p:cNvSpPr txBox="1"/>
          <p:nvPr/>
        </p:nvSpPr>
        <p:spPr>
          <a:xfrm>
            <a:off x="502920"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ResNet-50, BERT → context e_c</a:t>
            </a:r>
          </a:p>
        </p:txBody>
      </p:sp>
      <p:sp>
        <p:nvSpPr>
          <p:cNvPr id="12" name="Right Arrow 11"/>
          <p:cNvSpPr/>
          <p:nvPr/>
        </p:nvSpPr>
        <p:spPr>
          <a:xfrm>
            <a:off x="2971800" y="1691640"/>
            <a:ext cx="274320"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40"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291840" y="1005840"/>
            <a:ext cx="251460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291840"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Meta-Controller</a:t>
            </a:r>
          </a:p>
        </p:txBody>
      </p:sp>
      <p:sp>
        <p:nvSpPr>
          <p:cNvPr id="16" name="TextBox 15"/>
          <p:cNvSpPr txBox="1"/>
          <p:nvPr/>
        </p:nvSpPr>
        <p:spPr>
          <a:xfrm>
            <a:off x="3383280"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sparse gate + soft graph Φ</a:t>
            </a:r>
          </a:p>
        </p:txBody>
      </p:sp>
      <p:sp>
        <p:nvSpPr>
          <p:cNvPr id="17" name="Right Arrow 16"/>
          <p:cNvSpPr/>
          <p:nvPr/>
        </p:nvSpPr>
        <p:spPr>
          <a:xfrm>
            <a:off x="5852160" y="1691640"/>
            <a:ext cx="274320"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72200" y="1005840"/>
            <a:ext cx="251460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Message passing</a:t>
            </a:r>
          </a:p>
        </p:txBody>
      </p:sp>
      <p:sp>
        <p:nvSpPr>
          <p:cNvPr id="21" name="TextBox 20"/>
          <p:cNvSpPr txBox="1"/>
          <p:nvPr/>
        </p:nvSpPr>
        <p:spPr>
          <a:xfrm>
            <a:off x="6263640"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qua low-rank bottleneck</a:t>
            </a:r>
          </a:p>
        </p:txBody>
      </p:sp>
      <p:sp>
        <p:nvSpPr>
          <p:cNvPr id="22" name="Right Arrow 21"/>
          <p:cNvSpPr/>
          <p:nvPr/>
        </p:nvSpPr>
        <p:spPr>
          <a:xfrm>
            <a:off x="8732520" y="1691640"/>
            <a:ext cx="274320"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59"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052559" y="1005840"/>
            <a:ext cx="251460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052559"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Consensus</a:t>
            </a:r>
          </a:p>
        </p:txBody>
      </p:sp>
      <p:sp>
        <p:nvSpPr>
          <p:cNvPr id="26" name="TextBox 25"/>
          <p:cNvSpPr txBox="1"/>
          <p:nvPr/>
        </p:nvSpPr>
        <p:spPr>
          <a:xfrm>
            <a:off x="9143999"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attention → kết quả</a:t>
            </a:r>
          </a:p>
        </p:txBody>
      </p:sp>
      <p:sp>
        <p:nvSpPr>
          <p:cNvPr id="27" name="TextBox 26"/>
          <p:cNvSpPr txBox="1"/>
          <p:nvPr/>
        </p:nvSpPr>
        <p:spPr>
          <a:xfrm>
            <a:off x="411480" y="2926080"/>
            <a:ext cx="5760720" cy="182880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8 agent theo PID</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3 </a:t>
            </a:r>
            <a:r>
              <a:rPr sz="1700" b="1">
                <a:solidFill>
                  <a:srgbClr val="003366"/>
                </a:solidFill>
                <a:latin typeface="Roboto Black"/>
                <a:ea typeface="Roboto Black"/>
                <a:cs typeface="Roboto Black"/>
              </a:rPr>
              <a:t>synergy</a:t>
            </a:r>
            <a:r>
              <a:rPr sz="1700" b="0">
                <a:solidFill>
                  <a:srgbClr val="222222"/>
                </a:solidFill>
                <a:latin typeface="Roboto Medium"/>
                <a:ea typeface="Roboto Medium"/>
                <a:cs typeface="Roboto Medium"/>
              </a:rPr>
              <a:t> · 3 </a:t>
            </a:r>
            <a:r>
              <a:rPr sz="1700" b="1">
                <a:solidFill>
                  <a:srgbClr val="003366"/>
                </a:solidFill>
                <a:latin typeface="Roboto Black"/>
                <a:ea typeface="Roboto Black"/>
                <a:cs typeface="Roboto Black"/>
              </a:rPr>
              <a:t>uniqueness</a:t>
            </a:r>
            <a:r>
              <a:rPr sz="1700" b="0">
                <a:solidFill>
                  <a:srgbClr val="222222"/>
                </a:solidFill>
                <a:latin typeface="Roboto Medium"/>
                <a:ea typeface="Roboto Medium"/>
                <a:cs typeface="Roboto Medium"/>
              </a:rPr>
              <a:t> · 2 </a:t>
            </a:r>
            <a:r>
              <a:rPr sz="1700" b="1">
                <a:solidFill>
                  <a:srgbClr val="003366"/>
                </a:solidFill>
                <a:latin typeface="Roboto Black"/>
                <a:ea typeface="Roboto Black"/>
                <a:cs typeface="Roboto Black"/>
              </a:rPr>
              <a:t>redundancy</a:t>
            </a:r>
            <a:r>
              <a:rPr sz="1700" b="0">
                <a:solidFill>
                  <a:srgbClr val="222222"/>
                </a:solidFill>
                <a:latin typeface="Roboto Medium"/>
                <a:ea typeface="Roboto Medium"/>
                <a:cs typeface="Roboto Medium"/>
              </a:rPr>
              <a:t>.</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Loss phạt kích hoạt và mật độ giao tiếp: λ‖g‖₁ + λ‖Φ‖².</a:t>
            </a:r>
          </a:p>
        </p:txBody>
      </p:sp>
      <p:sp>
        <p:nvSpPr>
          <p:cNvPr id="28" name="TextBox 27"/>
          <p:cNvSpPr txBox="1"/>
          <p:nvPr/>
        </p:nvSpPr>
        <p:spPr>
          <a:xfrm>
            <a:off x="411480" y="4572000"/>
            <a:ext cx="2743200" cy="68580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3.2–5.5 / 8</a:t>
            </a:r>
          </a:p>
        </p:txBody>
      </p:sp>
      <p:sp>
        <p:nvSpPr>
          <p:cNvPr id="29" name="TextBox 28"/>
          <p:cNvSpPr txBox="1"/>
          <p:nvPr/>
        </p:nvSpPr>
        <p:spPr>
          <a:xfrm>
            <a:off x="411480" y="5230368"/>
            <a:ext cx="2743200" cy="640080"/>
          </a:xfrm>
          <a:prstGeom prst="rect">
            <a:avLst/>
          </a:prstGeom>
          <a:noFill/>
        </p:spPr>
        <p:txBody>
          <a:bodyPr wrap="square" anchor="t" lIns="45720" rIns="45720" tIns="18288" bIns="18288"/>
          <a:lstStyle/>
          <a:p>
            <a:pPr>
              <a:spcBef>
                <a:spcPts val="0"/>
              </a:spcBef>
              <a:buNone/>
            </a:pPr>
            <a:r>
              <a:rPr sz="1400" b="0">
                <a:solidFill>
                  <a:srgbClr val="666666"/>
                </a:solidFill>
                <a:latin typeface="Roboto Medium"/>
                <a:ea typeface="Roboto Medium"/>
                <a:cs typeface="Roboto Medium"/>
              </a:rPr>
              <a:t>agent được kích hoạt</a:t>
            </a:r>
          </a:p>
        </p:txBody>
      </p:sp>
      <p:sp>
        <p:nvSpPr>
          <p:cNvPr id="30" name="TextBox 29"/>
          <p:cNvSpPr txBox="1"/>
          <p:nvPr/>
        </p:nvSpPr>
        <p:spPr>
          <a:xfrm>
            <a:off x="3246120" y="4572000"/>
            <a:ext cx="2743200" cy="68580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73.5 vs 70.9</a:t>
            </a:r>
          </a:p>
        </p:txBody>
      </p:sp>
      <p:sp>
        <p:nvSpPr>
          <p:cNvPr id="31" name="TextBox 30"/>
          <p:cNvSpPr txBox="1"/>
          <p:nvPr/>
        </p:nvSpPr>
        <p:spPr>
          <a:xfrm>
            <a:off x="3246120" y="5230368"/>
            <a:ext cx="2743200" cy="640080"/>
          </a:xfrm>
          <a:prstGeom prst="rect">
            <a:avLst/>
          </a:prstGeom>
          <a:noFill/>
        </p:spPr>
        <p:txBody>
          <a:bodyPr wrap="square" anchor="t" lIns="45720" rIns="45720" tIns="18288" bIns="18288"/>
          <a:lstStyle/>
          <a:p>
            <a:pPr>
              <a:spcBef>
                <a:spcPts val="0"/>
              </a:spcBef>
              <a:buNone/>
            </a:pPr>
            <a:r>
              <a:rPr sz="1400" b="0">
                <a:solidFill>
                  <a:srgbClr val="666666"/>
                </a:solidFill>
                <a:latin typeface="Roboto Medium"/>
                <a:ea typeface="Roboto Medium"/>
                <a:cs typeface="Roboto Medium"/>
              </a:rPr>
              <a:t>ADNI accuracy (best baseline)</a:t>
            </a:r>
          </a:p>
        </p:txBody>
      </p:sp>
      <p:sp>
        <p:nvSpPr>
          <p:cNvPr id="32" name="Rectangle 31"/>
          <p:cNvSpPr/>
          <p:nvPr/>
        </p:nvSpPr>
        <p:spPr>
          <a:xfrm>
            <a:off x="6400800" y="2971800"/>
            <a:ext cx="5376672" cy="297180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400800" y="2971800"/>
            <a:ext cx="537667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47104" y="3081528"/>
            <a:ext cx="5120640" cy="278892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Lưu ý khi đánh giá</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“Agent” là </a:t>
            </a:r>
            <a:r>
              <a:rPr sz="1600" b="1">
                <a:solidFill>
                  <a:srgbClr val="003366"/>
                </a:solidFill>
                <a:latin typeface="Roboto Black"/>
                <a:ea typeface="Roboto Black"/>
                <a:cs typeface="Roboto Black"/>
              </a:rPr>
              <a:t>neural module</a:t>
            </a:r>
            <a:r>
              <a:rPr sz="1600" b="0">
                <a:solidFill>
                  <a:srgbClr val="222222"/>
                </a:solidFill>
                <a:latin typeface="Roboto Medium"/>
                <a:ea typeface="Roboto Medium"/>
                <a:cs typeface="Roboto Medium"/>
              </a:rPr>
              <a:t>, không phải LLM: bản chất là MoE có message passing.</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Bỏ communication: −1.4 điểm; bỏ dynamic scheduling: −1.7 điểm (ADNI).</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Số liệu không nhất quán giữa các bảng; baseline yếu.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AGENT-RADAR: attention steering theo context relevance</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4. Communication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17</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5394960" cy="301752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Ý tưởng</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Giữ </a:t>
            </a:r>
            <a:r>
              <a:rPr sz="1700" b="1">
                <a:solidFill>
                  <a:srgbClr val="003366"/>
                </a:solidFill>
                <a:latin typeface="Roboto Black"/>
                <a:ea typeface="Roboto Black"/>
                <a:cs typeface="Roboto Black"/>
              </a:rPr>
              <a:t>toàn bộ</a:t>
            </a:r>
            <a:r>
              <a:rPr sz="1700" b="0">
                <a:solidFill>
                  <a:srgbClr val="222222"/>
                </a:solidFill>
                <a:latin typeface="Roboto Medium"/>
                <a:ea typeface="Roboto Medium"/>
                <a:cs typeface="Roboto Medium"/>
              </a:rPr>
              <a:t> lịch sử, không tóm tắt hay cắt bớt.</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Chấm điểm từng câu, câu ≥ θ = 0.65 được nhấn mạnh bằng </a:t>
            </a:r>
            <a:r>
              <a:rPr sz="1700" b="1">
                <a:solidFill>
                  <a:srgbClr val="003366"/>
                </a:solidFill>
                <a:latin typeface="Roboto Black"/>
                <a:ea typeface="Roboto Black"/>
                <a:cs typeface="Roboto Black"/>
              </a:rPr>
              <a:t>SPA</a:t>
            </a:r>
            <a:r>
              <a:rPr sz="1700" b="0">
                <a:solidFill>
                  <a:srgbClr val="222222"/>
                </a:solidFill>
                <a:latin typeface="Roboto Medium"/>
                <a:ea typeface="Roboto Medium"/>
                <a:cs typeface="Roboto Medium"/>
              </a:rPr>
              <a:t>.</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Training-free, cắm được vào GPTSwarm, AutoGen, debate.</a:t>
            </a:r>
          </a:p>
        </p:txBody>
      </p:sp>
      <p:sp>
        <p:nvSpPr>
          <p:cNvPr id="9" name="Rectangle 8"/>
          <p:cNvSpPr/>
          <p:nvPr/>
        </p:nvSpPr>
        <p:spPr>
          <a:xfrm>
            <a:off x="411480" y="3977639"/>
            <a:ext cx="5394960" cy="19659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1480" y="3977639"/>
            <a:ext cx="539496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7784" y="4087368"/>
            <a:ext cx="5120640" cy="178308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Điểm của câu s_k</a:t>
            </a:r>
          </a:p>
          <a:p>
            <a:pPr algn="ctr">
              <a:spcBef>
                <a:spcPts val="800"/>
              </a:spcBef>
              <a:buNone/>
            </a:pPr>
            <a:r>
              <a:rPr sz="1800" b="1">
                <a:solidFill>
                  <a:srgbClr val="003366"/>
                </a:solidFill>
                <a:latin typeface="Roboto Black"/>
                <a:ea typeface="Roboto Black"/>
                <a:cs typeface="Roboto Black"/>
              </a:rPr>
              <a:t>λ_s^(d_G − 1) × λ_t^(t − τ − 1) × cos(s_k, q)</a:t>
            </a:r>
          </a:p>
          <a:p>
            <a:pPr algn="ctr">
              <a:spcBef>
                <a:spcPts val="800"/>
              </a:spcBef>
              <a:buNone/>
            </a:pPr>
            <a:r>
              <a:rPr sz="1400" b="0">
                <a:solidFill>
                  <a:srgbClr val="666666"/>
                </a:solidFill>
                <a:latin typeface="Roboto Medium"/>
                <a:ea typeface="Roboto Medium"/>
                <a:cs typeface="Roboto Medium"/>
              </a:rPr>
              <a:t>spatial decay × temporal decay × semantic relevance</a:t>
            </a:r>
          </a:p>
        </p:txBody>
      </p:sp>
      <p:graphicFrame>
        <p:nvGraphicFramePr>
          <p:cNvPr id="12" name="Chart 11"/>
          <p:cNvGraphicFramePr>
            <a:graphicFrameLocks noGrp="1"/>
          </p:cNvGraphicFramePr>
          <p:nvPr/>
        </p:nvGraphicFramePr>
        <p:xfrm>
          <a:off x="6035040" y="914400"/>
          <a:ext cx="5760720" cy="3931920"/>
        </p:xfrm>
        <a:graphic>
          <a:graphicData uri="http://schemas.openxmlformats.org/drawingml/2006/chart">
            <c:chart xmlns:c="http://schemas.openxmlformats.org/drawingml/2006/chart" r:id="rId3"/>
          </a:graphicData>
        </a:graphic>
      </p:graphicFrame>
      <p:sp>
        <p:nvSpPr>
          <p:cNvPr id="13" name="Rectangle 12"/>
          <p:cNvSpPr/>
          <p:nvPr/>
        </p:nvSpPr>
        <p:spPr>
          <a:xfrm>
            <a:off x="6035040" y="4983480"/>
            <a:ext cx="5742432" cy="96012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35040" y="4983480"/>
            <a:ext cx="574243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81344" y="5056632"/>
            <a:ext cx="5486400" cy="822960"/>
          </a:xfrm>
          <a:prstGeom prst="rect">
            <a:avLst/>
          </a:prstGeom>
          <a:noFill/>
        </p:spPr>
        <p:txBody>
          <a:bodyPr wrap="square" anchor="ctr" lIns="45720" rIns="45720" tIns="18288" bIns="18288"/>
          <a:lstStyle/>
          <a:p>
            <a:pPr>
              <a:spcBef>
                <a:spcPts val="0"/>
              </a:spcBef>
              <a:buNone/>
            </a:pPr>
            <a:r>
              <a:rPr sz="1450" b="0">
                <a:solidFill>
                  <a:srgbClr val="222222"/>
                </a:solidFill>
                <a:latin typeface="Roboto Medium"/>
                <a:ea typeface="Roboto Medium"/>
                <a:cs typeface="Roboto Medium"/>
              </a:rPr>
              <a:t>Latency +23% · cần </a:t>
            </a:r>
            <a:r>
              <a:rPr sz="1450" b="1">
                <a:solidFill>
                  <a:srgbClr val="003366"/>
                </a:solidFill>
                <a:latin typeface="Roboto Black"/>
                <a:ea typeface="Roboto Black"/>
                <a:cs typeface="Roboto Black"/>
              </a:rPr>
              <a:t>white-box</a:t>
            </a:r>
            <a:r>
              <a:rPr sz="1450" b="0">
                <a:solidFill>
                  <a:srgbClr val="222222"/>
                </a:solidFill>
                <a:latin typeface="Roboto Medium"/>
                <a:ea typeface="Roboto Medium"/>
                <a:cs typeface="Roboto Medium"/>
              </a:rPr>
              <a:t> (logit) → không dùng với API model · tune trên MuSiQue (cũng là test set).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5.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05</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5</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Domain Applications</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MAC-RRG: radiology report generation</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UrbanAgent: urban region profiling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MAC-RRG: multi-agent cho radiology report generation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5. Application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19</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X-ray</a:t>
            </a:r>
          </a:p>
          <a:p>
            <a:pPr algn="ctr">
              <a:spcBef>
                <a:spcPts val="200"/>
              </a:spcBef>
              <a:buNone/>
            </a:pPr>
            <a:r>
              <a:rPr sz="1350" b="0">
                <a:solidFill>
                  <a:srgbClr val="FFFFFF"/>
                </a:solidFill>
                <a:latin typeface="Roboto Medium"/>
                <a:ea typeface="Roboto Medium"/>
                <a:cs typeface="Roboto Medium"/>
              </a:rPr>
              <a:t>ảnh ngực</a:t>
            </a:r>
          </a:p>
        </p:txBody>
      </p:sp>
      <p:sp>
        <p:nvSpPr>
          <p:cNvPr id="10" name="Right Arrow 9"/>
          <p:cNvSpPr/>
          <p:nvPr/>
        </p:nvSpPr>
        <p:spPr>
          <a:xfrm>
            <a:off x="240487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0"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Draft</a:t>
            </a:r>
          </a:p>
          <a:p>
            <a:pPr algn="ctr">
              <a:spcBef>
                <a:spcPts val="200"/>
              </a:spcBef>
              <a:buNone/>
            </a:pPr>
            <a:r>
              <a:rPr sz="1350" b="0">
                <a:solidFill>
                  <a:srgbClr val="FFFFFF"/>
                </a:solidFill>
                <a:latin typeface="Roboto Medium"/>
                <a:ea typeface="Roboto Medium"/>
                <a:cs typeface="Roboto Medium"/>
              </a:rPr>
              <a:t>Swin + Llama2-7B</a:t>
            </a:r>
          </a:p>
        </p:txBody>
      </p:sp>
      <p:sp>
        <p:nvSpPr>
          <p:cNvPr id="13" name="Right Arrow 12"/>
          <p:cNvSpPr/>
          <p:nvPr/>
        </p:nvSpPr>
        <p:spPr>
          <a:xfrm>
            <a:off x="473659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74920"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7492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Entities</a:t>
            </a:r>
          </a:p>
          <a:p>
            <a:pPr algn="ctr">
              <a:spcBef>
                <a:spcPts val="200"/>
              </a:spcBef>
              <a:buNone/>
            </a:pPr>
            <a:r>
              <a:rPr sz="1350" b="0">
                <a:solidFill>
                  <a:srgbClr val="FFFFFF"/>
                </a:solidFill>
                <a:latin typeface="Roboto Medium"/>
                <a:ea typeface="Roboto Medium"/>
                <a:cs typeface="Roboto Medium"/>
              </a:rPr>
              <a:t>giải phẫu, bệnh lý</a:t>
            </a:r>
          </a:p>
        </p:txBody>
      </p:sp>
      <p:sp>
        <p:nvSpPr>
          <p:cNvPr id="16" name="Right Arrow 15"/>
          <p:cNvSpPr/>
          <p:nvPr/>
        </p:nvSpPr>
        <p:spPr>
          <a:xfrm>
            <a:off x="706831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6640" y="1051560"/>
            <a:ext cx="196596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0664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2 agent</a:t>
            </a:r>
          </a:p>
          <a:p>
            <a:pPr algn="ctr">
              <a:spcBef>
                <a:spcPts val="200"/>
              </a:spcBef>
              <a:buNone/>
            </a:pPr>
            <a:r>
              <a:rPr sz="1350" b="0">
                <a:solidFill>
                  <a:srgbClr val="FFFFFF"/>
                </a:solidFill>
                <a:latin typeface="Roboto Medium"/>
                <a:ea typeface="Roboto Medium"/>
                <a:cs typeface="Roboto Medium"/>
              </a:rPr>
              <a:t>MM-KG + Knowledge</a:t>
            </a:r>
          </a:p>
        </p:txBody>
      </p:sp>
      <p:sp>
        <p:nvSpPr>
          <p:cNvPr id="19" name="Right Arrow 18"/>
          <p:cNvSpPr/>
          <p:nvPr/>
        </p:nvSpPr>
        <p:spPr>
          <a:xfrm>
            <a:off x="940003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38359"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38359"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Report</a:t>
            </a:r>
          </a:p>
          <a:p>
            <a:pPr algn="ctr">
              <a:spcBef>
                <a:spcPts val="200"/>
              </a:spcBef>
              <a:buNone/>
            </a:pPr>
            <a:r>
              <a:rPr sz="1350" b="0">
                <a:solidFill>
                  <a:srgbClr val="FFFFFF"/>
                </a:solidFill>
                <a:latin typeface="Roboto Medium"/>
                <a:ea typeface="Roboto Medium"/>
                <a:cs typeface="Roboto Medium"/>
              </a:rPr>
              <a:t>refined</a:t>
            </a:r>
          </a:p>
        </p:txBody>
      </p:sp>
      <p:sp>
        <p:nvSpPr>
          <p:cNvPr id="22" name="Rectangle 21"/>
          <p:cNvSpPr/>
          <p:nvPr/>
        </p:nvSpPr>
        <p:spPr>
          <a:xfrm>
            <a:off x="411480" y="2606040"/>
            <a:ext cx="5669280" cy="15087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11480" y="2606040"/>
            <a:ext cx="566928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57784" y="2715768"/>
            <a:ext cx="5394960" cy="64008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0.197 / 0.128 / 0.105</a:t>
            </a:r>
          </a:p>
        </p:txBody>
      </p:sp>
      <p:sp>
        <p:nvSpPr>
          <p:cNvPr id="25" name="TextBox 24"/>
          <p:cNvSpPr txBox="1"/>
          <p:nvPr/>
        </p:nvSpPr>
        <p:spPr>
          <a:xfrm>
            <a:off x="557784" y="3355848"/>
            <a:ext cx="5394960" cy="640080"/>
          </a:xfrm>
          <a:prstGeom prst="rect">
            <a:avLst/>
          </a:prstGeom>
          <a:noFill/>
        </p:spPr>
        <p:txBody>
          <a:bodyPr wrap="square" anchor="t" lIns="45720" rIns="45720" tIns="18288" bIns="18288"/>
          <a:lstStyle/>
          <a:p>
            <a:pPr>
              <a:spcBef>
                <a:spcPts val="0"/>
              </a:spcBef>
              <a:buNone/>
            </a:pPr>
            <a:r>
              <a:rPr sz="1500" b="0">
                <a:solidFill>
                  <a:srgbClr val="666666"/>
                </a:solidFill>
                <a:latin typeface="Roboto Medium"/>
                <a:ea typeface="Roboto Medium"/>
                <a:cs typeface="Roboto Medium"/>
              </a:rPr>
              <a:t>BLEU-4 trên IU X-Ray / MIMIC-CXR / CheXpert Plus</a:t>
            </a:r>
          </a:p>
        </p:txBody>
      </p:sp>
      <p:sp>
        <p:nvSpPr>
          <p:cNvPr id="26" name="Rectangle 25"/>
          <p:cNvSpPr/>
          <p:nvPr/>
        </p:nvSpPr>
        <p:spPr>
          <a:xfrm>
            <a:off x="411480" y="4297680"/>
            <a:ext cx="5669280" cy="15087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11480" y="4297680"/>
            <a:ext cx="566928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57784" y="4407408"/>
            <a:ext cx="5394960" cy="64008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0.295 vs 0.260</a:t>
            </a:r>
          </a:p>
        </p:txBody>
      </p:sp>
      <p:sp>
        <p:nvSpPr>
          <p:cNvPr id="29" name="TextBox 28"/>
          <p:cNvSpPr txBox="1"/>
          <p:nvPr/>
        </p:nvSpPr>
        <p:spPr>
          <a:xfrm>
            <a:off x="557784" y="5047488"/>
            <a:ext cx="5394960" cy="640080"/>
          </a:xfrm>
          <a:prstGeom prst="rect">
            <a:avLst/>
          </a:prstGeom>
          <a:noFill/>
        </p:spPr>
        <p:txBody>
          <a:bodyPr wrap="square" anchor="t" lIns="45720" rIns="45720" tIns="18288" bIns="18288"/>
          <a:lstStyle/>
          <a:p>
            <a:pPr>
              <a:spcBef>
                <a:spcPts val="0"/>
              </a:spcBef>
              <a:buNone/>
            </a:pPr>
            <a:r>
              <a:rPr sz="1500" b="0">
                <a:solidFill>
                  <a:srgbClr val="666666"/>
                </a:solidFill>
                <a:latin typeface="Roboto Medium"/>
                <a:ea typeface="Roboto Medium"/>
                <a:cs typeface="Roboto Medium"/>
              </a:rPr>
              <a:t>clinical F1 (CheXpert Plus) so với R2GenGPT</a:t>
            </a:r>
          </a:p>
        </p:txBody>
      </p:sp>
      <p:sp>
        <p:nvSpPr>
          <p:cNvPr id="30" name="Rectangle 29"/>
          <p:cNvSpPr/>
          <p:nvPr/>
        </p:nvSpPr>
        <p:spPr>
          <a:xfrm>
            <a:off x="6309360" y="2606040"/>
            <a:ext cx="5468112" cy="320040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309360" y="2606040"/>
            <a:ext cx="546811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55664" y="2715768"/>
            <a:ext cx="5212080" cy="301752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Đánh giá phản biện</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“Agent” = </a:t>
            </a:r>
            <a:r>
              <a:rPr sz="1600" b="1">
                <a:solidFill>
                  <a:srgbClr val="003366"/>
                </a:solidFill>
                <a:latin typeface="Roboto Black"/>
                <a:ea typeface="Roboto Black"/>
                <a:cs typeface="Roboto Black"/>
              </a:rPr>
              <a:t>module retrieval tất định</a:t>
            </a:r>
            <a:r>
              <a:rPr sz="1600" b="0">
                <a:solidFill>
                  <a:srgbClr val="222222"/>
                </a:solidFill>
                <a:latin typeface="Roboto Medium"/>
                <a:ea typeface="Roboto Medium"/>
                <a:cs typeface="Roboto Medium"/>
              </a:rPr>
              <a:t>, không giao tiếp hay thương lượng.</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“Iterative” thực tế chỉ </a:t>
            </a:r>
            <a:r>
              <a:rPr sz="1600" b="1">
                <a:solidFill>
                  <a:srgbClr val="003366"/>
                </a:solidFill>
                <a:latin typeface="Roboto Black"/>
                <a:ea typeface="Roboto Black"/>
                <a:cs typeface="Roboto Black"/>
              </a:rPr>
              <a:t>1 lượt</a:t>
            </a:r>
            <a:r>
              <a:rPr sz="1600" b="0">
                <a:solidFill>
                  <a:srgbClr val="222222"/>
                </a:solidFill>
                <a:latin typeface="Roboto Medium"/>
                <a:ea typeface="Roboto Medium"/>
                <a:cs typeface="Roboto Medium"/>
              </a:rPr>
              <a:t> tinh chỉnh.</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BLEU tăng nhỏ (0.101 → 0.105); không kiểm định thống kê, không có bác sĩ đánh giá.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UrbanAgent: collaborative reasoning cho urban region profiling</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5. Application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20</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ectangle 7"/>
          <p:cNvSpPr/>
          <p:nvPr/>
        </p:nvSpPr>
        <p:spPr>
          <a:xfrm>
            <a:off x="411480" y="960120"/>
            <a:ext cx="5577840" cy="23774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11480" y="960120"/>
            <a:ext cx="557784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960120"/>
            <a:ext cx="557784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Stage A · Tool-augmented agents</a:t>
            </a:r>
          </a:p>
        </p:txBody>
      </p:sp>
      <p:sp>
        <p:nvSpPr>
          <p:cNvPr id="11" name="TextBox 10"/>
          <p:cNvSpPr txBox="1"/>
          <p:nvPr/>
        </p:nvSpPr>
        <p:spPr>
          <a:xfrm>
            <a:off x="521207" y="1600200"/>
            <a:ext cx="5358384" cy="1691640"/>
          </a:xfrm>
          <a:prstGeom prst="rect">
            <a:avLst/>
          </a:prstGeom>
          <a:noFill/>
        </p:spPr>
        <p:txBody>
          <a:bodyPr wrap="square" anchor="t" lIns="45720" rIns="45720" tIns="18288" bIns="18288"/>
          <a:lstStyle/>
          <a:p>
            <a:pPr marL="125984" indent="-125984">
              <a:spcBef>
                <a:spcPts val="300"/>
              </a:spcBef>
              <a:buClr>
                <a:srgbClr val="C00000"/>
              </a:buClr>
              <a:buFont typeface="Arial"/>
              <a:buChar char="•"/>
            </a:pPr>
            <a:r>
              <a:rPr sz="1600" b="0">
                <a:solidFill>
                  <a:srgbClr val="222222"/>
                </a:solidFill>
                <a:latin typeface="Roboto Medium"/>
                <a:ea typeface="Roboto Medium"/>
                <a:cs typeface="Roboto Medium"/>
              </a:rPr>
              <a:t>4 agent theo modality: </a:t>
            </a:r>
            <a:r>
              <a:rPr sz="1600" b="1">
                <a:solidFill>
                  <a:srgbClr val="003366"/>
                </a:solidFill>
                <a:latin typeface="Roboto Black"/>
                <a:ea typeface="Roboto Black"/>
                <a:cs typeface="Roboto Black"/>
              </a:rPr>
              <a:t>satellite, text, POI, 3D</a:t>
            </a:r>
            <a:r>
              <a:rPr sz="1600" b="0">
                <a:solidFill>
                  <a:srgbClr val="222222"/>
                </a:solidFill>
                <a:latin typeface="Roboto Medium"/>
                <a:ea typeface="Roboto Medium"/>
                <a:cs typeface="Roboto Medium"/>
              </a:rPr>
              <a:t>.</a:t>
            </a:r>
          </a:p>
          <a:p>
            <a:pPr marL="125984" indent="-125984">
              <a:spcBef>
                <a:spcPts val="300"/>
              </a:spcBef>
              <a:buClr>
                <a:srgbClr val="C00000"/>
              </a:buClr>
              <a:buFont typeface="Arial"/>
              <a:buChar char="•"/>
            </a:pPr>
            <a:r>
              <a:rPr sz="1600" b="0">
                <a:solidFill>
                  <a:srgbClr val="222222"/>
                </a:solidFill>
                <a:latin typeface="Roboto Medium"/>
                <a:ea typeface="Roboto Medium"/>
                <a:cs typeface="Roboto Medium"/>
              </a:rPr>
              <a:t>Qwen3-VL-4B + 4 tool (web search, crop-zoom, nightlight, ảnh lịch sử).</a:t>
            </a:r>
          </a:p>
          <a:p>
            <a:pPr marL="125984" indent="-125984">
              <a:spcBef>
                <a:spcPts val="300"/>
              </a:spcBef>
              <a:buClr>
                <a:srgbClr val="C00000"/>
              </a:buClr>
              <a:buFont typeface="Arial"/>
              <a:buChar char="•"/>
            </a:pPr>
            <a:r>
              <a:rPr sz="1600" b="0">
                <a:solidFill>
                  <a:srgbClr val="222222"/>
                </a:solidFill>
                <a:latin typeface="Roboto Medium"/>
                <a:ea typeface="Roboto Medium"/>
                <a:cs typeface="Roboto Medium"/>
              </a:rPr>
              <a:t>SFT → </a:t>
            </a:r>
            <a:r>
              <a:rPr sz="1600" b="1">
                <a:solidFill>
                  <a:srgbClr val="003366"/>
                </a:solidFill>
                <a:latin typeface="Roboto Black"/>
                <a:ea typeface="Roboto Black"/>
                <a:cs typeface="Roboto Black"/>
              </a:rPr>
              <a:t>GRPO</a:t>
            </a:r>
            <a:r>
              <a:rPr sz="1600" b="0">
                <a:solidFill>
                  <a:srgbClr val="222222"/>
                </a:solidFill>
                <a:latin typeface="Roboto Medium"/>
                <a:ea typeface="Roboto Medium"/>
                <a:cs typeface="Roboto Medium"/>
              </a:rPr>
              <a:t>, reward = outcome + format + process.</a:t>
            </a:r>
          </a:p>
        </p:txBody>
      </p:sp>
      <p:sp>
        <p:nvSpPr>
          <p:cNvPr id="12" name="Rectangle 11"/>
          <p:cNvSpPr/>
          <p:nvPr/>
        </p:nvSpPr>
        <p:spPr>
          <a:xfrm>
            <a:off x="6199632" y="960120"/>
            <a:ext cx="5577840" cy="23774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199632" y="960120"/>
            <a:ext cx="557784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99632" y="960120"/>
            <a:ext cx="557784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Stage B · Relation-aware graph</a:t>
            </a:r>
          </a:p>
        </p:txBody>
      </p:sp>
      <p:sp>
        <p:nvSpPr>
          <p:cNvPr id="15" name="TextBox 14"/>
          <p:cNvSpPr txBox="1"/>
          <p:nvPr/>
        </p:nvSpPr>
        <p:spPr>
          <a:xfrm>
            <a:off x="6309360" y="1600200"/>
            <a:ext cx="5358384" cy="1691640"/>
          </a:xfrm>
          <a:prstGeom prst="rect">
            <a:avLst/>
          </a:prstGeom>
          <a:noFill/>
        </p:spPr>
        <p:txBody>
          <a:bodyPr wrap="square" anchor="t" lIns="45720" rIns="45720" tIns="18288" bIns="18288"/>
          <a:lstStyle/>
          <a:p>
            <a:pPr marL="125984" indent="-125984">
              <a:spcBef>
                <a:spcPts val="300"/>
              </a:spcBef>
              <a:buClr>
                <a:srgbClr val="C00000"/>
              </a:buClr>
              <a:buFont typeface="Arial"/>
              <a:buChar char="•"/>
            </a:pPr>
            <a:r>
              <a:rPr sz="1600" b="1">
                <a:solidFill>
                  <a:srgbClr val="003366"/>
                </a:solidFill>
                <a:latin typeface="Roboto Black"/>
                <a:ea typeface="Roboto Black"/>
                <a:cs typeface="Roboto Black"/>
              </a:rPr>
              <a:t>Corroboration</a:t>
            </a:r>
            <a:r>
              <a:rPr sz="1600" b="0">
                <a:solidFill>
                  <a:srgbClr val="222222"/>
                </a:solidFill>
                <a:latin typeface="Roboto Medium"/>
                <a:ea typeface="Roboto Medium"/>
                <a:cs typeface="Roboto Medium"/>
              </a:rPr>
              <a:t>: dự đoán gần nhau → củng cố.</a:t>
            </a:r>
          </a:p>
          <a:p>
            <a:pPr marL="125984" indent="-125984">
              <a:spcBef>
                <a:spcPts val="300"/>
              </a:spcBef>
              <a:buClr>
                <a:srgbClr val="C00000"/>
              </a:buClr>
              <a:buFont typeface="Arial"/>
              <a:buChar char="•"/>
            </a:pPr>
            <a:r>
              <a:rPr sz="1600" b="1">
                <a:solidFill>
                  <a:srgbClr val="003366"/>
                </a:solidFill>
                <a:latin typeface="Roboto Black"/>
                <a:ea typeface="Roboto Black"/>
                <a:cs typeface="Roboto Black"/>
              </a:rPr>
              <a:t>Rectification</a:t>
            </a:r>
            <a:r>
              <a:rPr sz="1600" b="0">
                <a:solidFill>
                  <a:srgbClr val="222222"/>
                </a:solidFill>
                <a:latin typeface="Roboto Medium"/>
                <a:ea typeface="Roboto Medium"/>
                <a:cs typeface="Roboto Medium"/>
              </a:rPr>
              <a:t>: lệch nhiều → sửa.</a:t>
            </a:r>
          </a:p>
          <a:p>
            <a:pPr marL="125984" indent="-125984">
              <a:spcBef>
                <a:spcPts val="300"/>
              </a:spcBef>
              <a:buClr>
                <a:srgbClr val="C00000"/>
              </a:buClr>
              <a:buFont typeface="Arial"/>
              <a:buChar char="•"/>
            </a:pPr>
            <a:r>
              <a:rPr sz="1600" b="1">
                <a:solidFill>
                  <a:srgbClr val="003366"/>
                </a:solidFill>
                <a:latin typeface="Roboto Black"/>
                <a:ea typeface="Roboto Black"/>
                <a:cs typeface="Roboto Black"/>
              </a:rPr>
              <a:t>Supervisory</a:t>
            </a:r>
            <a:r>
              <a:rPr sz="1600" b="0">
                <a:solidFill>
                  <a:srgbClr val="222222"/>
                </a:solidFill>
                <a:latin typeface="Roboto Medium"/>
                <a:ea typeface="Roboto Medium"/>
                <a:cs typeface="Roboto Medium"/>
              </a:rPr>
              <a:t>: agent tự tin hơn hướng dẫn. 5 vòng GRU → final judge.</a:t>
            </a:r>
          </a:p>
        </p:txBody>
      </p:sp>
      <p:sp>
        <p:nvSpPr>
          <p:cNvPr id="16" name="TextBox 15"/>
          <p:cNvSpPr txBox="1"/>
          <p:nvPr/>
        </p:nvSpPr>
        <p:spPr>
          <a:xfrm>
            <a:off x="411480" y="3611880"/>
            <a:ext cx="1828800" cy="685800"/>
          </a:xfrm>
          <a:prstGeom prst="rect">
            <a:avLst/>
          </a:prstGeom>
          <a:noFill/>
        </p:spPr>
        <p:txBody>
          <a:bodyPr wrap="square" anchor="t" lIns="45720" rIns="45720" tIns="18288" bIns="18288"/>
          <a:lstStyle/>
          <a:p>
            <a:pPr>
              <a:spcBef>
                <a:spcPts val="0"/>
              </a:spcBef>
              <a:buNone/>
            </a:pPr>
            <a:r>
              <a:rPr sz="2600" b="1">
                <a:solidFill>
                  <a:srgbClr val="003366"/>
                </a:solidFill>
                <a:latin typeface="Roboto Black"/>
                <a:ea typeface="Roboto Black"/>
                <a:cs typeface="Roboto Black"/>
              </a:rPr>
              <a:t>0.63–0.65</a:t>
            </a:r>
          </a:p>
        </p:txBody>
      </p:sp>
      <p:sp>
        <p:nvSpPr>
          <p:cNvPr id="17" name="TextBox 16"/>
          <p:cNvSpPr txBox="1"/>
          <p:nvPr/>
        </p:nvSpPr>
        <p:spPr>
          <a:xfrm>
            <a:off x="411480" y="4270248"/>
            <a:ext cx="1828800" cy="640080"/>
          </a:xfrm>
          <a:prstGeom prst="rect">
            <a:avLst/>
          </a:prstGeom>
          <a:noFill/>
        </p:spPr>
        <p:txBody>
          <a:bodyPr wrap="square" anchor="t" lIns="45720" rIns="45720" tIns="18288" bIns="18288"/>
          <a:lstStyle/>
          <a:p>
            <a:pPr>
              <a:spcBef>
                <a:spcPts val="0"/>
              </a:spcBef>
              <a:buNone/>
            </a:pPr>
            <a:r>
              <a:rPr sz="1350" b="0">
                <a:solidFill>
                  <a:srgbClr val="666666"/>
                </a:solidFill>
                <a:latin typeface="Roboto Medium"/>
                <a:ea typeface="Roboto Medium"/>
                <a:cs typeface="Roboto Medium"/>
              </a:rPr>
              <a:t>R² trong miền (carbon, dân số, GDP)</a:t>
            </a:r>
          </a:p>
        </p:txBody>
      </p:sp>
      <p:sp>
        <p:nvSpPr>
          <p:cNvPr id="18" name="TextBox 17"/>
          <p:cNvSpPr txBox="1"/>
          <p:nvPr/>
        </p:nvSpPr>
        <p:spPr>
          <a:xfrm>
            <a:off x="2331720" y="3611880"/>
            <a:ext cx="1828800" cy="685800"/>
          </a:xfrm>
          <a:prstGeom prst="rect">
            <a:avLst/>
          </a:prstGeom>
          <a:noFill/>
        </p:spPr>
        <p:txBody>
          <a:bodyPr wrap="square" anchor="t" lIns="45720" rIns="45720" tIns="18288" bIns="18288"/>
          <a:lstStyle/>
          <a:p>
            <a:pPr>
              <a:spcBef>
                <a:spcPts val="0"/>
              </a:spcBef>
              <a:buNone/>
            </a:pPr>
            <a:r>
              <a:rPr sz="2600" b="1">
                <a:solidFill>
                  <a:srgbClr val="003366"/>
                </a:solidFill>
                <a:latin typeface="Roboto Black"/>
                <a:ea typeface="Roboto Black"/>
                <a:cs typeface="Roboto Black"/>
              </a:rPr>
              <a:t>≈ 0.60</a:t>
            </a:r>
          </a:p>
        </p:txBody>
      </p:sp>
      <p:sp>
        <p:nvSpPr>
          <p:cNvPr id="19" name="TextBox 18"/>
          <p:cNvSpPr txBox="1"/>
          <p:nvPr/>
        </p:nvSpPr>
        <p:spPr>
          <a:xfrm>
            <a:off x="2331720" y="4270248"/>
            <a:ext cx="1828800" cy="640080"/>
          </a:xfrm>
          <a:prstGeom prst="rect">
            <a:avLst/>
          </a:prstGeom>
          <a:noFill/>
        </p:spPr>
        <p:txBody>
          <a:bodyPr wrap="square" anchor="t" lIns="45720" rIns="45720" tIns="18288" bIns="18288"/>
          <a:lstStyle/>
          <a:p>
            <a:pPr>
              <a:spcBef>
                <a:spcPts val="0"/>
              </a:spcBef>
              <a:buNone/>
            </a:pPr>
            <a:r>
              <a:rPr sz="1350" b="0">
                <a:solidFill>
                  <a:srgbClr val="666666"/>
                </a:solidFill>
                <a:latin typeface="Roboto Medium"/>
                <a:ea typeface="Roboto Medium"/>
                <a:cs typeface="Roboto Medium"/>
              </a:rPr>
              <a:t>R² trên thành phố chưa thấy</a:t>
            </a:r>
          </a:p>
        </p:txBody>
      </p:sp>
      <p:sp>
        <p:nvSpPr>
          <p:cNvPr id="20" name="TextBox 19"/>
          <p:cNvSpPr txBox="1"/>
          <p:nvPr/>
        </p:nvSpPr>
        <p:spPr>
          <a:xfrm>
            <a:off x="4251960" y="3611880"/>
            <a:ext cx="1828800" cy="685800"/>
          </a:xfrm>
          <a:prstGeom prst="rect">
            <a:avLst/>
          </a:prstGeom>
          <a:noFill/>
        </p:spPr>
        <p:txBody>
          <a:bodyPr wrap="square" anchor="t" lIns="45720" rIns="45720" tIns="18288" bIns="18288"/>
          <a:lstStyle/>
          <a:p>
            <a:pPr>
              <a:spcBef>
                <a:spcPts val="0"/>
              </a:spcBef>
              <a:buNone/>
            </a:pPr>
            <a:r>
              <a:rPr sz="2600" b="1">
                <a:solidFill>
                  <a:srgbClr val="C00000"/>
                </a:solidFill>
                <a:latin typeface="Roboto Black"/>
                <a:ea typeface="Roboto Black"/>
                <a:cs typeface="Roboto Black"/>
              </a:rPr>
              <a:t>+8.1%</a:t>
            </a:r>
          </a:p>
        </p:txBody>
      </p:sp>
      <p:sp>
        <p:nvSpPr>
          <p:cNvPr id="21" name="TextBox 20"/>
          <p:cNvSpPr txBox="1"/>
          <p:nvPr/>
        </p:nvSpPr>
        <p:spPr>
          <a:xfrm>
            <a:off x="4251960" y="4270248"/>
            <a:ext cx="1828800" cy="640080"/>
          </a:xfrm>
          <a:prstGeom prst="rect">
            <a:avLst/>
          </a:prstGeom>
          <a:noFill/>
        </p:spPr>
        <p:txBody>
          <a:bodyPr wrap="square" anchor="t" lIns="45720" rIns="45720" tIns="18288" bIns="18288"/>
          <a:lstStyle/>
          <a:p>
            <a:pPr>
              <a:spcBef>
                <a:spcPts val="0"/>
              </a:spcBef>
              <a:buNone/>
            </a:pPr>
            <a:r>
              <a:rPr sz="1350" b="0">
                <a:solidFill>
                  <a:srgbClr val="666666"/>
                </a:solidFill>
                <a:latin typeface="Roboto Medium"/>
                <a:ea typeface="Roboto Medium"/>
                <a:cs typeface="Roboto Medium"/>
              </a:rPr>
              <a:t>R² trung bình so với baseline mạnh nhất</a:t>
            </a:r>
          </a:p>
        </p:txBody>
      </p:sp>
      <p:sp>
        <p:nvSpPr>
          <p:cNvPr id="22" name="Rectangle 21"/>
          <p:cNvSpPr/>
          <p:nvPr/>
        </p:nvSpPr>
        <p:spPr>
          <a:xfrm>
            <a:off x="6199632" y="3566160"/>
            <a:ext cx="5577840" cy="237744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199632" y="3566160"/>
            <a:ext cx="5577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45936" y="3675887"/>
            <a:ext cx="5303520" cy="219456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Đánh giá phản biện</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“Debate” là </a:t>
            </a:r>
            <a:r>
              <a:rPr sz="1600" b="1">
                <a:solidFill>
                  <a:srgbClr val="003366"/>
                </a:solidFill>
                <a:latin typeface="Roboto Black"/>
                <a:ea typeface="Roboto Black"/>
                <a:cs typeface="Roboto Black"/>
              </a:rPr>
              <a:t>GNN/GRU được huấn luyện</a:t>
            </a:r>
            <a:r>
              <a:rPr sz="1600" b="0">
                <a:solidFill>
                  <a:srgbClr val="222222"/>
                </a:solidFill>
                <a:latin typeface="Roboto Medium"/>
                <a:ea typeface="Roboto Medium"/>
                <a:cs typeface="Roboto Medium"/>
              </a:rPr>
              <a:t>, không phải tranh luận bằng ngôn ngữ.</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Dữ liệu nhỏ (2,000 vị trí); text sinh từ chính ảnh vệ tinh → các modality không độc lập.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6.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06</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6</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So sánh &amp; kết luận</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So sánh hệ thống 8 paper</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Ba nhận định xuyên suốt</a:t>
            </a:r>
          </a:p>
        </p:txBody>
      </p:sp>
      <p:sp>
        <p:nvSpPr>
          <p:cNvPr id="14" name="Rounded Rectangle 13"/>
          <p:cNvSpPr/>
          <p:nvPr/>
        </p:nvSpPr>
        <p:spPr>
          <a:xfrm>
            <a:off x="841248" y="49103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49103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3</a:t>
            </a:r>
          </a:p>
        </p:txBody>
      </p:sp>
      <p:sp>
        <p:nvSpPr>
          <p:cNvPr id="16" name="TextBox 15"/>
          <p:cNvSpPr txBox="1"/>
          <p:nvPr/>
        </p:nvSpPr>
        <p:spPr>
          <a:xfrm>
            <a:off x="1261872" y="48646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Research gap và hướng phát triển</a:t>
            </a:r>
          </a:p>
        </p:txBody>
      </p:sp>
      <p:sp>
        <p:nvSpPr>
          <p:cNvPr id="17" name="Rounded Rectangle 16"/>
          <p:cNvSpPr/>
          <p:nvPr/>
        </p:nvSpPr>
        <p:spPr>
          <a:xfrm>
            <a:off x="841248" y="53675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53675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4</a:t>
            </a:r>
          </a:p>
        </p:txBody>
      </p:sp>
      <p:sp>
        <p:nvSpPr>
          <p:cNvPr id="19" name="TextBox 18"/>
          <p:cNvSpPr txBox="1"/>
          <p:nvPr/>
        </p:nvSpPr>
        <p:spPr>
          <a:xfrm>
            <a:off x="1261872" y="53218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Kết luận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So sánh hệ thống tám paper</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So sánh</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22</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graphicFrame>
        <p:nvGraphicFramePr>
          <p:cNvPr id="8" name="Table 7"/>
          <p:cNvGraphicFramePr>
            <a:graphicFrameLocks noGrp="1"/>
          </p:cNvGraphicFramePr>
          <p:nvPr/>
        </p:nvGraphicFramePr>
        <p:xfrm>
          <a:off x="411480" y="960120"/>
          <a:ext cx="7863840" cy="4526280"/>
        </p:xfrm>
        <a:graphic>
          <a:graphicData uri="http://schemas.openxmlformats.org/drawingml/2006/table">
            <a:tbl>
              <a:tblPr firstRow="0" bandRow="0"/>
              <a:tblGrid>
                <a:gridCol w="1600200"/>
                <a:gridCol w="1691640"/>
                <a:gridCol w="960120"/>
                <a:gridCol w="1051560"/>
                <a:gridCol w="1508760"/>
                <a:gridCol w="1051560"/>
              </a:tblGrid>
              <a:tr h="502920">
                <a:tc>
                  <a:txBody>
                    <a:bodyPr wrap="square"/>
                    <a:lstStyle/>
                    <a:p>
                      <a:pPr>
                        <a:spcBef>
                          <a:spcPts val="0"/>
                        </a:spcBef>
                        <a:buNone/>
                      </a:pPr>
                      <a:r>
                        <a:rPr sz="1400" b="1">
                          <a:solidFill>
                            <a:srgbClr val="FFFFFF"/>
                          </a:solidFill>
                          <a:latin typeface="Roboto Black"/>
                          <a:ea typeface="Roboto Black"/>
                          <a:cs typeface="Roboto Black"/>
                        </a:rPr>
                        <a:t>Paper</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Loại đóng góp</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Training</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White-box</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Chi phí</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Thống kê</a:t>
                      </a:r>
                    </a:p>
                  </a:txBody>
                  <a:tcPr marL="54864" marR="54864" marT="27432" marB="27432" anchor="ctr">
                    <a:solidFill>
                      <a:srgbClr val="003366"/>
                    </a:solidFill>
                  </a:tcPr>
                </a:tc>
              </a:tr>
              <a:tr h="502920">
                <a:tc>
                  <a:txBody>
                    <a:bodyPr wrap="square"/>
                    <a:lstStyle/>
                    <a:p>
                      <a:pPr>
                        <a:spcBef>
                          <a:spcPts val="0"/>
                        </a:spcBef>
                        <a:buNone/>
                      </a:pPr>
                      <a:r>
                        <a:rPr sz="1400" b="1">
                          <a:solidFill>
                            <a:srgbClr val="003366"/>
                          </a:solidFill>
                          <a:latin typeface="Roboto Black"/>
                          <a:ea typeface="Roboto Black"/>
                          <a:cs typeface="Roboto Black"/>
                        </a:rPr>
                        <a:t>MIRAGE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Defense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TIDE</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Benchmark</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1">
                          <a:solidFill>
                            <a:srgbClr val="003366"/>
                          </a:solidFill>
                          <a:latin typeface="Roboto Black"/>
                          <a:ea typeface="Roboto Black"/>
                          <a:cs typeface="Roboto Black"/>
                        </a:rPr>
                        <a:t>✓</a:t>
                      </a:r>
                    </a:p>
                  </a:txBody>
                  <a:tcPr marL="54864" marR="54864" marT="27432" marB="27432" anchor="ctr">
                    <a:solidFill>
                      <a:srgbClr val="F3F6FB"/>
                    </a:solidFill>
                  </a:tcPr>
                </a:tc>
              </a:tr>
              <a:tr h="502920">
                <a:tc>
                  <a:txBody>
                    <a:bodyPr wrap="square"/>
                    <a:lstStyle/>
                    <a:p>
                      <a:pPr>
                        <a:spcBef>
                          <a:spcPts val="0"/>
                        </a:spcBef>
                        <a:buNone/>
                      </a:pPr>
                      <a:r>
                        <a:rPr sz="1400" b="1">
                          <a:solidFill>
                            <a:srgbClr val="003366"/>
                          </a:solidFill>
                          <a:latin typeface="Roboto Black"/>
                          <a:ea typeface="Roboto Black"/>
                          <a:cs typeface="Roboto Black"/>
                        </a:rPr>
                        <a:t>ProgRouter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online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1">
                          <a:solidFill>
                            <a:srgbClr val="003366"/>
                          </a:solidFill>
                          <a:latin typeface="Roboto Black"/>
                          <a:ea typeface="Roboto Black"/>
                          <a:cs typeface="Roboto Black"/>
                        </a:rPr>
                        <a:t>✓ năng lượng</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HalluProp</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Risk predictor</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 thời gian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r>
              <a:tr h="502920">
                <a:tc>
                  <a:txBody>
                    <a:bodyPr wrap="square"/>
                    <a:lstStyle/>
                    <a:p>
                      <a:pPr>
                        <a:spcBef>
                          <a:spcPts val="0"/>
                        </a:spcBef>
                        <a:buNone/>
                      </a:pPr>
                      <a:r>
                        <a:rPr sz="1400" b="1">
                          <a:solidFill>
                            <a:srgbClr val="003366"/>
                          </a:solidFill>
                          <a:latin typeface="Roboto Black"/>
                          <a:ea typeface="Roboto Black"/>
                          <a:cs typeface="Roboto Black"/>
                        </a:rPr>
                        <a:t>DAIN</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Kiến trúc fusion</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 tham số</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AGENT-RADAR</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Plug-in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1">
                          <a:solidFill>
                            <a:srgbClr val="C00000"/>
                          </a:solidFill>
                          <a:latin typeface="Roboto Black"/>
                          <a:ea typeface="Roboto Black"/>
                          <a:cs typeface="Roboto Black"/>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 thời gian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r>
              <a:tr h="502920">
                <a:tc>
                  <a:txBody>
                    <a:bodyPr wrap="square"/>
                    <a:lstStyle/>
                    <a:p>
                      <a:pPr>
                        <a:spcBef>
                          <a:spcPts val="0"/>
                        </a:spcBef>
                        <a:buNone/>
                      </a:pPr>
                      <a:r>
                        <a:rPr sz="1400" b="1">
                          <a:solidFill>
                            <a:srgbClr val="003366"/>
                          </a:solidFill>
                          <a:latin typeface="Roboto Black"/>
                          <a:ea typeface="Roboto Black"/>
                          <a:cs typeface="Roboto Black"/>
                        </a:rPr>
                        <a:t>MAC-RRG</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Ứng dụng</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UrbanAgent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Ứng dụng</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r>
            </a:tbl>
          </a:graphicData>
        </a:graphic>
      </p:graphicFrame>
      <p:sp>
        <p:nvSpPr>
          <p:cNvPr id="9" name="Rectangle 8"/>
          <p:cNvSpPr/>
          <p:nvPr/>
        </p:nvSpPr>
        <p:spPr>
          <a:xfrm>
            <a:off x="8503920" y="960120"/>
            <a:ext cx="3273552" cy="498348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03920" y="960120"/>
            <a:ext cx="32735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50224" y="1069848"/>
            <a:ext cx="2999232" cy="480060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Đọc bảng</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Chỉ </a:t>
            </a:r>
            <a:r>
              <a:rPr sz="1600" b="1">
                <a:solidFill>
                  <a:srgbClr val="003366"/>
                </a:solidFill>
                <a:latin typeface="Roboto Black"/>
                <a:ea typeface="Roboto Black"/>
                <a:cs typeface="Roboto Black"/>
              </a:rPr>
              <a:t>TIDE</a:t>
            </a:r>
            <a:r>
              <a:rPr sz="1600" b="0">
                <a:solidFill>
                  <a:srgbClr val="222222"/>
                </a:solidFill>
                <a:latin typeface="Roboto Medium"/>
                <a:ea typeface="Roboto Medium"/>
                <a:cs typeface="Roboto Medium"/>
              </a:rPr>
              <a:t> có kiểm định thống kê.</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Chỉ </a:t>
            </a:r>
            <a:r>
              <a:rPr sz="1600" b="1">
                <a:solidFill>
                  <a:srgbClr val="003366"/>
                </a:solidFill>
                <a:latin typeface="Roboto Black"/>
                <a:ea typeface="Roboto Black"/>
                <a:cs typeface="Roboto Black"/>
              </a:rPr>
              <a:t>ProgRouter</a:t>
            </a:r>
            <a:r>
              <a:rPr sz="1600" b="0">
                <a:solidFill>
                  <a:srgbClr val="222222"/>
                </a:solidFill>
                <a:latin typeface="Roboto Medium"/>
                <a:ea typeface="Roboto Medium"/>
                <a:cs typeface="Roboto Medium"/>
              </a:rPr>
              <a:t> đo năng lượng GPU thực.</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Chỉ </a:t>
            </a:r>
            <a:r>
              <a:rPr sz="1600" b="1">
                <a:solidFill>
                  <a:srgbClr val="003366"/>
                </a:solidFill>
                <a:latin typeface="Roboto Black"/>
                <a:ea typeface="Roboto Black"/>
                <a:cs typeface="Roboto Black"/>
              </a:rPr>
              <a:t>AGENT-RADAR</a:t>
            </a:r>
            <a:r>
              <a:rPr sz="1600" b="0">
                <a:solidFill>
                  <a:srgbClr val="222222"/>
                </a:solidFill>
                <a:latin typeface="Roboto Medium"/>
                <a:ea typeface="Roboto Medium"/>
                <a:cs typeface="Roboto Medium"/>
              </a:rPr>
              <a:t> bắt buộc white-box.</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Cùng benchmark nhưng khác tập con, topology, backbone → </a:t>
            </a:r>
            <a:r>
              <a:rPr sz="1600" b="1">
                <a:solidFill>
                  <a:srgbClr val="C00000"/>
                </a:solidFill>
                <a:latin typeface="Roboto Black"/>
                <a:ea typeface="Roboto Black"/>
                <a:cs typeface="Roboto Black"/>
              </a:rPr>
              <a:t>không so trực tiếp</a:t>
            </a:r>
            <a:r>
              <a:rPr sz="1600" b="0">
                <a:solidFill>
                  <a:srgbClr val="222222"/>
                </a:solidFill>
                <a:latin typeface="Roboto Medium"/>
                <a:ea typeface="Roboto Medium"/>
                <a:cs typeface="Roboto Medium"/>
              </a:rPr>
              <a:t> được con số.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Ba nhận định xuyên suốt</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So sánh</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23</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05840"/>
            <a:ext cx="914400" cy="12801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05840"/>
            <a:ext cx="914400" cy="1280160"/>
          </a:xfrm>
          <a:prstGeom prst="rect">
            <a:avLst/>
          </a:prstGeom>
          <a:noFill/>
        </p:spPr>
        <p:txBody>
          <a:bodyPr wrap="square" anchor="ctr" lIns="45720" rIns="45720" tIns="18288" bIns="18288"/>
          <a:lstStyle/>
          <a:p>
            <a:pPr algn="ctr">
              <a:spcBef>
                <a:spcPts val="0"/>
              </a:spcBef>
              <a:buNone/>
            </a:pPr>
            <a:r>
              <a:rPr sz="3000" b="1">
                <a:solidFill>
                  <a:srgbClr val="FFFFFF"/>
                </a:solidFill>
                <a:latin typeface="Roboto Black"/>
                <a:ea typeface="Roboto Black"/>
                <a:cs typeface="Roboto Black"/>
              </a:rPr>
              <a:t>1</a:t>
            </a:r>
          </a:p>
        </p:txBody>
      </p:sp>
      <p:sp>
        <p:nvSpPr>
          <p:cNvPr id="10" name="Rectangle 9"/>
          <p:cNvSpPr/>
          <p:nvPr/>
        </p:nvSpPr>
        <p:spPr>
          <a:xfrm>
            <a:off x="1463040" y="1005840"/>
            <a:ext cx="10314432" cy="12801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00200" y="1078992"/>
            <a:ext cx="10040112" cy="118872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Communication graph là trung tâm</a:t>
            </a:r>
          </a:p>
          <a:p>
            <a:pPr>
              <a:spcBef>
                <a:spcPts val="500"/>
              </a:spcBef>
              <a:buNone/>
            </a:pPr>
            <a:r>
              <a:rPr sz="1600" b="0">
                <a:solidFill>
                  <a:srgbClr val="222222"/>
                </a:solidFill>
                <a:latin typeface="Roboto Medium"/>
                <a:ea typeface="Roboto Medium"/>
                <a:cs typeface="Roboto Medium"/>
              </a:rPr>
              <a:t>6/8 bài thao tác trực tiếp: </a:t>
            </a:r>
            <a:r>
              <a:rPr sz="1600" b="1">
                <a:solidFill>
                  <a:srgbClr val="003366"/>
                </a:solidFill>
                <a:latin typeface="Roboto Black"/>
                <a:ea typeface="Roboto Black"/>
                <a:cs typeface="Roboto Black"/>
              </a:rPr>
              <a:t>giấu</a:t>
            </a:r>
            <a:r>
              <a:rPr sz="1600" b="0">
                <a:solidFill>
                  <a:srgbClr val="222222"/>
                </a:solidFill>
                <a:latin typeface="Roboto Medium"/>
                <a:ea typeface="Roboto Medium"/>
                <a:cs typeface="Roboto Medium"/>
              </a:rPr>
              <a:t> (MIRAGE), </a:t>
            </a:r>
            <a:r>
              <a:rPr sz="1600" b="1">
                <a:solidFill>
                  <a:srgbClr val="003366"/>
                </a:solidFill>
                <a:latin typeface="Roboto Black"/>
                <a:ea typeface="Roboto Black"/>
                <a:cs typeface="Roboto Black"/>
              </a:rPr>
              <a:t>phân tích</a:t>
            </a:r>
            <a:r>
              <a:rPr sz="1600" b="0">
                <a:solidFill>
                  <a:srgbClr val="222222"/>
                </a:solidFill>
                <a:latin typeface="Roboto Medium"/>
                <a:ea typeface="Roboto Medium"/>
                <a:cs typeface="Roboto Medium"/>
              </a:rPr>
              <a:t> (HalluProp), </a:t>
            </a:r>
            <a:r>
              <a:rPr sz="1600" b="1">
                <a:solidFill>
                  <a:srgbClr val="003366"/>
                </a:solidFill>
                <a:latin typeface="Roboto Black"/>
                <a:ea typeface="Roboto Black"/>
                <a:cs typeface="Roboto Black"/>
              </a:rPr>
              <a:t>đo khoảng cách</a:t>
            </a:r>
            <a:r>
              <a:rPr sz="1600" b="0">
                <a:solidFill>
                  <a:srgbClr val="222222"/>
                </a:solidFill>
                <a:latin typeface="Roboto Medium"/>
                <a:ea typeface="Roboto Medium"/>
                <a:cs typeface="Roboto Medium"/>
              </a:rPr>
              <a:t> (RADAR), </a:t>
            </a:r>
            <a:r>
              <a:rPr sz="1600" b="1">
                <a:solidFill>
                  <a:srgbClr val="003366"/>
                </a:solidFill>
                <a:latin typeface="Roboto Black"/>
                <a:ea typeface="Roboto Black"/>
                <a:cs typeface="Roboto Black"/>
              </a:rPr>
              <a:t>học</a:t>
            </a:r>
            <a:r>
              <a:rPr sz="1600" b="0">
                <a:solidFill>
                  <a:srgbClr val="222222"/>
                </a:solidFill>
                <a:latin typeface="Roboto Medium"/>
                <a:ea typeface="Roboto Medium"/>
                <a:cs typeface="Roboto Medium"/>
              </a:rPr>
              <a:t> (DAIN, UrbanAgent), </a:t>
            </a:r>
            <a:r>
              <a:rPr sz="1600" b="1">
                <a:solidFill>
                  <a:srgbClr val="003366"/>
                </a:solidFill>
                <a:latin typeface="Roboto Black"/>
                <a:ea typeface="Roboto Black"/>
                <a:cs typeface="Roboto Black"/>
              </a:rPr>
              <a:t>truy vết</a:t>
            </a:r>
            <a:r>
              <a:rPr sz="1600" b="0">
                <a:solidFill>
                  <a:srgbClr val="222222"/>
                </a:solidFill>
                <a:latin typeface="Roboto Medium"/>
                <a:ea typeface="Roboto Medium"/>
                <a:cs typeface="Roboto Medium"/>
              </a:rPr>
              <a:t> (TIDE).</a:t>
            </a:r>
          </a:p>
        </p:txBody>
      </p:sp>
      <p:sp>
        <p:nvSpPr>
          <p:cNvPr id="12" name="Rounded Rectangle 11"/>
          <p:cNvSpPr/>
          <p:nvPr/>
        </p:nvSpPr>
        <p:spPr>
          <a:xfrm>
            <a:off x="411480" y="2468880"/>
            <a:ext cx="914400" cy="12801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11480" y="2468880"/>
            <a:ext cx="914400" cy="1280160"/>
          </a:xfrm>
          <a:prstGeom prst="rect">
            <a:avLst/>
          </a:prstGeom>
          <a:noFill/>
        </p:spPr>
        <p:txBody>
          <a:bodyPr wrap="square" anchor="ctr" lIns="45720" rIns="45720" tIns="18288" bIns="18288"/>
          <a:lstStyle/>
          <a:p>
            <a:pPr algn="ctr">
              <a:spcBef>
                <a:spcPts val="0"/>
              </a:spcBef>
              <a:buNone/>
            </a:pPr>
            <a:r>
              <a:rPr sz="3000" b="1">
                <a:solidFill>
                  <a:srgbClr val="FFFFFF"/>
                </a:solidFill>
                <a:latin typeface="Roboto Black"/>
                <a:ea typeface="Roboto Black"/>
                <a:cs typeface="Roboto Black"/>
              </a:rPr>
              <a:t>2</a:t>
            </a:r>
          </a:p>
        </p:txBody>
      </p:sp>
      <p:sp>
        <p:nvSpPr>
          <p:cNvPr id="14" name="Rectangle 13"/>
          <p:cNvSpPr/>
          <p:nvPr/>
        </p:nvSpPr>
        <p:spPr>
          <a:xfrm>
            <a:off x="1463040" y="2468880"/>
            <a:ext cx="10314432" cy="12801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00200" y="2542032"/>
            <a:ext cx="10040112" cy="118872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Lan truyền là rủi ro cốt lõi</a:t>
            </a:r>
          </a:p>
          <a:p>
            <a:pPr>
              <a:spcBef>
                <a:spcPts val="500"/>
              </a:spcBef>
              <a:buNone/>
            </a:pPr>
            <a:r>
              <a:rPr sz="1600" b="0">
                <a:solidFill>
                  <a:srgbClr val="222222"/>
                </a:solidFill>
                <a:latin typeface="Roboto Medium"/>
                <a:ea typeface="Roboto Medium"/>
                <a:cs typeface="Roboto Medium"/>
              </a:rPr>
              <a:t>Thảo luận </a:t>
            </a:r>
            <a:r>
              <a:rPr sz="1600" b="1">
                <a:solidFill>
                  <a:srgbClr val="003366"/>
                </a:solidFill>
                <a:latin typeface="Roboto Black"/>
                <a:ea typeface="Roboto Black"/>
                <a:cs typeface="Roboto Black"/>
              </a:rPr>
              <a:t>khuếch đại</a:t>
            </a:r>
            <a:r>
              <a:rPr sz="1600" b="0">
                <a:solidFill>
                  <a:srgbClr val="222222"/>
                </a:solidFill>
                <a:latin typeface="Roboto Medium"/>
                <a:ea typeface="Roboto Medium"/>
                <a:cs typeface="Roboto Medium"/>
              </a:rPr>
              <a:t> sai lệch thay vì sửa sai (TIDE); hallucination lan theo cạnh (HalluProp).</a:t>
            </a:r>
          </a:p>
        </p:txBody>
      </p:sp>
      <p:sp>
        <p:nvSpPr>
          <p:cNvPr id="16" name="Rounded Rectangle 15"/>
          <p:cNvSpPr/>
          <p:nvPr/>
        </p:nvSpPr>
        <p:spPr>
          <a:xfrm>
            <a:off x="411480" y="3931920"/>
            <a:ext cx="914400" cy="12801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480" y="3931920"/>
            <a:ext cx="914400" cy="1280160"/>
          </a:xfrm>
          <a:prstGeom prst="rect">
            <a:avLst/>
          </a:prstGeom>
          <a:noFill/>
        </p:spPr>
        <p:txBody>
          <a:bodyPr wrap="square" anchor="ctr" lIns="45720" rIns="45720" tIns="18288" bIns="18288"/>
          <a:lstStyle/>
          <a:p>
            <a:pPr algn="ctr">
              <a:spcBef>
                <a:spcPts val="0"/>
              </a:spcBef>
              <a:buNone/>
            </a:pPr>
            <a:r>
              <a:rPr sz="3000" b="1">
                <a:solidFill>
                  <a:srgbClr val="FFFFFF"/>
                </a:solidFill>
                <a:latin typeface="Roboto Black"/>
                <a:ea typeface="Roboto Black"/>
                <a:cs typeface="Roboto Black"/>
              </a:rPr>
              <a:t>3</a:t>
            </a:r>
          </a:p>
        </p:txBody>
      </p:sp>
      <p:sp>
        <p:nvSpPr>
          <p:cNvPr id="18" name="Rectangle 17"/>
          <p:cNvSpPr/>
          <p:nvPr/>
        </p:nvSpPr>
        <p:spPr>
          <a:xfrm>
            <a:off x="1463040" y="3931920"/>
            <a:ext cx="10314432" cy="12801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00200" y="4005072"/>
            <a:ext cx="10040112" cy="118872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Khái niệm “agent” bị nới rộng</a:t>
            </a:r>
          </a:p>
          <a:p>
            <a:pPr>
              <a:spcBef>
                <a:spcPts val="500"/>
              </a:spcBef>
              <a:buNone/>
            </a:pPr>
            <a:r>
              <a:rPr sz="1600" b="0">
                <a:solidFill>
                  <a:srgbClr val="222222"/>
                </a:solidFill>
                <a:latin typeface="Roboto Medium"/>
                <a:ea typeface="Roboto Medium"/>
                <a:cs typeface="Roboto Medium"/>
              </a:rPr>
              <a:t>LLM agent thật (5 bài) · LLM + aggregator học được (UrbanAgent) · neural / retrieval module (DAIN, MAC-RRG).</a:t>
            </a:r>
          </a:p>
        </p:txBody>
      </p:sp>
      <p:sp>
        <p:nvSpPr>
          <p:cNvPr id="20" name="TextBox 19"/>
          <p:cNvSpPr txBox="1"/>
          <p:nvPr/>
        </p:nvSpPr>
        <p:spPr>
          <a:xfrm>
            <a:off x="411480" y="5440680"/>
            <a:ext cx="11365992" cy="502920"/>
          </a:xfrm>
          <a:prstGeom prst="rect">
            <a:avLst/>
          </a:prstGeom>
          <a:noFill/>
        </p:spPr>
        <p:txBody>
          <a:bodyPr wrap="square" anchor="t" lIns="45720" rIns="45720" tIns="18288" bIns="18288"/>
          <a:lstStyle/>
          <a:p>
            <a:pPr>
              <a:spcBef>
                <a:spcPts val="0"/>
              </a:spcBef>
              <a:buNone/>
            </a:pPr>
            <a:r>
              <a:rPr sz="1550" b="0">
                <a:solidFill>
                  <a:srgbClr val="666666"/>
                </a:solidFill>
                <a:latin typeface="Roboto Medium"/>
                <a:ea typeface="Roboto Medium"/>
                <a:cs typeface="Roboto Medium"/>
              </a:rPr>
              <a:t>Hiệu quả </a:t>
            </a:r>
            <a:r>
              <a:rPr sz="1550" b="1">
                <a:solidFill>
                  <a:srgbClr val="003366"/>
                </a:solidFill>
                <a:latin typeface="Roboto Black"/>
                <a:ea typeface="Roboto Black"/>
                <a:cs typeface="Roboto Black"/>
              </a:rPr>
              <a:t>không</a:t>
            </a:r>
            <a:r>
              <a:rPr sz="1550" b="0">
                <a:solidFill>
                  <a:srgbClr val="666666"/>
                </a:solidFill>
                <a:latin typeface="Roboto Medium"/>
                <a:ea typeface="Roboto Medium"/>
                <a:cs typeface="Roboto Medium"/>
              </a:rPr>
              <a:t> đến từ nhiều agent hơn: ProgRouter dùng chủ yếu model 0.5B; DAIN tốt nhất với τ = 4/8 agent.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Research gap và hướng phát triển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Kết luận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24</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5303520" cy="457200"/>
          </a:xfrm>
          <a:prstGeom prst="rect">
            <a:avLst/>
          </a:prstGeom>
          <a:noFill/>
        </p:spPr>
        <p:txBody>
          <a:bodyPr wrap="square" anchor="t" lIns="45720" rIns="45720" tIns="18288" bIns="18288"/>
          <a:lstStyle/>
          <a:p>
            <a:pPr>
              <a:spcBef>
                <a:spcPts val="0"/>
              </a:spcBef>
              <a:buNone/>
            </a:pPr>
            <a:r>
              <a:rPr sz="2000" b="1">
                <a:solidFill>
                  <a:srgbClr val="C00000"/>
                </a:solidFill>
                <a:latin typeface="Roboto Black"/>
                <a:ea typeface="Roboto Black"/>
                <a:cs typeface="Roboto Black"/>
              </a:rPr>
              <a:t>Research gap</a:t>
            </a:r>
          </a:p>
        </p:txBody>
      </p:sp>
      <p:sp>
        <p:nvSpPr>
          <p:cNvPr id="9" name="Rounded Rectangle 8"/>
          <p:cNvSpPr/>
          <p:nvPr/>
        </p:nvSpPr>
        <p:spPr>
          <a:xfrm>
            <a:off x="411480" y="146304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146304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G1</a:t>
            </a:r>
          </a:p>
        </p:txBody>
      </p:sp>
      <p:sp>
        <p:nvSpPr>
          <p:cNvPr id="11" name="Rectangle 10"/>
          <p:cNvSpPr/>
          <p:nvPr/>
        </p:nvSpPr>
        <p:spPr>
          <a:xfrm>
            <a:off x="1069848" y="146304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61288" y="146304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Chưa có benchmark chung: chất lượng + chi phí + robustness</a:t>
            </a:r>
          </a:p>
        </p:txBody>
      </p:sp>
      <p:sp>
        <p:nvSpPr>
          <p:cNvPr id="13" name="Rounded Rectangle 12"/>
          <p:cNvSpPr/>
          <p:nvPr/>
        </p:nvSpPr>
        <p:spPr>
          <a:xfrm>
            <a:off x="411480" y="233172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11480" y="233172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G2</a:t>
            </a:r>
          </a:p>
        </p:txBody>
      </p:sp>
      <p:sp>
        <p:nvSpPr>
          <p:cNvPr id="15" name="Rectangle 14"/>
          <p:cNvSpPr/>
          <p:nvPr/>
        </p:nvSpPr>
        <p:spPr>
          <a:xfrm>
            <a:off x="1069848" y="233172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33172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7/8 bài không có phương sai hay kiểm định thống kê</a:t>
            </a:r>
          </a:p>
        </p:txBody>
      </p:sp>
      <p:sp>
        <p:nvSpPr>
          <p:cNvPr id="17" name="Rounded Rectangle 16"/>
          <p:cNvSpPr/>
          <p:nvPr/>
        </p:nvSpPr>
        <p:spPr>
          <a:xfrm>
            <a:off x="411480" y="320040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11480" y="320040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G3</a:t>
            </a:r>
          </a:p>
        </p:txBody>
      </p:sp>
      <p:sp>
        <p:nvSpPr>
          <p:cNvPr id="19" name="Rectangle 18"/>
          <p:cNvSpPr/>
          <p:nvPr/>
        </p:nvSpPr>
        <p:spPr>
          <a:xfrm>
            <a:off x="1069848" y="320040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61288" y="320040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Quy mô nhỏ: ≤ 8 agent, 2–5 vòng, tác vụ ngắn</a:t>
            </a:r>
          </a:p>
        </p:txBody>
      </p:sp>
      <p:sp>
        <p:nvSpPr>
          <p:cNvPr id="21" name="Rounded Rectangle 20"/>
          <p:cNvSpPr/>
          <p:nvPr/>
        </p:nvSpPr>
        <p:spPr>
          <a:xfrm>
            <a:off x="411480" y="4069079"/>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11480" y="4069079"/>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G4</a:t>
            </a:r>
          </a:p>
        </p:txBody>
      </p:sp>
      <p:sp>
        <p:nvSpPr>
          <p:cNvPr id="23" name="Rectangle 22"/>
          <p:cNvSpPr/>
          <p:nvPr/>
        </p:nvSpPr>
        <p:spPr>
          <a:xfrm>
            <a:off x="1069848" y="4069079"/>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61288" y="4069079"/>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Chưa có adaptive attacker; chưa có cách khôi phục sự thật</a:t>
            </a:r>
          </a:p>
        </p:txBody>
      </p:sp>
      <p:sp>
        <p:nvSpPr>
          <p:cNvPr id="25" name="Rounded Rectangle 24"/>
          <p:cNvSpPr/>
          <p:nvPr/>
        </p:nvSpPr>
        <p:spPr>
          <a:xfrm>
            <a:off x="411480" y="493776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11480" y="493776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G5</a:t>
            </a:r>
          </a:p>
        </p:txBody>
      </p:sp>
      <p:sp>
        <p:nvSpPr>
          <p:cNvPr id="27" name="Rectangle 26"/>
          <p:cNvSpPr/>
          <p:nvPr/>
        </p:nvSpPr>
        <p:spPr>
          <a:xfrm>
            <a:off x="1069848" y="493776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61288" y="493776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Phương pháp tối ưu chưa được thử trong điều kiện đối kháng</a:t>
            </a:r>
          </a:p>
        </p:txBody>
      </p:sp>
      <p:sp>
        <p:nvSpPr>
          <p:cNvPr id="29" name="TextBox 28"/>
          <p:cNvSpPr txBox="1"/>
          <p:nvPr/>
        </p:nvSpPr>
        <p:spPr>
          <a:xfrm>
            <a:off x="6035040" y="914400"/>
            <a:ext cx="5760720" cy="45720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Hướng phát triển</a:t>
            </a:r>
          </a:p>
        </p:txBody>
      </p:sp>
      <p:sp>
        <p:nvSpPr>
          <p:cNvPr id="30" name="Rectangle 29"/>
          <p:cNvSpPr/>
          <p:nvPr/>
        </p:nvSpPr>
        <p:spPr>
          <a:xfrm>
            <a:off x="6035040" y="1463040"/>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163056" y="1499616"/>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Benchmark 3 trục</a:t>
            </a:r>
          </a:p>
          <a:p>
            <a:pPr>
              <a:spcBef>
                <a:spcPts val="200"/>
              </a:spcBef>
              <a:buNone/>
            </a:pPr>
            <a:r>
              <a:rPr sz="1500" b="0">
                <a:solidFill>
                  <a:srgbClr val="222222"/>
                </a:solidFill>
                <a:latin typeface="Roboto Medium"/>
                <a:ea typeface="Roboto Medium"/>
                <a:cs typeface="Roboto Medium"/>
              </a:rPr>
              <a:t>chất lượng · chi phí · robustness (giao thức C0/C1 của TIDE)</a:t>
            </a:r>
          </a:p>
        </p:txBody>
      </p:sp>
      <p:sp>
        <p:nvSpPr>
          <p:cNvPr id="32" name="Rectangle 31"/>
          <p:cNvSpPr/>
          <p:nvPr/>
        </p:nvSpPr>
        <p:spPr>
          <a:xfrm>
            <a:off x="6035040" y="2551176"/>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163056" y="2587752"/>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Provenance-aware communication</a:t>
            </a:r>
          </a:p>
          <a:p>
            <a:pPr>
              <a:spcBef>
                <a:spcPts val="200"/>
              </a:spcBef>
              <a:buNone/>
            </a:pPr>
            <a:r>
              <a:rPr sz="1500" b="0">
                <a:solidFill>
                  <a:srgbClr val="222222"/>
                </a:solidFill>
                <a:latin typeface="Roboto Medium"/>
                <a:ea typeface="Roboto Medium"/>
                <a:cs typeface="Roboto Medium"/>
              </a:rPr>
              <a:t>score(RADAR) × (1 − ĥ_j) × μ^hop</a:t>
            </a:r>
          </a:p>
        </p:txBody>
      </p:sp>
      <p:sp>
        <p:nvSpPr>
          <p:cNvPr id="34" name="Rectangle 33"/>
          <p:cNvSpPr/>
          <p:nvPr/>
        </p:nvSpPr>
        <p:spPr>
          <a:xfrm>
            <a:off x="6035040" y="3639312"/>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63056" y="3675887"/>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Risk-aware routing</a:t>
            </a:r>
          </a:p>
          <a:p>
            <a:pPr>
              <a:spcBef>
                <a:spcPts val="200"/>
              </a:spcBef>
              <a:buNone/>
            </a:pPr>
            <a:r>
              <a:rPr sz="1500" b="0">
                <a:solidFill>
                  <a:srgbClr val="222222"/>
                </a:solidFill>
                <a:latin typeface="Roboto Medium"/>
                <a:ea typeface="Roboto Medium"/>
                <a:cs typeface="Roboto Medium"/>
              </a:rPr>
              <a:t>ProgRouter + HalluProp: bước rủi ro → model mạnh</a:t>
            </a:r>
          </a:p>
        </p:txBody>
      </p:sp>
      <p:sp>
        <p:nvSpPr>
          <p:cNvPr id="36" name="Rectangle 35"/>
          <p:cNvSpPr/>
          <p:nvPr/>
        </p:nvSpPr>
        <p:spPr>
          <a:xfrm>
            <a:off x="6035040" y="4727448"/>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163056" y="4764024"/>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Verifier agent chủ động</a:t>
            </a:r>
          </a:p>
          <a:p>
            <a:pPr>
              <a:spcBef>
                <a:spcPts val="200"/>
              </a:spcBef>
              <a:buNone/>
            </a:pPr>
            <a:r>
              <a:rPr sz="1500" b="0">
                <a:solidFill>
                  <a:srgbClr val="222222"/>
                </a:solidFill>
                <a:latin typeface="Roboto Medium"/>
                <a:ea typeface="Roboto Medium"/>
                <a:cs typeface="Roboto Medium"/>
              </a:rPr>
              <a:t>đòi bằng chứng trực tiếp trước khi đồng thuận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Kết luận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Kết luận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25</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05840"/>
            <a:ext cx="68580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0584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1</a:t>
            </a:r>
          </a:p>
        </p:txBody>
      </p:sp>
      <p:sp>
        <p:nvSpPr>
          <p:cNvPr id="10" name="Rectangle 9"/>
          <p:cNvSpPr/>
          <p:nvPr/>
        </p:nvSpPr>
        <p:spPr>
          <a:xfrm>
            <a:off x="1234440" y="100584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44168" y="100584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Communication graph là trung tâm</a:t>
            </a:r>
          </a:p>
          <a:p>
            <a:pPr>
              <a:spcBef>
                <a:spcPts val="300"/>
              </a:spcBef>
              <a:buNone/>
            </a:pPr>
            <a:r>
              <a:rPr sz="1550" b="0">
                <a:solidFill>
                  <a:srgbClr val="222222"/>
                </a:solidFill>
                <a:latin typeface="Roboto Medium"/>
                <a:ea typeface="Roboto Medium"/>
                <a:cs typeface="Roboto Medium"/>
              </a:rPr>
              <a:t>quyết định hiệu năng, lan truyền rủi ro, cần được bảo vệ</a:t>
            </a:r>
          </a:p>
        </p:txBody>
      </p:sp>
      <p:sp>
        <p:nvSpPr>
          <p:cNvPr id="12" name="Rounded Rectangle 11"/>
          <p:cNvSpPr/>
          <p:nvPr/>
        </p:nvSpPr>
        <p:spPr>
          <a:xfrm>
            <a:off x="6172200" y="1005840"/>
            <a:ext cx="68580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72200" y="100584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2</a:t>
            </a:r>
          </a:p>
        </p:txBody>
      </p:sp>
      <p:sp>
        <p:nvSpPr>
          <p:cNvPr id="14" name="Rectangle 13"/>
          <p:cNvSpPr/>
          <p:nvPr/>
        </p:nvSpPr>
        <p:spPr>
          <a:xfrm>
            <a:off x="6995160" y="100584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04888" y="100584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Lan truyền là rủi ro cốt lõi</a:t>
            </a:r>
          </a:p>
          <a:p>
            <a:pPr>
              <a:spcBef>
                <a:spcPts val="300"/>
              </a:spcBef>
              <a:buNone/>
            </a:pPr>
            <a:r>
              <a:rPr sz="1550" b="0">
                <a:solidFill>
                  <a:srgbClr val="222222"/>
                </a:solidFill>
                <a:latin typeface="Roboto Medium"/>
                <a:ea typeface="Roboto Medium"/>
                <a:cs typeface="Roboto Medium"/>
              </a:rPr>
              <a:t>thảo luận khuếch đại sai lệch thay vì sửa sai</a:t>
            </a:r>
          </a:p>
        </p:txBody>
      </p:sp>
      <p:sp>
        <p:nvSpPr>
          <p:cNvPr id="16" name="Rounded Rectangle 15"/>
          <p:cNvSpPr/>
          <p:nvPr/>
        </p:nvSpPr>
        <p:spPr>
          <a:xfrm>
            <a:off x="411480" y="2468880"/>
            <a:ext cx="68580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480" y="246888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3</a:t>
            </a:r>
          </a:p>
        </p:txBody>
      </p:sp>
      <p:sp>
        <p:nvSpPr>
          <p:cNvPr id="18" name="Rectangle 17"/>
          <p:cNvSpPr/>
          <p:nvPr/>
        </p:nvSpPr>
        <p:spPr>
          <a:xfrm>
            <a:off x="1234440" y="246888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44168" y="246888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Hiệu quả = kích hoạt đúng</a:t>
            </a:r>
          </a:p>
          <a:p>
            <a:pPr>
              <a:spcBef>
                <a:spcPts val="300"/>
              </a:spcBef>
              <a:buNone/>
            </a:pPr>
            <a:r>
              <a:rPr sz="1550" b="0">
                <a:solidFill>
                  <a:srgbClr val="222222"/>
                </a:solidFill>
                <a:latin typeface="Roboto Medium"/>
                <a:ea typeface="Roboto Medium"/>
                <a:cs typeface="Roboto Medium"/>
              </a:rPr>
              <a:t>đúng agent, đúng model, chú ý đúng nội dung</a:t>
            </a:r>
          </a:p>
        </p:txBody>
      </p:sp>
      <p:sp>
        <p:nvSpPr>
          <p:cNvPr id="20" name="Rounded Rectangle 19"/>
          <p:cNvSpPr/>
          <p:nvPr/>
        </p:nvSpPr>
        <p:spPr>
          <a:xfrm>
            <a:off x="6172200" y="2468880"/>
            <a:ext cx="68580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72200" y="246888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4</a:t>
            </a:r>
          </a:p>
        </p:txBody>
      </p:sp>
      <p:sp>
        <p:nvSpPr>
          <p:cNvPr id="22" name="Rectangle 21"/>
          <p:cNvSpPr/>
          <p:nvPr/>
        </p:nvSpPr>
        <p:spPr>
          <a:xfrm>
            <a:off x="6995160" y="246888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04888" y="246888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Thực nghiệm còn yếu</a:t>
            </a:r>
          </a:p>
          <a:p>
            <a:pPr>
              <a:spcBef>
                <a:spcPts val="300"/>
              </a:spcBef>
              <a:buNone/>
            </a:pPr>
            <a:r>
              <a:rPr sz="1550" b="0">
                <a:solidFill>
                  <a:srgbClr val="222222"/>
                </a:solidFill>
                <a:latin typeface="Roboto Medium"/>
                <a:ea typeface="Roboto Medium"/>
                <a:cs typeface="Roboto Medium"/>
              </a:rPr>
              <a:t>quy mô nhỏ, thiếu kiểm định, thiếu đo chi phí</a:t>
            </a:r>
          </a:p>
        </p:txBody>
      </p:sp>
      <p:sp>
        <p:nvSpPr>
          <p:cNvPr id="24" name="Rectangle 23"/>
          <p:cNvSpPr/>
          <p:nvPr/>
        </p:nvSpPr>
        <p:spPr>
          <a:xfrm>
            <a:off x="411480" y="4114800"/>
            <a:ext cx="11365992" cy="178308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11480" y="4114800"/>
            <a:ext cx="1136599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57784" y="4224528"/>
            <a:ext cx="11064240" cy="1600200"/>
          </a:xfrm>
          <a:prstGeom prst="rect">
            <a:avLst/>
          </a:prstGeom>
          <a:noFill/>
        </p:spPr>
        <p:txBody>
          <a:bodyPr wrap="square" anchor="t" lIns="45720" rIns="45720" tIns="18288" bIns="18288"/>
          <a:lstStyle/>
          <a:p>
            <a:pPr>
              <a:spcBef>
                <a:spcPts val="0"/>
              </a:spcBef>
              <a:buNone/>
            </a:pPr>
            <a:r>
              <a:rPr sz="1800" b="1">
                <a:solidFill>
                  <a:srgbClr val="C00000"/>
                </a:solidFill>
                <a:latin typeface="Roboto Black"/>
                <a:ea typeface="Roboto Black"/>
                <a:cs typeface="Roboto Black"/>
              </a:rPr>
              <a:t>Câu hỏi của lĩnh vực đang chuyển</a:t>
            </a:r>
          </a:p>
          <a:p>
            <a:pPr>
              <a:spcBef>
                <a:spcPts val="600"/>
              </a:spcBef>
              <a:buNone/>
            </a:pPr>
            <a:r>
              <a:rPr sz="2000" b="0">
                <a:solidFill>
                  <a:srgbClr val="666666"/>
                </a:solidFill>
                <a:latin typeface="Roboto Medium"/>
                <a:ea typeface="Roboto Medium"/>
                <a:cs typeface="Roboto Medium"/>
              </a:rPr>
              <a:t>Từ  “nhiều agent có tốt hơn một agent?”</a:t>
            </a:r>
          </a:p>
          <a:p>
            <a:pPr>
              <a:spcBef>
                <a:spcPts val="400"/>
              </a:spcBef>
              <a:buNone/>
            </a:pPr>
            <a:r>
              <a:rPr sz="2000" b="0">
                <a:solidFill>
                  <a:srgbClr val="222222"/>
                </a:solidFill>
                <a:latin typeface="Roboto Medium"/>
                <a:ea typeface="Roboto Medium"/>
                <a:cs typeface="Roboto Medium"/>
              </a:rPr>
              <a:t>sang  “làm sao để MAS </a:t>
            </a:r>
            <a:r>
              <a:rPr sz="2000" b="1">
                <a:solidFill>
                  <a:srgbClr val="003366"/>
                </a:solidFill>
                <a:latin typeface="Roboto Black"/>
                <a:ea typeface="Roboto Black"/>
                <a:cs typeface="Roboto Black"/>
              </a:rPr>
              <a:t>hiệu quả</a:t>
            </a:r>
            <a:r>
              <a:rPr sz="2000" b="0">
                <a:solidFill>
                  <a:srgbClr val="222222"/>
                </a:solidFill>
                <a:latin typeface="Roboto Medium"/>
                <a:ea typeface="Roboto Medium"/>
                <a:cs typeface="Roboto Medium"/>
              </a:rPr>
              <a:t>, </a:t>
            </a:r>
            <a:r>
              <a:rPr sz="2000" b="1">
                <a:solidFill>
                  <a:srgbClr val="003366"/>
                </a:solidFill>
                <a:latin typeface="Roboto Black"/>
                <a:ea typeface="Roboto Black"/>
                <a:cs typeface="Roboto Black"/>
              </a:rPr>
              <a:t>đáng tin cậy</a:t>
            </a:r>
            <a:r>
              <a:rPr sz="2000" b="0">
                <a:solidFill>
                  <a:srgbClr val="222222"/>
                </a:solidFill>
                <a:latin typeface="Roboto Medium"/>
                <a:ea typeface="Roboto Medium"/>
                <a:cs typeface="Roboto Medium"/>
              </a:rPr>
              <a:t> và </a:t>
            </a:r>
            <a:r>
              <a:rPr sz="2000" b="1">
                <a:solidFill>
                  <a:srgbClr val="003366"/>
                </a:solidFill>
                <a:latin typeface="Roboto Black"/>
                <a:ea typeface="Roboto Black"/>
                <a:cs typeface="Roboto Black"/>
              </a:rPr>
              <a:t>an toàn</a:t>
            </a:r>
            <a:r>
              <a:rPr sz="2000" b="0">
                <a:solidFill>
                  <a:srgbClr val="222222"/>
                </a:solidFill>
                <a:latin typeface="Roboto Medium"/>
                <a:ea typeface="Roboto Medium"/>
                <a:cs typeface="Roboto Medium"/>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cover.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TextBox 3"/>
          <p:cNvSpPr txBox="1"/>
          <p:nvPr/>
        </p:nvSpPr>
        <p:spPr>
          <a:xfrm>
            <a:off x="685800" y="1691640"/>
            <a:ext cx="6858000" cy="1097280"/>
          </a:xfrm>
          <a:prstGeom prst="rect">
            <a:avLst/>
          </a:prstGeom>
          <a:noFill/>
        </p:spPr>
        <p:txBody>
          <a:bodyPr wrap="square" anchor="t" lIns="45720" rIns="45720" tIns="18288" bIns="18288"/>
          <a:lstStyle/>
          <a:p>
            <a:pPr>
              <a:spcBef>
                <a:spcPts val="0"/>
              </a:spcBef>
              <a:buNone/>
            </a:pPr>
            <a:r>
              <a:rPr sz="3800" b="1">
                <a:solidFill>
                  <a:srgbClr val="C00000"/>
                </a:solidFill>
                <a:latin typeface="Roboto Black"/>
                <a:ea typeface="Roboto Black"/>
                <a:cs typeface="Roboto Black"/>
              </a:rPr>
              <a:t>Cảm ơn cô và các bạn</a:t>
            </a:r>
          </a:p>
          <a:p>
            <a:pPr>
              <a:spcBef>
                <a:spcPts val="600"/>
              </a:spcBef>
              <a:buNone/>
            </a:pPr>
            <a:r>
              <a:rPr sz="2400" b="1">
                <a:solidFill>
                  <a:srgbClr val="003366"/>
                </a:solidFill>
                <a:latin typeface="Roboto Black"/>
                <a:ea typeface="Roboto Black"/>
                <a:cs typeface="Roboto Black"/>
              </a:rPr>
              <a:t>đã lắng nghe!  ·  Q&amp;A</a:t>
            </a:r>
          </a:p>
        </p:txBody>
      </p:sp>
      <p:graphicFrame>
        <p:nvGraphicFramePr>
          <p:cNvPr id="5" name="Table 4"/>
          <p:cNvGraphicFramePr>
            <a:graphicFrameLocks noGrp="1"/>
          </p:cNvGraphicFramePr>
          <p:nvPr/>
        </p:nvGraphicFramePr>
        <p:xfrm>
          <a:off x="685800" y="3063240"/>
          <a:ext cx="6675120" cy="2286000"/>
        </p:xfrm>
        <a:graphic>
          <a:graphicData uri="http://schemas.openxmlformats.org/drawingml/2006/table">
            <a:tbl>
              <a:tblPr firstRow="0" bandRow="0"/>
              <a:tblGrid>
                <a:gridCol w="2743200"/>
                <a:gridCol w="3931920"/>
              </a:tblGrid>
              <a:tr h="457200">
                <a:tc>
                  <a:txBody>
                    <a:bodyPr wrap="square"/>
                    <a:lstStyle/>
                    <a:p>
                      <a:pPr>
                        <a:spcBef>
                          <a:spcPts val="0"/>
                        </a:spcBef>
                        <a:buNone/>
                      </a:pPr>
                      <a:r>
                        <a:rPr sz="1500" b="1">
                          <a:solidFill>
                            <a:srgbClr val="FFFFFF"/>
                          </a:solidFill>
                          <a:latin typeface="Roboto Black"/>
                          <a:ea typeface="Roboto Black"/>
                          <a:cs typeface="Roboto Black"/>
                        </a:rPr>
                        <a:t>Thành viên</a:t>
                      </a:r>
                    </a:p>
                  </a:txBody>
                  <a:tcPr marL="54864" marR="54864" marT="27432" marB="27432" anchor="ctr">
                    <a:solidFill>
                      <a:srgbClr val="003366"/>
                    </a:solidFill>
                  </a:tcPr>
                </a:tc>
                <a:tc>
                  <a:txBody>
                    <a:bodyPr wrap="square"/>
                    <a:lstStyle/>
                    <a:p>
                      <a:pPr>
                        <a:spcBef>
                          <a:spcPts val="0"/>
                        </a:spcBef>
                        <a:buNone/>
                      </a:pPr>
                      <a:r>
                        <a:rPr sz="1500" b="1">
                          <a:solidFill>
                            <a:srgbClr val="FFFFFF"/>
                          </a:solidFill>
                          <a:latin typeface="Roboto Black"/>
                          <a:ea typeface="Roboto Black"/>
                          <a:cs typeface="Roboto Black"/>
                        </a:rPr>
                        <a:t>Paper phụ trách</a:t>
                      </a:r>
                    </a:p>
                  </a:txBody>
                  <a:tcPr marL="54864" marR="54864" marT="27432" marB="27432" anchor="ctr">
                    <a:solidFill>
                      <a:srgbClr val="003366"/>
                    </a:solidFill>
                  </a:tcPr>
                </a:tc>
              </a:tr>
              <a:tr h="457200">
                <a:tc>
                  <a:txBody>
                    <a:bodyPr wrap="square"/>
                    <a:lstStyle/>
                    <a:p>
                      <a:pPr>
                        <a:spcBef>
                          <a:spcPts val="0"/>
                        </a:spcBef>
                        <a:buNone/>
                      </a:pPr>
                      <a:r>
                        <a:rPr sz="1500" b="1">
                          <a:solidFill>
                            <a:srgbClr val="003366"/>
                          </a:solidFill>
                          <a:latin typeface="Roboto Black"/>
                          <a:ea typeface="Roboto Black"/>
                          <a:cs typeface="Roboto Black"/>
                        </a:rPr>
                        <a:t>Trần Xuân Hương</a:t>
                      </a:r>
                    </a:p>
                  </a:txBody>
                  <a:tcPr marL="54864" marR="54864" marT="27432" marB="27432" anchor="ctr">
                    <a:solidFill>
                      <a:srgbClr val="FFFFFF"/>
                    </a:solidFill>
                  </a:tcPr>
                </a:tc>
                <a:tc>
                  <a:txBody>
                    <a:bodyPr wrap="square"/>
                    <a:lstStyle/>
                    <a:p>
                      <a:pPr>
                        <a:spcBef>
                          <a:spcPts val="0"/>
                        </a:spcBef>
                        <a:buNone/>
                      </a:pPr>
                      <a:r>
                        <a:rPr sz="1500" b="0">
                          <a:solidFill>
                            <a:srgbClr val="222222"/>
                          </a:solidFill>
                          <a:latin typeface="Roboto Medium"/>
                          <a:ea typeface="Roboto Medium"/>
                          <a:cs typeface="Roboto Medium"/>
                        </a:rPr>
                        <a:t>MIRAGE · TIDE</a:t>
                      </a:r>
                    </a:p>
                  </a:txBody>
                  <a:tcPr marL="54864" marR="54864" marT="27432" marB="27432" anchor="ctr">
                    <a:solidFill>
                      <a:srgbClr val="FFFFFF"/>
                    </a:solidFill>
                  </a:tcPr>
                </a:tc>
              </a:tr>
              <a:tr h="457200">
                <a:tc>
                  <a:txBody>
                    <a:bodyPr wrap="square"/>
                    <a:lstStyle/>
                    <a:p>
                      <a:pPr>
                        <a:spcBef>
                          <a:spcPts val="0"/>
                        </a:spcBef>
                        <a:buNone/>
                      </a:pPr>
                      <a:r>
                        <a:rPr sz="1500" b="1">
                          <a:solidFill>
                            <a:srgbClr val="003366"/>
                          </a:solidFill>
                          <a:latin typeface="Roboto Black"/>
                          <a:ea typeface="Roboto Black"/>
                          <a:cs typeface="Roboto Black"/>
                        </a:rPr>
                        <a:t>Vũ Tùng Dương</a:t>
                      </a:r>
                    </a:p>
                  </a:txBody>
                  <a:tcPr marL="54864" marR="54864" marT="27432" marB="27432" anchor="ctr">
                    <a:solidFill>
                      <a:srgbClr val="F3F6FB"/>
                    </a:solidFill>
                  </a:tcPr>
                </a:tc>
                <a:tc>
                  <a:txBody>
                    <a:bodyPr wrap="square"/>
                    <a:lstStyle/>
                    <a:p>
                      <a:pPr>
                        <a:spcBef>
                          <a:spcPts val="0"/>
                        </a:spcBef>
                        <a:buNone/>
                      </a:pPr>
                      <a:r>
                        <a:rPr sz="1500" b="0">
                          <a:solidFill>
                            <a:srgbClr val="222222"/>
                          </a:solidFill>
                          <a:latin typeface="Roboto Medium"/>
                          <a:ea typeface="Roboto Medium"/>
                          <a:cs typeface="Roboto Medium"/>
                        </a:rPr>
                        <a:t>ProgRouter · HalluProp</a:t>
                      </a:r>
                    </a:p>
                  </a:txBody>
                  <a:tcPr marL="54864" marR="54864" marT="27432" marB="27432" anchor="ctr">
                    <a:solidFill>
                      <a:srgbClr val="F3F6FB"/>
                    </a:solidFill>
                  </a:tcPr>
                </a:tc>
              </a:tr>
              <a:tr h="457200">
                <a:tc>
                  <a:txBody>
                    <a:bodyPr wrap="square"/>
                    <a:lstStyle/>
                    <a:p>
                      <a:pPr>
                        <a:spcBef>
                          <a:spcPts val="0"/>
                        </a:spcBef>
                        <a:buNone/>
                      </a:pPr>
                      <a:r>
                        <a:rPr sz="1500" b="1">
                          <a:solidFill>
                            <a:srgbClr val="003366"/>
                          </a:solidFill>
                          <a:latin typeface="Roboto Black"/>
                          <a:ea typeface="Roboto Black"/>
                          <a:cs typeface="Roboto Black"/>
                        </a:rPr>
                        <a:t>Phạm Việt Dũng</a:t>
                      </a:r>
                    </a:p>
                  </a:txBody>
                  <a:tcPr marL="54864" marR="54864" marT="27432" marB="27432" anchor="ctr">
                    <a:solidFill>
                      <a:srgbClr val="FFFFFF"/>
                    </a:solidFill>
                  </a:tcPr>
                </a:tc>
                <a:tc>
                  <a:txBody>
                    <a:bodyPr wrap="square"/>
                    <a:lstStyle/>
                    <a:p>
                      <a:pPr>
                        <a:spcBef>
                          <a:spcPts val="0"/>
                        </a:spcBef>
                        <a:buNone/>
                      </a:pPr>
                      <a:r>
                        <a:rPr sz="1500" b="0">
                          <a:solidFill>
                            <a:srgbClr val="222222"/>
                          </a:solidFill>
                          <a:latin typeface="Roboto Medium"/>
                          <a:ea typeface="Roboto Medium"/>
                          <a:cs typeface="Roboto Medium"/>
                        </a:rPr>
                        <a:t>DAIN · AGENT-RADAR</a:t>
                      </a:r>
                    </a:p>
                  </a:txBody>
                  <a:tcPr marL="54864" marR="54864" marT="27432" marB="27432" anchor="ctr">
                    <a:solidFill>
                      <a:srgbClr val="FFFFFF"/>
                    </a:solidFill>
                  </a:tcPr>
                </a:tc>
              </a:tr>
              <a:tr h="457200">
                <a:tc>
                  <a:txBody>
                    <a:bodyPr wrap="square"/>
                    <a:lstStyle/>
                    <a:p>
                      <a:pPr>
                        <a:spcBef>
                          <a:spcPts val="0"/>
                        </a:spcBef>
                        <a:buNone/>
                      </a:pPr>
                      <a:r>
                        <a:rPr sz="1500" b="1">
                          <a:solidFill>
                            <a:srgbClr val="003366"/>
                          </a:solidFill>
                          <a:latin typeface="Roboto Black"/>
                          <a:ea typeface="Roboto Black"/>
                          <a:cs typeface="Roboto Black"/>
                        </a:rPr>
                        <a:t>Lê Văn Đức</a:t>
                      </a:r>
                    </a:p>
                  </a:txBody>
                  <a:tcPr marL="54864" marR="54864" marT="27432" marB="27432" anchor="ctr">
                    <a:solidFill>
                      <a:srgbClr val="F3F6FB"/>
                    </a:solidFill>
                  </a:tcPr>
                </a:tc>
                <a:tc>
                  <a:txBody>
                    <a:bodyPr wrap="square"/>
                    <a:lstStyle/>
                    <a:p>
                      <a:pPr>
                        <a:spcBef>
                          <a:spcPts val="0"/>
                        </a:spcBef>
                        <a:buNone/>
                      </a:pPr>
                      <a:r>
                        <a:rPr sz="1500" b="0">
                          <a:solidFill>
                            <a:srgbClr val="222222"/>
                          </a:solidFill>
                          <a:latin typeface="Roboto Medium"/>
                          <a:ea typeface="Roboto Medium"/>
                          <a:cs typeface="Roboto Medium"/>
                        </a:rPr>
                        <a:t>MAC-RRG · UrbanAgent</a:t>
                      </a:r>
                    </a:p>
                  </a:txBody>
                  <a:tcPr marL="54864" marR="54864" marT="27432" marB="27432" anchor="ctr">
                    <a:solidFill>
                      <a:srgbClr val="F3F6FB"/>
                    </a:solidFill>
                  </a:tcPr>
                </a:tc>
              </a:tr>
            </a:tbl>
          </a:graphicData>
        </a:graphic>
      </p:graphicFrame>
      <p:sp>
        <p:nvSpPr>
          <p:cNvPr id="6" name="TextBox 5"/>
          <p:cNvSpPr txBox="1"/>
          <p:nvPr/>
        </p:nvSpPr>
        <p:spPr>
          <a:xfrm>
            <a:off x="685800" y="5532120"/>
            <a:ext cx="6858000" cy="36576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Học phần IT4772 – Xử lý ngôn ngữ tự nhiên · Đại học Bách khoa Hà Nội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12165</Words>
  <Application>Microsoft Macintosh PowerPoint</Application>
  <DocSecurity>0</DocSecurity>
  <PresentationFormat>Widescreen</PresentationFormat>
  <Paragraphs>998</Paragraphs>
  <Slides>34</Slides>
  <Notes>34</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34</vt:i4>
      </vt:variant>
    </vt:vector>
  </HeadingPairs>
  <TitlesOfParts>
    <vt:vector size="50" baseType="lpstr">
      <vt:lpstr>Arial</vt:lpstr>
      <vt:lpstr>Calibri</vt:lpstr>
      <vt:lpstr>Lato</vt:lpstr>
      <vt:lpstr>Roboto</vt:lpstr>
      <vt:lpstr>Roboto Black</vt:lpstr>
      <vt:lpstr>Roboto Medium</vt:lpstr>
      <vt:lpstr>Symbol</vt:lpstr>
      <vt:lpstr>Wingdings</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Tran Xuan Huong 20240618P</cp:lastModifiedBy>
  <cp:revision>13</cp:revision>
  <dcterms:created xsi:type="dcterms:W3CDTF">2026-10-17T12:46:23Z</dcterms:created>
  <dcterms:modified xsi:type="dcterms:W3CDTF">2026-10-19T02:10:07Z</dcterms:modified>
</cp:coreProperties>
</file>